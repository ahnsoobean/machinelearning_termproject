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1" r:id="rId2"/>
    <p:sldId id="257" r:id="rId3"/>
    <p:sldId id="258" r:id="rId4"/>
    <p:sldId id="288" r:id="rId5"/>
    <p:sldId id="259" r:id="rId6"/>
    <p:sldId id="294" r:id="rId7"/>
    <p:sldId id="295" r:id="rId8"/>
    <p:sldId id="287" r:id="rId9"/>
    <p:sldId id="290" r:id="rId10"/>
    <p:sldId id="289" r:id="rId11"/>
    <p:sldId id="306" r:id="rId12"/>
    <p:sldId id="262" r:id="rId13"/>
    <p:sldId id="292" r:id="rId14"/>
    <p:sldId id="304" r:id="rId15"/>
    <p:sldId id="305" r:id="rId16"/>
    <p:sldId id="263" r:id="rId17"/>
    <p:sldId id="282" r:id="rId18"/>
    <p:sldId id="283" r:id="rId19"/>
    <p:sldId id="284" r:id="rId20"/>
    <p:sldId id="285" r:id="rId21"/>
    <p:sldId id="286" r:id="rId22"/>
    <p:sldId id="271" r:id="rId23"/>
    <p:sldId id="300" r:id="rId24"/>
    <p:sldId id="303" r:id="rId2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C47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어두운 스타일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75" autoAdjust="0"/>
    <p:restoredTop sz="61693"/>
  </p:normalViewPr>
  <p:slideViewPr>
    <p:cSldViewPr snapToGrid="0">
      <p:cViewPr varScale="1">
        <p:scale>
          <a:sx n="67" d="100"/>
          <a:sy n="67" d="100"/>
        </p:scale>
        <p:origin x="192" y="776"/>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81EB0E-1FEF-4F23-89E0-8390A3FB5FBB}" type="datetimeFigureOut">
              <a:rPr lang="ko-KR" altLang="en-US" smtClean="0"/>
              <a:t>2025. 11. 17.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58C1E-621D-4606-AE43-57F7814AEF90}" type="slidenum">
              <a:rPr lang="ko-KR" altLang="en-US" smtClean="0"/>
              <a:t>‹#›</a:t>
            </a:fld>
            <a:endParaRPr lang="ko-KR" altLang="en-US"/>
          </a:p>
        </p:txBody>
      </p:sp>
    </p:spTree>
    <p:extLst>
      <p:ext uri="{BB962C8B-B14F-4D97-AF65-F5344CB8AC3E}">
        <p14:creationId xmlns:p14="http://schemas.microsoft.com/office/powerpoint/2010/main" val="170067002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안녕하세요</a:t>
            </a:r>
            <a:r>
              <a:rPr kumimoji="1" lang="en-US" altLang="ko-KR" dirty="0"/>
              <a:t>.</a:t>
            </a:r>
            <a:r>
              <a:rPr kumimoji="1" lang="ko-KR" altLang="en-US" dirty="0"/>
              <a:t> </a:t>
            </a:r>
            <a:r>
              <a:rPr kumimoji="1" lang="en-US" altLang="ko-KR" dirty="0"/>
              <a:t>(</a:t>
            </a:r>
            <a:r>
              <a:rPr kumimoji="1" lang="ko-KR" altLang="en-US" dirty="0"/>
              <a:t>영화</a:t>
            </a:r>
            <a:r>
              <a:rPr kumimoji="1" lang="en-US" altLang="ko-KR" dirty="0"/>
              <a:t>)</a:t>
            </a:r>
            <a:r>
              <a:rPr kumimoji="1" lang="ko-KR" altLang="en-US" dirty="0"/>
              <a:t>추천시스템에 대해서 발표할 </a:t>
            </a:r>
            <a:r>
              <a:rPr kumimoji="1" lang="en-US" altLang="ko-KR" dirty="0"/>
              <a:t>8</a:t>
            </a:r>
            <a:r>
              <a:rPr kumimoji="1" lang="ko-KR" altLang="en-US" dirty="0"/>
              <a:t>팀의 </a:t>
            </a:r>
            <a:r>
              <a:rPr kumimoji="1" lang="ko-KR" altLang="en-US" dirty="0" err="1"/>
              <a:t>김수향입니다</a:t>
            </a:r>
            <a:r>
              <a:rPr kumimoji="1" lang="en-US" altLang="ko-KR" dirty="0"/>
              <a:t>.</a:t>
            </a:r>
            <a:r>
              <a:rPr kumimoji="1" lang="ko-KR" altLang="en-US" dirty="0"/>
              <a:t> </a:t>
            </a:r>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1</a:t>
            </a:fld>
            <a:endParaRPr lang="ko-KR" altLang="en-US"/>
          </a:p>
        </p:txBody>
      </p:sp>
    </p:spTree>
    <p:extLst>
      <p:ext uri="{BB962C8B-B14F-4D97-AF65-F5344CB8AC3E}">
        <p14:creationId xmlns:p14="http://schemas.microsoft.com/office/powerpoint/2010/main" val="4073878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저희 프로젝트의 </a:t>
            </a:r>
            <a:r>
              <a:rPr lang="en-US" altLang="ko-KR" dirty="0"/>
              <a:t>Business Objective</a:t>
            </a:r>
            <a:r>
              <a:rPr lang="ko-KR" altLang="en-US" dirty="0"/>
              <a:t>는 </a:t>
            </a:r>
            <a:endParaRPr lang="en-US" altLang="ko-KR" dirty="0"/>
          </a:p>
          <a:p>
            <a:r>
              <a:rPr lang="ko-KR" altLang="en-US" dirty="0"/>
              <a:t>사용자의 과거 영화 평점 데이터를 분석하고</a:t>
            </a:r>
            <a:r>
              <a:rPr lang="en-US" altLang="ko-KR" dirty="0"/>
              <a:t>,</a:t>
            </a:r>
          </a:p>
          <a:p>
            <a:r>
              <a:rPr lang="ko-KR" altLang="en-US" b="0" dirty="0"/>
              <a:t>아직 시청하지 않았지만 좋아할 가능성이 높은 영화를 </a:t>
            </a:r>
            <a:r>
              <a:rPr lang="ko-KR" altLang="en-US" dirty="0"/>
              <a:t>예측</a:t>
            </a:r>
            <a:r>
              <a:rPr lang="en-US" altLang="ko-KR" dirty="0"/>
              <a:t>·</a:t>
            </a:r>
            <a:r>
              <a:rPr lang="ko-KR" altLang="en-US" dirty="0" err="1"/>
              <a:t>추첞하는</a:t>
            </a:r>
            <a:r>
              <a:rPr lang="ko-KR" altLang="en-US" dirty="0"/>
              <a:t> 것입니다</a:t>
            </a:r>
            <a:r>
              <a:rPr lang="en-US" altLang="ko-KR" dirty="0"/>
              <a:t>.</a:t>
            </a:r>
            <a:r>
              <a:rPr lang="ko-KR" altLang="en-US" dirty="0"/>
              <a:t> </a:t>
            </a:r>
            <a:endParaRPr lang="en-US" altLang="ko-KR" dirty="0"/>
          </a:p>
          <a:p>
            <a:endParaRPr lang="en-US" altLang="ko-KR" dirty="0"/>
          </a:p>
          <a:p>
            <a:r>
              <a:rPr lang="ko-KR" altLang="en-US" dirty="0"/>
              <a:t>즉</a:t>
            </a:r>
            <a:r>
              <a:rPr lang="en-US" altLang="ko-KR" dirty="0"/>
              <a:t>,</a:t>
            </a:r>
            <a:r>
              <a:rPr lang="ko-KR" altLang="en-US" dirty="0"/>
              <a:t> 평점 패턴을 통해 사용자 선호도를 파악하여</a:t>
            </a:r>
            <a:r>
              <a:rPr lang="en-US" altLang="ko-KR" dirty="0"/>
              <a:t>,</a:t>
            </a:r>
            <a:r>
              <a:rPr lang="ko-KR" altLang="en-US" dirty="0"/>
              <a:t> 개인화된 추천을 제공하며</a:t>
            </a:r>
            <a:r>
              <a:rPr lang="en-US" altLang="ko-KR" dirty="0"/>
              <a:t>,</a:t>
            </a:r>
            <a:r>
              <a:rPr lang="ko-KR" altLang="en-US" dirty="0"/>
              <a:t> 선택의 효율성을 높이는 것입니다</a:t>
            </a:r>
            <a:r>
              <a:rPr lang="en-US" altLang="ko-KR" dirty="0"/>
              <a:t>.</a:t>
            </a:r>
            <a:r>
              <a:rPr lang="ko-KR" altLang="en-US" dirty="0"/>
              <a:t> </a:t>
            </a:r>
            <a:endParaRPr lang="en-US" altLang="ko-KR" dirty="0"/>
          </a:p>
          <a:p>
            <a:endParaRPr lang="ko-KR" altLang="en-US"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저희는 </a:t>
            </a:r>
            <a:r>
              <a:rPr lang="ko-KR" altLang="en-US" sz="1200" kern="1200" dirty="0">
                <a:solidFill>
                  <a:schemeClr val="tx1"/>
                </a:solidFill>
                <a:effectLst/>
                <a:latin typeface="+mn-lt"/>
                <a:ea typeface="+mn-ea"/>
                <a:cs typeface="+mn-cs"/>
              </a:rPr>
              <a:t>해당 프로젝트에서 협업 필터링의 방법 </a:t>
            </a:r>
            <a:r>
              <a:rPr lang="en-US" altLang="ko-KR" sz="1200" kern="1200" dirty="0">
                <a:solidFill>
                  <a:schemeClr val="tx1"/>
                </a:solidFill>
                <a:effectLst/>
                <a:latin typeface="+mn-lt"/>
                <a:ea typeface="+mn-ea"/>
                <a:cs typeface="+mn-cs"/>
              </a:rPr>
              <a:t>2</a:t>
            </a:r>
            <a:r>
              <a:rPr lang="ko-KR" altLang="en-US" sz="1200" kern="1200" dirty="0">
                <a:solidFill>
                  <a:schemeClr val="tx1"/>
                </a:solidFill>
                <a:effectLst/>
                <a:latin typeface="+mn-lt"/>
                <a:ea typeface="+mn-ea"/>
                <a:cs typeface="+mn-cs"/>
              </a:rPr>
              <a:t>가지 모두</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즉 </a:t>
            </a:r>
            <a:r>
              <a:rPr lang="en" altLang="ko-KR" sz="1200" kern="1200" dirty="0">
                <a:solidFill>
                  <a:schemeClr val="tx1"/>
                </a:solidFill>
                <a:effectLst/>
                <a:latin typeface="+mn-lt"/>
                <a:ea typeface="+mn-ea"/>
                <a:cs typeface="+mn-cs"/>
              </a:rPr>
              <a:t>memory</a:t>
            </a:r>
            <a:r>
              <a:rPr lang="ko-KR" altLang="en-US" sz="1200" kern="1200" dirty="0">
                <a:solidFill>
                  <a:schemeClr val="tx1"/>
                </a:solidFill>
                <a:effectLst/>
                <a:latin typeface="+mn-lt"/>
                <a:ea typeface="+mn-ea"/>
                <a:cs typeface="+mn-cs"/>
              </a:rPr>
              <a:t> </a:t>
            </a:r>
            <a:r>
              <a:rPr lang="en-US" altLang="ko-KR" sz="1200" kern="1200" dirty="0">
                <a:solidFill>
                  <a:schemeClr val="tx1"/>
                </a:solidFill>
                <a:effectLst/>
                <a:latin typeface="+mn-lt"/>
                <a:ea typeface="+mn-ea"/>
                <a:cs typeface="+mn-cs"/>
              </a:rPr>
              <a:t>based</a:t>
            </a:r>
            <a:r>
              <a:rPr lang="ko-KR" altLang="en-US" sz="1200" kern="1200" dirty="0">
                <a:solidFill>
                  <a:schemeClr val="tx1"/>
                </a:solidFill>
                <a:effectLst/>
                <a:latin typeface="+mn-lt"/>
                <a:ea typeface="+mn-ea"/>
                <a:cs typeface="+mn-cs"/>
              </a:rPr>
              <a:t>와 </a:t>
            </a:r>
            <a:r>
              <a:rPr lang="en" altLang="ko-KR" sz="1200" kern="1200" dirty="0">
                <a:solidFill>
                  <a:schemeClr val="tx1"/>
                </a:solidFill>
                <a:effectLst/>
                <a:latin typeface="+mn-lt"/>
                <a:ea typeface="+mn-ea"/>
                <a:cs typeface="+mn-cs"/>
              </a:rPr>
              <a:t>model</a:t>
            </a:r>
            <a:r>
              <a:rPr lang="en-US" altLang="ko-KR" sz="1200" kern="1200" dirty="0">
                <a:solidFill>
                  <a:schemeClr val="tx1"/>
                </a:solidFill>
                <a:effectLst/>
                <a:latin typeface="+mn-lt"/>
                <a:ea typeface="+mn-ea"/>
                <a:cs typeface="+mn-cs"/>
              </a:rPr>
              <a:t> based</a:t>
            </a:r>
            <a:r>
              <a:rPr lang="ko-KR" altLang="en-US" sz="1200" kern="1200" dirty="0">
                <a:solidFill>
                  <a:schemeClr val="tx1"/>
                </a:solidFill>
                <a:effectLst/>
                <a:latin typeface="+mn-lt"/>
                <a:ea typeface="+mn-ea"/>
                <a:cs typeface="+mn-cs"/>
              </a:rPr>
              <a:t> 방법들에 대해서 각각의 추천 시스템을 만들어 비교를 하는 방식으로 진행하였습니다</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a:t>
            </a:r>
            <a:endParaRPr lang="ko-KR" altLang="en-US" dirty="0"/>
          </a:p>
          <a:p>
            <a:endParaRPr lang="en-US" altLang="ko-KR" dirty="0"/>
          </a:p>
          <a:p>
            <a:endParaRPr lang="en-US" altLang="ko-KR" dirty="0"/>
          </a:p>
          <a:p>
            <a:endParaRPr lang="ko-KR" altLang="en-US"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2</a:t>
            </a:fld>
            <a:endParaRPr lang="ko-KR" altLang="en-US"/>
          </a:p>
        </p:txBody>
      </p:sp>
    </p:spTree>
    <p:extLst>
      <p:ext uri="{BB962C8B-B14F-4D97-AF65-F5344CB8AC3E}">
        <p14:creationId xmlns:p14="http://schemas.microsoft.com/office/powerpoint/2010/main" val="2734137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ko-KR" altLang="en-US" dirty="0"/>
              <a:t>먼저</a:t>
            </a:r>
            <a:r>
              <a:rPr kumimoji="1" lang="en-US" altLang="ko-KR" dirty="0"/>
              <a:t>,</a:t>
            </a:r>
            <a:r>
              <a:rPr kumimoji="1" lang="ko-KR" altLang="en-US" dirty="0"/>
              <a:t> </a:t>
            </a:r>
            <a:r>
              <a:rPr kumimoji="1" lang="ko-KR" altLang="en-US" sz="1200" kern="1200" dirty="0">
                <a:solidFill>
                  <a:schemeClr val="tx1"/>
                </a:solidFill>
                <a:effectLst/>
                <a:latin typeface="+mn-lt"/>
                <a:ea typeface="+mn-ea"/>
                <a:cs typeface="+mn-cs"/>
              </a:rPr>
              <a:t>비슷한 </a:t>
            </a:r>
            <a:r>
              <a:rPr lang="ko-KR" altLang="en-US" sz="1200" kern="1200" dirty="0">
                <a:solidFill>
                  <a:schemeClr val="tx1"/>
                </a:solidFill>
                <a:effectLst/>
                <a:latin typeface="+mn-lt"/>
                <a:ea typeface="+mn-ea"/>
                <a:cs typeface="+mn-cs"/>
              </a:rPr>
              <a:t>도메인 내에서 하나의 데이터셋은 </a:t>
            </a:r>
            <a:r>
              <a:rPr lang="en" altLang="ko-KR" sz="1200" kern="1200" dirty="0">
                <a:solidFill>
                  <a:schemeClr val="tx1"/>
                </a:solidFill>
                <a:effectLst/>
                <a:latin typeface="+mn-lt"/>
                <a:ea typeface="+mn-ea"/>
                <a:cs typeface="+mn-cs"/>
              </a:rPr>
              <a:t>build</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즉 </a:t>
            </a:r>
            <a:r>
              <a:rPr lang="en-US" altLang="ko-KR" sz="1200" kern="1200" dirty="0">
                <a:solidFill>
                  <a:schemeClr val="tx1"/>
                </a:solidFill>
                <a:effectLst/>
                <a:latin typeface="+mn-lt"/>
                <a:ea typeface="+mn-ea"/>
                <a:cs typeface="+mn-cs"/>
              </a:rPr>
              <a:t>train</a:t>
            </a:r>
            <a:r>
              <a:rPr lang="ko-KR" altLang="en-US" sz="1200" kern="1200" dirty="0" err="1">
                <a:solidFill>
                  <a:schemeClr val="tx1"/>
                </a:solidFill>
                <a:effectLst/>
                <a:latin typeface="+mn-lt"/>
                <a:ea typeface="+mn-ea"/>
                <a:cs typeface="+mn-cs"/>
              </a:rPr>
              <a:t>에</a:t>
            </a:r>
            <a:r>
              <a:rPr lang="en-US" altLang="ko-KR" sz="1200" kern="1200" dirty="0">
                <a:solidFill>
                  <a:schemeClr val="tx1"/>
                </a:solidFill>
                <a:effectLst/>
                <a:latin typeface="+mn-lt"/>
                <a:ea typeface="+mn-ea"/>
                <a:cs typeface="+mn-cs"/>
              </a:rPr>
              <a:t>, </a:t>
            </a:r>
            <a:r>
              <a:rPr lang="ko-KR" altLang="en-US" sz="1200" kern="1200" dirty="0">
                <a:solidFill>
                  <a:schemeClr val="tx1"/>
                </a:solidFill>
                <a:effectLst/>
                <a:latin typeface="+mn-lt"/>
                <a:ea typeface="+mn-ea"/>
                <a:cs typeface="+mn-cs"/>
              </a:rPr>
              <a:t>나머지 하나는 </a:t>
            </a:r>
            <a:r>
              <a:rPr lang="en" altLang="ko-KR" sz="1200" kern="1200" dirty="0">
                <a:solidFill>
                  <a:schemeClr val="tx1"/>
                </a:solidFill>
                <a:effectLst/>
                <a:latin typeface="+mn-lt"/>
                <a:ea typeface="+mn-ea"/>
                <a:cs typeface="+mn-cs"/>
              </a:rPr>
              <a:t>test</a:t>
            </a:r>
            <a:r>
              <a:rPr lang="ko-KR" altLang="en-US" sz="1200" kern="1200" dirty="0" err="1">
                <a:solidFill>
                  <a:schemeClr val="tx1"/>
                </a:solidFill>
                <a:effectLst/>
                <a:latin typeface="+mn-lt"/>
                <a:ea typeface="+mn-ea"/>
                <a:cs typeface="+mn-cs"/>
              </a:rPr>
              <a:t>에</a:t>
            </a:r>
            <a:r>
              <a:rPr lang="ko-KR" altLang="en-US" sz="1200" kern="1200" dirty="0">
                <a:solidFill>
                  <a:schemeClr val="tx1"/>
                </a:solidFill>
                <a:effectLst/>
                <a:latin typeface="+mn-lt"/>
                <a:ea typeface="+mn-ea"/>
                <a:cs typeface="+mn-cs"/>
              </a:rPr>
              <a:t> 사용하였습니다</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a:t>
            </a:r>
            <a:r>
              <a:rPr lang="en" altLang="ko-KR" dirty="0" err="1"/>
              <a:t>MovieLens</a:t>
            </a:r>
            <a:r>
              <a:rPr lang="ko-KR" altLang="en-US" sz="1200" kern="1200" dirty="0">
                <a:solidFill>
                  <a:schemeClr val="tx1"/>
                </a:solidFill>
                <a:effectLst/>
                <a:latin typeface="+mn-lt"/>
                <a:ea typeface="+mn-ea"/>
                <a:cs typeface="+mn-cs"/>
              </a:rPr>
              <a:t> 데이터셋을 활용하였으며</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컬럼의 구성은 다음과 같습니다</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a:t>
            </a: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시간적 여유가 있을 시</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진행</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a:t>
            </a:r>
            <a:endParaRPr lang="en-US" altLang="ko-KR" sz="1200" b="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b="1" dirty="0"/>
          </a:p>
          <a:p>
            <a:pPr marL="0" marR="0" lvl="0" indent="0" algn="l" defTabSz="914400" rtl="0" eaLnBrk="1" fontAlgn="auto" latinLnBrk="1" hangingPunct="1">
              <a:lnSpc>
                <a:spcPct val="100000"/>
              </a:lnSpc>
              <a:spcBef>
                <a:spcPts val="0"/>
              </a:spcBef>
              <a:spcAft>
                <a:spcPts val="0"/>
              </a:spcAft>
              <a:buClrTx/>
              <a:buSzTx/>
              <a:buFontTx/>
              <a:buNone/>
              <a:tabLst/>
              <a:defRPr/>
            </a:pPr>
            <a:r>
              <a:rPr lang="en" altLang="ko-KR" b="1" strike="sngStrike" dirty="0" err="1"/>
              <a:t>userId</a:t>
            </a:r>
            <a:r>
              <a:rPr lang="ko-KR" altLang="en-US" b="1" strike="sngStrike" dirty="0"/>
              <a:t> </a:t>
            </a:r>
            <a:r>
              <a:rPr lang="en" altLang="ko-KR" strike="sngStrike" dirty="0"/>
              <a:t>: </a:t>
            </a:r>
            <a:r>
              <a:rPr lang="ko-KR" altLang="en-US" strike="sngStrike" dirty="0"/>
              <a:t>영화를 평가한 사용자의 고유 </a:t>
            </a:r>
            <a:r>
              <a:rPr lang="en" altLang="ko-KR" strike="sngStrike" dirty="0"/>
              <a:t>ID</a:t>
            </a:r>
          </a:p>
          <a:p>
            <a:r>
              <a:rPr lang="en" altLang="ko-KR" b="1" strike="sngStrike" dirty="0" err="1"/>
              <a:t>movieId</a:t>
            </a:r>
            <a:r>
              <a:rPr lang="ko-KR" altLang="en-US" b="1" strike="sngStrike" dirty="0"/>
              <a:t> </a:t>
            </a:r>
            <a:r>
              <a:rPr lang="en" altLang="ko-KR" strike="sngStrike" dirty="0"/>
              <a:t>: </a:t>
            </a:r>
            <a:r>
              <a:rPr lang="ko-KR" altLang="en-US" strike="sngStrike" dirty="0"/>
              <a:t>영화의 고유 </a:t>
            </a:r>
            <a:r>
              <a:rPr lang="en" altLang="ko-KR" strike="sngStrike" dirty="0"/>
              <a:t>ID</a:t>
            </a:r>
          </a:p>
          <a:p>
            <a:r>
              <a:rPr lang="en" altLang="ko-KR" b="1" strike="sngStrike" dirty="0"/>
              <a:t>Rating</a:t>
            </a:r>
            <a:r>
              <a:rPr lang="ko-KR" altLang="en-US" b="1" strike="sngStrike" dirty="0"/>
              <a:t> </a:t>
            </a:r>
            <a:r>
              <a:rPr lang="en" altLang="ko-KR" strike="sngStrike" dirty="0"/>
              <a:t>: </a:t>
            </a:r>
            <a:r>
              <a:rPr lang="ko-KR" altLang="en-US" strike="sngStrike" dirty="0"/>
              <a:t>사용자가 영화에 부여한 평점 값</a:t>
            </a:r>
          </a:p>
          <a:p>
            <a:r>
              <a:rPr lang="en" altLang="ko-KR" b="1" strike="sngStrike" dirty="0"/>
              <a:t>Timestamp</a:t>
            </a:r>
            <a:r>
              <a:rPr lang="ko-KR" altLang="en-US" b="1" strike="sngStrike" dirty="0"/>
              <a:t> </a:t>
            </a:r>
            <a:r>
              <a:rPr lang="en" altLang="ko-KR" strike="sngStrike" dirty="0"/>
              <a:t>: </a:t>
            </a:r>
            <a:r>
              <a:rPr lang="ko-KR" altLang="en-US" strike="sngStrike" dirty="0"/>
              <a:t>평가가 이루어진 시점</a:t>
            </a:r>
          </a:p>
          <a:p>
            <a:r>
              <a:rPr lang="en" altLang="ko-KR" b="1" strike="sngStrike" dirty="0"/>
              <a:t>Title</a:t>
            </a:r>
            <a:r>
              <a:rPr lang="ko-KR" altLang="en-US" b="1" strike="sngStrike" dirty="0"/>
              <a:t> </a:t>
            </a:r>
            <a:r>
              <a:rPr lang="en" altLang="ko-KR" strike="sngStrike" dirty="0"/>
              <a:t>: </a:t>
            </a:r>
            <a:r>
              <a:rPr lang="ko-KR" altLang="en-US" strike="sngStrike" dirty="0"/>
              <a:t>영화 제목 </a:t>
            </a:r>
            <a:r>
              <a:rPr lang="en-US" altLang="ko-KR" strike="sngStrike" dirty="0"/>
              <a:t>(</a:t>
            </a:r>
            <a:r>
              <a:rPr lang="ko-KR" altLang="en-US" strike="sngStrike" dirty="0"/>
              <a:t>연도 포함</a:t>
            </a:r>
            <a:r>
              <a:rPr lang="en-US" altLang="ko-KR" strike="sngStrike"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3</a:t>
            </a:fld>
            <a:endParaRPr lang="ko-KR" altLang="en-US"/>
          </a:p>
        </p:txBody>
      </p:sp>
    </p:spTree>
    <p:extLst>
      <p:ext uri="{BB962C8B-B14F-4D97-AF65-F5344CB8AC3E}">
        <p14:creationId xmlns:p14="http://schemas.microsoft.com/office/powerpoint/2010/main" val="3316628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4</a:t>
            </a:fld>
            <a:endParaRPr lang="ko-KR" altLang="en-US"/>
          </a:p>
        </p:txBody>
      </p:sp>
    </p:spTree>
    <p:extLst>
      <p:ext uri="{BB962C8B-B14F-4D97-AF65-F5344CB8AC3E}">
        <p14:creationId xmlns:p14="http://schemas.microsoft.com/office/powerpoint/2010/main" val="3299922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b="0" dirty="0"/>
              <a:t>크게 데이터 </a:t>
            </a:r>
            <a:r>
              <a:rPr lang="ko-KR" altLang="en-US" b="0" dirty="0" err="1"/>
              <a:t>전처리</a:t>
            </a:r>
            <a:r>
              <a:rPr lang="en-US" altLang="ko-KR" b="0" dirty="0"/>
              <a:t>,</a:t>
            </a:r>
            <a:r>
              <a:rPr lang="ko-KR" altLang="en-US" b="0" dirty="0"/>
              <a:t> 모델링</a:t>
            </a:r>
            <a:r>
              <a:rPr lang="en-US" altLang="ko-KR" b="0" dirty="0"/>
              <a:t>,</a:t>
            </a:r>
            <a:r>
              <a:rPr lang="ko-KR" altLang="en-US" b="0" dirty="0"/>
              <a:t> 평가 중 전처리부터 </a:t>
            </a:r>
            <a:r>
              <a:rPr lang="ko-KR" altLang="en-US" b="0" dirty="0" err="1"/>
              <a:t>설명드리겠습니다</a:t>
            </a:r>
            <a:r>
              <a:rPr lang="en-US" altLang="ko-KR" b="0" dirty="0"/>
              <a:t>.</a:t>
            </a:r>
            <a:r>
              <a:rPr lang="ko-KR" altLang="en-US" b="0" dirty="0"/>
              <a:t> </a:t>
            </a:r>
            <a:endParaRPr lang="en-US" altLang="ko-KR" b="0" dirty="0"/>
          </a:p>
          <a:p>
            <a:endParaRPr lang="en-US" altLang="ko-KR" b="0" dirty="0"/>
          </a:p>
          <a:p>
            <a:pPr marL="228600" marR="0" lvl="0" indent="-228600" algn="l" defTabSz="914400" rtl="0" eaLnBrk="1" fontAlgn="auto" latinLnBrk="1" hangingPunct="1">
              <a:lnSpc>
                <a:spcPct val="100000"/>
              </a:lnSpc>
              <a:spcBef>
                <a:spcPts val="0"/>
              </a:spcBef>
              <a:spcAft>
                <a:spcPts val="0"/>
              </a:spcAft>
              <a:buClrTx/>
              <a:buSzTx/>
              <a:buFontTx/>
              <a:buAutoNum type="arabicParenR"/>
              <a:tabLst/>
              <a:defRPr/>
            </a:pPr>
            <a:r>
              <a:rPr lang="en" altLang="ko-KR" b="1" dirty="0"/>
              <a:t>Data Merging</a:t>
            </a:r>
            <a:r>
              <a:rPr lang="ko-KR" altLang="en-US" b="1" dirty="0"/>
              <a:t> </a:t>
            </a:r>
            <a:r>
              <a:rPr lang="en" altLang="ko-KR" b="1" dirty="0"/>
              <a:t> </a:t>
            </a:r>
            <a:r>
              <a:rPr lang="ko-KR" altLang="en-US" sz="1200" kern="1200" dirty="0">
                <a:solidFill>
                  <a:schemeClr val="tx1"/>
                </a:solidFill>
                <a:effectLst/>
                <a:latin typeface="+mn-lt"/>
                <a:ea typeface="+mn-ea"/>
                <a:cs typeface="+mn-cs"/>
              </a:rPr>
              <a:t>먼저 </a:t>
            </a:r>
            <a:r>
              <a:rPr lang="en" altLang="ko-KR" sz="1200" kern="1200" dirty="0" err="1">
                <a:solidFill>
                  <a:schemeClr val="tx1"/>
                </a:solidFill>
                <a:effectLst/>
                <a:latin typeface="+mn-lt"/>
                <a:ea typeface="+mn-ea"/>
                <a:cs typeface="+mn-cs"/>
              </a:rPr>
              <a:t>MovieLens</a:t>
            </a:r>
            <a:r>
              <a:rPr lang="en" altLang="ko-KR" sz="1200" kern="1200" dirty="0">
                <a:solidFill>
                  <a:schemeClr val="tx1"/>
                </a:solidFill>
                <a:effectLst/>
                <a:latin typeface="+mn-lt"/>
                <a:ea typeface="+mn-ea"/>
                <a:cs typeface="+mn-cs"/>
              </a:rPr>
              <a:t> 100k</a:t>
            </a:r>
            <a:r>
              <a:rPr lang="ko-KR" altLang="en-US" sz="1200" kern="1200" dirty="0">
                <a:solidFill>
                  <a:schemeClr val="tx1"/>
                </a:solidFill>
                <a:effectLst/>
                <a:latin typeface="+mn-lt"/>
                <a:ea typeface="+mn-ea"/>
                <a:cs typeface="+mn-cs"/>
              </a:rPr>
              <a:t>와 </a:t>
            </a:r>
            <a:r>
              <a:rPr lang="en-US" altLang="ko-KR" sz="1200" kern="1200" dirty="0">
                <a:solidFill>
                  <a:schemeClr val="tx1"/>
                </a:solidFill>
                <a:effectLst/>
                <a:latin typeface="+mn-lt"/>
                <a:ea typeface="+mn-ea"/>
                <a:cs typeface="+mn-cs"/>
              </a:rPr>
              <a:t>1</a:t>
            </a:r>
            <a:r>
              <a:rPr lang="en" altLang="ko-KR" sz="1200" kern="1200" dirty="0">
                <a:solidFill>
                  <a:schemeClr val="tx1"/>
                </a:solidFill>
                <a:effectLst/>
                <a:latin typeface="+mn-lt"/>
                <a:ea typeface="+mn-ea"/>
                <a:cs typeface="+mn-cs"/>
              </a:rPr>
              <a:t>M</a:t>
            </a:r>
            <a:r>
              <a:rPr lang="ko-KR" altLang="en-US" sz="1200" kern="1200" dirty="0">
                <a:solidFill>
                  <a:schemeClr val="tx1"/>
                </a:solidFill>
                <a:effectLst/>
                <a:latin typeface="+mn-lt"/>
                <a:ea typeface="+mn-ea"/>
                <a:cs typeface="+mn-cs"/>
              </a:rPr>
              <a:t>에서</a:t>
            </a:r>
          </a:p>
          <a:p>
            <a:r>
              <a:rPr lang="ko-KR" altLang="en-US" sz="1200" kern="1200" dirty="0">
                <a:solidFill>
                  <a:schemeClr val="tx1"/>
                </a:solidFill>
                <a:effectLst/>
                <a:latin typeface="+mn-lt"/>
                <a:ea typeface="+mn-ea"/>
                <a:cs typeface="+mn-cs"/>
              </a:rPr>
              <a:t>평점 파일과 영화 정보를 </a:t>
            </a:r>
            <a:r>
              <a:rPr lang="en" altLang="ko-KR" sz="1200" kern="1200" dirty="0" err="1">
                <a:solidFill>
                  <a:schemeClr val="tx1"/>
                </a:solidFill>
                <a:effectLst/>
                <a:latin typeface="+mn-lt"/>
                <a:ea typeface="+mn-ea"/>
                <a:cs typeface="+mn-cs"/>
              </a:rPr>
              <a:t>movieId</a:t>
            </a:r>
            <a:r>
              <a:rPr lang="ko-KR" altLang="en-US" sz="1200" kern="1200" dirty="0">
                <a:solidFill>
                  <a:schemeClr val="tx1"/>
                </a:solidFill>
                <a:effectLst/>
                <a:latin typeface="+mn-lt"/>
                <a:ea typeface="+mn-ea"/>
                <a:cs typeface="+mn-cs"/>
              </a:rPr>
              <a:t>로 병합해서 하나의 테이블을 만들고</a:t>
            </a:r>
            <a:r>
              <a:rPr lang="en-US" altLang="ko-KR" sz="1200" kern="1200" dirty="0">
                <a:solidFill>
                  <a:schemeClr val="tx1"/>
                </a:solidFill>
                <a:effectLst/>
                <a:latin typeface="+mn-lt"/>
                <a:ea typeface="+mn-ea"/>
                <a:cs typeface="+mn-cs"/>
              </a:rPr>
              <a:t>,</a:t>
            </a:r>
          </a:p>
          <a:p>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 altLang="ko-KR" b="1" dirty="0"/>
              <a:t>2) Label Encoding </a:t>
            </a:r>
            <a:r>
              <a:rPr lang="ko-KR" altLang="en-US" sz="1200" kern="1200" dirty="0" err="1">
                <a:solidFill>
                  <a:schemeClr val="tx1"/>
                </a:solidFill>
                <a:effectLst/>
                <a:latin typeface="+mn-lt"/>
                <a:ea typeface="+mn-ea"/>
                <a:cs typeface="+mn-cs"/>
              </a:rPr>
              <a:t>그다음</a:t>
            </a:r>
            <a:r>
              <a:rPr lang="ko-KR" altLang="en-US" sz="1200" kern="1200" dirty="0">
                <a:solidFill>
                  <a:schemeClr val="tx1"/>
                </a:solidFill>
                <a:effectLst/>
                <a:latin typeface="+mn-lt"/>
                <a:ea typeface="+mn-ea"/>
                <a:cs typeface="+mn-cs"/>
              </a:rPr>
              <a:t> </a:t>
            </a:r>
            <a:r>
              <a:rPr lang="en" altLang="ko-KR" sz="1200" kern="1200" dirty="0" err="1">
                <a:solidFill>
                  <a:schemeClr val="tx1"/>
                </a:solidFill>
                <a:effectLst/>
                <a:latin typeface="+mn-lt"/>
                <a:ea typeface="+mn-ea"/>
                <a:cs typeface="+mn-cs"/>
              </a:rPr>
              <a:t>userId</a:t>
            </a:r>
            <a:r>
              <a:rPr lang="ko-KR" altLang="en-US" sz="1200" kern="1200" dirty="0">
                <a:solidFill>
                  <a:schemeClr val="tx1"/>
                </a:solidFill>
                <a:effectLst/>
                <a:latin typeface="+mn-lt"/>
                <a:ea typeface="+mn-ea"/>
                <a:cs typeface="+mn-cs"/>
              </a:rPr>
              <a:t>와 </a:t>
            </a:r>
            <a:r>
              <a:rPr lang="en" altLang="ko-KR" sz="1200" kern="1200" dirty="0" err="1">
                <a:solidFill>
                  <a:schemeClr val="tx1"/>
                </a:solidFill>
                <a:effectLst/>
                <a:latin typeface="+mn-lt"/>
                <a:ea typeface="+mn-ea"/>
                <a:cs typeface="+mn-cs"/>
              </a:rPr>
              <a:t>movieId</a:t>
            </a:r>
            <a:r>
              <a:rPr lang="ko-KR" altLang="en-US" sz="1200" kern="1200" dirty="0" err="1">
                <a:solidFill>
                  <a:schemeClr val="tx1"/>
                </a:solidFill>
                <a:effectLst/>
                <a:latin typeface="+mn-lt"/>
                <a:ea typeface="+mn-ea"/>
                <a:cs typeface="+mn-cs"/>
              </a:rPr>
              <a:t>를</a:t>
            </a:r>
            <a:r>
              <a:rPr lang="ko-KR" altLang="en-US" sz="1200" kern="1200" dirty="0">
                <a:solidFill>
                  <a:schemeClr val="tx1"/>
                </a:solidFill>
                <a:effectLst/>
                <a:latin typeface="+mn-lt"/>
                <a:ea typeface="+mn-ea"/>
                <a:cs typeface="+mn-cs"/>
              </a:rPr>
              <a:t> </a:t>
            </a:r>
            <a:r>
              <a:rPr lang="en" altLang="ko-KR" sz="1200" kern="1200" dirty="0" err="1">
                <a:solidFill>
                  <a:schemeClr val="tx1"/>
                </a:solidFill>
                <a:effectLst/>
                <a:latin typeface="+mn-lt"/>
                <a:ea typeface="+mn-ea"/>
                <a:cs typeface="+mn-cs"/>
              </a:rPr>
              <a:t>LabelEncoder</a:t>
            </a:r>
            <a:r>
              <a:rPr lang="ko-KR" altLang="en-US" sz="1200" kern="1200" dirty="0">
                <a:solidFill>
                  <a:schemeClr val="tx1"/>
                </a:solidFill>
                <a:effectLst/>
                <a:latin typeface="+mn-lt"/>
                <a:ea typeface="+mn-ea"/>
                <a:cs typeface="+mn-cs"/>
              </a:rPr>
              <a:t>로 정수형 </a:t>
            </a:r>
            <a:r>
              <a:rPr lang="en" altLang="ko-KR" sz="1200" kern="1200" dirty="0">
                <a:solidFill>
                  <a:schemeClr val="tx1"/>
                </a:solidFill>
                <a:effectLst/>
                <a:latin typeface="+mn-lt"/>
                <a:ea typeface="+mn-ea"/>
                <a:cs typeface="+mn-cs"/>
              </a:rPr>
              <a:t>ID</a:t>
            </a:r>
            <a:r>
              <a:rPr lang="ko-KR" altLang="en-US" sz="1200" kern="1200" dirty="0">
                <a:solidFill>
                  <a:schemeClr val="tx1"/>
                </a:solidFill>
                <a:effectLst/>
                <a:latin typeface="+mn-lt"/>
                <a:ea typeface="+mn-ea"/>
                <a:cs typeface="+mn-cs"/>
              </a:rPr>
              <a:t>로 변환했습니다</a:t>
            </a:r>
            <a:r>
              <a:rPr lang="en-US" altLang="ko-KR" sz="1200" kern="1200" dirty="0">
                <a:solidFill>
                  <a:schemeClr val="tx1"/>
                </a:solidFill>
                <a:effectLst/>
                <a:latin typeface="+mn-lt"/>
                <a:ea typeface="+mn-ea"/>
                <a:cs typeface="+mn-cs"/>
              </a:rPr>
              <a:t>.</a:t>
            </a:r>
          </a:p>
          <a:p>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원래 </a:t>
            </a:r>
            <a:r>
              <a:rPr lang="en" altLang="ko-KR" sz="1200" kern="1200" dirty="0">
                <a:solidFill>
                  <a:schemeClr val="tx1"/>
                </a:solidFill>
                <a:effectLst/>
                <a:latin typeface="+mn-lt"/>
                <a:ea typeface="+mn-ea"/>
                <a:cs typeface="+mn-cs"/>
              </a:rPr>
              <a:t>ID</a:t>
            </a:r>
            <a:r>
              <a:rPr lang="ko-KR" altLang="en-US" sz="1200" kern="1200" dirty="0" err="1">
                <a:solidFill>
                  <a:schemeClr val="tx1"/>
                </a:solidFill>
                <a:effectLst/>
                <a:latin typeface="+mn-lt"/>
                <a:ea typeface="+mn-ea"/>
                <a:cs typeface="+mn-cs"/>
              </a:rPr>
              <a:t>를</a:t>
            </a:r>
            <a:r>
              <a:rPr lang="ko-KR" altLang="en-US" sz="1200" kern="1200" dirty="0">
                <a:solidFill>
                  <a:schemeClr val="tx1"/>
                </a:solidFill>
                <a:effectLst/>
                <a:latin typeface="+mn-lt"/>
                <a:ea typeface="+mn-ea"/>
                <a:cs typeface="+mn-cs"/>
              </a:rPr>
              <a:t> 모델이 쓰기 좋은 </a:t>
            </a:r>
            <a:r>
              <a:rPr lang="en-US" altLang="ko-KR" sz="1200" b="1" kern="1200" dirty="0">
                <a:solidFill>
                  <a:schemeClr val="tx1"/>
                </a:solidFill>
                <a:effectLst/>
                <a:latin typeface="+mn-lt"/>
                <a:ea typeface="+mn-ea"/>
                <a:cs typeface="+mn-cs"/>
              </a:rPr>
              <a:t>0</a:t>
            </a:r>
            <a:r>
              <a:rPr lang="ko-KR" altLang="en-US" sz="1200" b="1" kern="1200" dirty="0" err="1">
                <a:solidFill>
                  <a:schemeClr val="tx1"/>
                </a:solidFill>
                <a:effectLst/>
                <a:latin typeface="+mn-lt"/>
                <a:ea typeface="+mn-ea"/>
                <a:cs typeface="+mn-cs"/>
              </a:rPr>
              <a:t>부터</a:t>
            </a:r>
            <a:r>
              <a:rPr lang="ko-KR" altLang="en-US" sz="1200" b="1" kern="1200" dirty="0">
                <a:solidFill>
                  <a:schemeClr val="tx1"/>
                </a:solidFill>
                <a:effectLst/>
                <a:latin typeface="+mn-lt"/>
                <a:ea typeface="+mn-ea"/>
                <a:cs typeface="+mn-cs"/>
              </a:rPr>
              <a:t> 시작하는 연속된 정수 인덱스</a:t>
            </a:r>
            <a:r>
              <a:rPr lang="ko-KR" altLang="en-US" sz="1200" kern="1200" dirty="0">
                <a:solidFill>
                  <a:schemeClr val="tx1"/>
                </a:solidFill>
                <a:effectLst/>
                <a:latin typeface="+mn-lt"/>
                <a:ea typeface="+mn-ea"/>
                <a:cs typeface="+mn-cs"/>
              </a:rPr>
              <a:t>로 바꿈</a:t>
            </a:r>
            <a:r>
              <a:rPr lang="en-US" altLang="ko-KR" sz="1200" kern="1200" dirty="0">
                <a:solidFill>
                  <a:schemeClr val="tx1"/>
                </a:solidFill>
                <a:effectLst/>
                <a:latin typeface="+mn-lt"/>
                <a:ea typeface="+mn-ea"/>
                <a:cs typeface="+mn-cs"/>
              </a:rPr>
              <a:t>)</a:t>
            </a:r>
          </a:p>
          <a:p>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 altLang="ko-KR" b="1" dirty="0"/>
              <a:t>3) Structure Normalization</a:t>
            </a:r>
            <a:r>
              <a:rPr lang="ko-KR" altLang="en-US" sz="1200" b="1" kern="1200" dirty="0">
                <a:solidFill>
                  <a:schemeClr val="tx1"/>
                </a:solidFill>
                <a:effectLst/>
                <a:latin typeface="+mn-lt"/>
                <a:ea typeface="+mn-ea"/>
                <a:cs typeface="+mn-cs"/>
              </a:rPr>
              <a:t> </a:t>
            </a:r>
            <a:r>
              <a:rPr lang="ko-KR" altLang="en-US" sz="1200" kern="1200" dirty="0">
                <a:solidFill>
                  <a:schemeClr val="tx1"/>
                </a:solidFill>
                <a:effectLst/>
                <a:latin typeface="+mn-lt"/>
                <a:ea typeface="+mn-ea"/>
                <a:cs typeface="+mn-cs"/>
              </a:rPr>
              <a:t>마지막으로 이 </a:t>
            </a:r>
            <a:r>
              <a:rPr lang="ko-KR" altLang="en-US" sz="1200" kern="1200" dirty="0" err="1">
                <a:solidFill>
                  <a:schemeClr val="tx1"/>
                </a:solidFill>
                <a:effectLst/>
                <a:latin typeface="+mn-lt"/>
                <a:ea typeface="+mn-ea"/>
                <a:cs typeface="+mn-cs"/>
              </a:rPr>
              <a:t>전처리된</a:t>
            </a:r>
            <a:r>
              <a:rPr lang="ko-KR" altLang="en-US" sz="1200" kern="1200" dirty="0">
                <a:solidFill>
                  <a:schemeClr val="tx1"/>
                </a:solidFill>
                <a:effectLst/>
                <a:latin typeface="+mn-lt"/>
                <a:ea typeface="+mn-ea"/>
                <a:cs typeface="+mn-cs"/>
              </a:rPr>
              <a:t> 데이터를 </a:t>
            </a:r>
            <a:r>
              <a:rPr lang="en" altLang="ko-KR" sz="1200" kern="1200" dirty="0">
                <a:solidFill>
                  <a:schemeClr val="tx1"/>
                </a:solidFill>
                <a:effectLst/>
                <a:latin typeface="+mn-lt"/>
                <a:ea typeface="+mn-ea"/>
                <a:cs typeface="+mn-cs"/>
              </a:rPr>
              <a:t>CSV</a:t>
            </a:r>
            <a:r>
              <a:rPr lang="ko-KR" altLang="en-US" sz="1200" kern="1200" dirty="0">
                <a:solidFill>
                  <a:schemeClr val="tx1"/>
                </a:solidFill>
                <a:effectLst/>
                <a:latin typeface="+mn-lt"/>
                <a:ea typeface="+mn-ea"/>
                <a:cs typeface="+mn-cs"/>
              </a:rPr>
              <a:t>로 저장해서</a:t>
            </a:r>
          </a:p>
          <a:p>
            <a:r>
              <a:rPr lang="ko-KR" altLang="en-US" sz="1200" kern="1200" dirty="0">
                <a:solidFill>
                  <a:schemeClr val="tx1"/>
                </a:solidFill>
                <a:effectLst/>
                <a:latin typeface="+mn-lt"/>
                <a:ea typeface="+mn-ea"/>
                <a:cs typeface="+mn-cs"/>
              </a:rPr>
              <a:t>두 데이터셋 모두를 같은 컬럼 구조로 맞춰</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이후 모델 학습과 평가에 바로 사용할 수 있도록 구조를 </a:t>
            </a:r>
            <a:r>
              <a:rPr lang="ko-KR" altLang="en-US" sz="1200" kern="1200" dirty="0" err="1">
                <a:solidFill>
                  <a:schemeClr val="tx1"/>
                </a:solidFill>
                <a:effectLst/>
                <a:latin typeface="+mn-lt"/>
                <a:ea typeface="+mn-ea"/>
                <a:cs typeface="+mn-cs"/>
              </a:rPr>
              <a:t>표준화하여</a:t>
            </a:r>
            <a:r>
              <a:rPr lang="ko-KR" altLang="en-US" sz="1200" kern="1200" dirty="0">
                <a:solidFill>
                  <a:schemeClr val="tx1"/>
                </a:solidFill>
                <a:effectLst/>
                <a:latin typeface="+mn-lt"/>
                <a:ea typeface="+mn-ea"/>
                <a:cs typeface="+mn-cs"/>
              </a:rPr>
              <a:t> 이후 파이프 라인을 통일했습니다</a:t>
            </a:r>
            <a:r>
              <a:rPr lang="en-US" altLang="ko-KR" sz="1200" kern="1200" dirty="0">
                <a:solidFill>
                  <a:schemeClr val="tx1"/>
                </a:solidFill>
                <a:effectLst/>
                <a:latin typeface="+mn-lt"/>
                <a:ea typeface="+mn-ea"/>
                <a:cs typeface="+mn-cs"/>
              </a:rPr>
              <a:t>.</a:t>
            </a:r>
          </a:p>
          <a:p>
            <a:endParaRPr lang="en-US" altLang="ko-KR" sz="1200" b="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5</a:t>
            </a:fld>
            <a:endParaRPr lang="ko-KR" altLang="en-US"/>
          </a:p>
        </p:txBody>
      </p:sp>
    </p:spTree>
    <p:extLst>
      <p:ext uri="{BB962C8B-B14F-4D97-AF65-F5344CB8AC3E}">
        <p14:creationId xmlns:p14="http://schemas.microsoft.com/office/powerpoint/2010/main" val="3107857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 altLang="ko-KR" b="0" strike="sngStrike" dirty="0" err="1"/>
              <a:t>u.data</a:t>
            </a:r>
            <a:r>
              <a:rPr lang="en" altLang="ko-KR" b="0" strike="sngStrike" dirty="0"/>
              <a:t> </a:t>
            </a:r>
            <a:r>
              <a:rPr lang="ko-KR" altLang="en-US" b="0" strike="sngStrike" dirty="0"/>
              <a:t>파일에는 </a:t>
            </a:r>
            <a:r>
              <a:rPr lang="en" altLang="ko-KR" b="0" strike="sngStrike" dirty="0" err="1"/>
              <a:t>userId</a:t>
            </a:r>
            <a:r>
              <a:rPr lang="en" altLang="ko-KR" b="0" strike="sngStrike" dirty="0"/>
              <a:t>, </a:t>
            </a:r>
            <a:r>
              <a:rPr lang="en" altLang="ko-KR" b="0" strike="sngStrike" dirty="0" err="1"/>
              <a:t>movieId</a:t>
            </a:r>
            <a:r>
              <a:rPr lang="en" altLang="ko-KR" b="0" strike="sngStrike" dirty="0"/>
              <a:t>, rating, timestamp </a:t>
            </a:r>
            <a:r>
              <a:rPr lang="ko-KR" altLang="en-US" b="0" strike="sngStrike" dirty="0"/>
              <a:t>네 개의 숫자만 있고</a:t>
            </a:r>
            <a:r>
              <a:rPr lang="en-US" altLang="ko-KR" b="0" strike="sngStrike" dirty="0"/>
              <a:t>,</a:t>
            </a:r>
          </a:p>
          <a:p>
            <a:r>
              <a:rPr lang="en" altLang="ko-KR" b="0" strike="sngStrike" dirty="0" err="1"/>
              <a:t>u.item</a:t>
            </a:r>
            <a:r>
              <a:rPr lang="en" altLang="ko-KR" b="0" strike="sngStrike" dirty="0"/>
              <a:t> </a:t>
            </a:r>
            <a:r>
              <a:rPr lang="ko-KR" altLang="en-US" b="0" strike="sngStrike" dirty="0"/>
              <a:t>파일에는 각 </a:t>
            </a:r>
            <a:r>
              <a:rPr lang="en" altLang="ko-KR" b="0" strike="sngStrike" dirty="0" err="1"/>
              <a:t>movieId</a:t>
            </a:r>
            <a:r>
              <a:rPr lang="ko-KR" altLang="en-US" b="0" strike="sngStrike" dirty="0" err="1"/>
              <a:t>에</a:t>
            </a:r>
            <a:r>
              <a:rPr lang="ko-KR" altLang="en-US" b="0" strike="sngStrike" dirty="0"/>
              <a:t> 대해 영화 제목과 개봉일 등이 </a:t>
            </a:r>
            <a:r>
              <a:rPr lang="en-US" altLang="ko-KR" b="0" strike="sngStrike" dirty="0"/>
              <a:t>|</a:t>
            </a:r>
            <a:r>
              <a:rPr lang="ko-KR" altLang="en-US" b="0" strike="sngStrike" dirty="0"/>
              <a:t> 로 구분되어 저장돼 있습니다</a:t>
            </a:r>
            <a:r>
              <a:rPr lang="en-US" altLang="ko-KR" b="0" strike="sngStrike" dirty="0"/>
              <a:t>.</a:t>
            </a:r>
          </a:p>
          <a:p>
            <a:endParaRPr lang="en-US" altLang="ko-KR" b="0" strike="sngStrike" dirty="0"/>
          </a:p>
          <a:p>
            <a:r>
              <a:rPr lang="ko-KR" altLang="en-US" b="0" strike="sngStrike" dirty="0"/>
              <a:t>이 상태만 보면 “</a:t>
            </a:r>
            <a:r>
              <a:rPr lang="en-US" altLang="ko-KR" b="0" strike="sngStrike" dirty="0"/>
              <a:t>196</a:t>
            </a:r>
            <a:r>
              <a:rPr lang="ko-KR" altLang="en-US" b="0" strike="sngStrike" dirty="0"/>
              <a:t>번 사용자가 </a:t>
            </a:r>
            <a:r>
              <a:rPr lang="en-US" altLang="ko-KR" b="0" strike="sngStrike" dirty="0"/>
              <a:t>242</a:t>
            </a:r>
            <a:r>
              <a:rPr lang="ko-KR" altLang="en-US" b="0" strike="sngStrike" dirty="0"/>
              <a:t>번 영화에 </a:t>
            </a:r>
            <a:r>
              <a:rPr lang="en-US" altLang="ko-KR" b="0" strike="sngStrike" dirty="0"/>
              <a:t>3</a:t>
            </a:r>
            <a:r>
              <a:rPr lang="ko-KR" altLang="en-US" b="0" strike="sngStrike" dirty="0"/>
              <a:t>점을 </a:t>
            </a:r>
            <a:r>
              <a:rPr lang="ko-KR" altLang="en-US" b="0" strike="sngStrike" dirty="0" err="1"/>
              <a:t>줬다”는</a:t>
            </a:r>
            <a:r>
              <a:rPr lang="ko-KR" altLang="en-US" b="0" strike="sngStrike" dirty="0"/>
              <a:t> 정보는 알 수 있지만</a:t>
            </a:r>
            <a:r>
              <a:rPr lang="en-US" altLang="ko-KR" b="0" strike="sngStrike" dirty="0"/>
              <a:t>,</a:t>
            </a:r>
          </a:p>
          <a:p>
            <a:r>
              <a:rPr lang="en-US" altLang="ko-KR" b="0" strike="sngStrike" dirty="0"/>
              <a:t>242</a:t>
            </a:r>
            <a:r>
              <a:rPr lang="ko-KR" altLang="en-US" b="0" strike="sngStrike" dirty="0"/>
              <a:t>번 영화가 어떤 영화인지</a:t>
            </a:r>
            <a:r>
              <a:rPr lang="en-US" altLang="ko-KR" b="0" strike="sngStrike" dirty="0"/>
              <a:t>(</a:t>
            </a:r>
            <a:r>
              <a:rPr lang="ko-KR" altLang="en-US" b="0" strike="sngStrike" dirty="0"/>
              <a:t>제목이 </a:t>
            </a:r>
            <a:r>
              <a:rPr lang="ko-KR" altLang="en-US" b="0" strike="sngStrike" dirty="0" err="1"/>
              <a:t>뭔지</a:t>
            </a:r>
            <a:r>
              <a:rPr lang="en-US" altLang="ko-KR" b="0" strike="sngStrike" dirty="0"/>
              <a:t>)</a:t>
            </a:r>
            <a:r>
              <a:rPr lang="ko-KR" altLang="en-US" b="0" strike="sngStrike" dirty="0"/>
              <a:t>는 바로 알 수 없습니다</a:t>
            </a:r>
            <a:r>
              <a:rPr lang="en-US" altLang="ko-KR" b="0" strike="sngStrike" dirty="0"/>
              <a:t>.</a:t>
            </a:r>
            <a:endParaRPr lang="ko-KR" altLang="en-US" b="0" strike="sngStrike" dirty="0"/>
          </a:p>
          <a:p>
            <a:endParaRPr lang="en-US" altLang="ko-KR" b="0" dirty="0"/>
          </a:p>
          <a:p>
            <a:r>
              <a:rPr lang="ko-KR" altLang="en-US" b="0" dirty="0"/>
              <a:t>따라서</a:t>
            </a:r>
            <a:r>
              <a:rPr lang="en-US" altLang="ko-KR" b="0" dirty="0"/>
              <a:t>,</a:t>
            </a:r>
            <a:r>
              <a:rPr lang="ko-KR" altLang="en-US" b="0" dirty="0"/>
              <a:t> 두 파일을 </a:t>
            </a:r>
            <a:r>
              <a:rPr lang="en" altLang="ko-KR" b="0" dirty="0" err="1"/>
              <a:t>movieId</a:t>
            </a:r>
            <a:r>
              <a:rPr lang="ko-KR" altLang="en-US" b="0" dirty="0" err="1"/>
              <a:t>를</a:t>
            </a:r>
            <a:r>
              <a:rPr lang="ko-KR" altLang="en-US" b="0" dirty="0"/>
              <a:t> 기준으로 </a:t>
            </a:r>
            <a:r>
              <a:rPr lang="en" altLang="ko-KR" b="0" dirty="0"/>
              <a:t>merge </a:t>
            </a:r>
            <a:r>
              <a:rPr lang="ko-KR" altLang="en-US" b="0" dirty="0"/>
              <a:t>해서 “누가</a:t>
            </a:r>
            <a:r>
              <a:rPr lang="en-US" altLang="ko-KR" b="0" dirty="0"/>
              <a:t>, </a:t>
            </a:r>
            <a:r>
              <a:rPr lang="ko-KR" altLang="en-US" b="0" dirty="0"/>
              <a:t>어떤 영화에</a:t>
            </a:r>
            <a:r>
              <a:rPr lang="en-US" altLang="ko-KR" b="0" dirty="0"/>
              <a:t>, </a:t>
            </a:r>
            <a:r>
              <a:rPr lang="ko-KR" altLang="en-US" b="0" dirty="0"/>
              <a:t>몇 점을 줬고</a:t>
            </a:r>
            <a:r>
              <a:rPr lang="en-US" altLang="ko-KR" b="0" dirty="0"/>
              <a:t>, </a:t>
            </a:r>
            <a:r>
              <a:rPr lang="ko-KR" altLang="en-US" b="0" dirty="0"/>
              <a:t>그 영화 제목이 </a:t>
            </a:r>
            <a:r>
              <a:rPr lang="ko-KR" altLang="en-US" b="0" dirty="0" err="1"/>
              <a:t>무엇인지”를</a:t>
            </a:r>
            <a:r>
              <a:rPr lang="ko-KR" altLang="en-US" b="0" dirty="0"/>
              <a:t> 한 </a:t>
            </a:r>
            <a:r>
              <a:rPr lang="en" altLang="ko-KR" b="0" dirty="0" err="1"/>
              <a:t>DataFrame</a:t>
            </a:r>
            <a:r>
              <a:rPr lang="ko-KR" altLang="en-US" b="0" dirty="0" err="1"/>
              <a:t>에</a:t>
            </a:r>
            <a:r>
              <a:rPr lang="ko-KR" altLang="en-US" b="0" dirty="0"/>
              <a:t> 모았습니다</a:t>
            </a:r>
            <a:r>
              <a:rPr lang="en-US" altLang="ko-KR" b="0" dirty="0"/>
              <a:t>.</a:t>
            </a:r>
            <a:r>
              <a:rPr lang="ko-KR" altLang="en-US" b="0" dirty="0"/>
              <a:t> </a:t>
            </a:r>
            <a:endParaRPr lang="en-US" altLang="ko-KR" b="0"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6</a:t>
            </a:fld>
            <a:endParaRPr lang="ko-KR" altLang="en-US"/>
          </a:p>
        </p:txBody>
      </p:sp>
    </p:spTree>
    <p:extLst>
      <p:ext uri="{BB962C8B-B14F-4D97-AF65-F5344CB8AC3E}">
        <p14:creationId xmlns:p14="http://schemas.microsoft.com/office/powerpoint/2010/main" val="866379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이렇게 </a:t>
            </a:r>
            <a:r>
              <a:rPr lang="ko-KR" altLang="en-US" b="0" dirty="0" err="1"/>
              <a:t>전처리된</a:t>
            </a:r>
            <a:r>
              <a:rPr lang="ko-KR" altLang="en-US" b="0" dirty="0"/>
              <a:t> 것이 </a:t>
            </a:r>
            <a:r>
              <a:rPr lang="en" altLang="ko-KR" b="0" dirty="0"/>
              <a:t>preprocessed_100k</a:t>
            </a:r>
            <a:r>
              <a:rPr lang="ko-KR" altLang="en-US" b="0" dirty="0"/>
              <a:t>이며</a:t>
            </a:r>
            <a:r>
              <a:rPr lang="en-US" altLang="ko-KR" b="0" dirty="0"/>
              <a:t>,</a:t>
            </a:r>
            <a:r>
              <a:rPr lang="ko-KR" altLang="en-US" b="0" dirty="0"/>
              <a:t> </a:t>
            </a:r>
            <a:endParaRPr lang="en-US" altLang="ko-KR" b="0"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b="0"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strike="sngStrike" dirty="0"/>
              <a:t>그 다음 추천 모델에 넣기 위해 </a:t>
            </a:r>
            <a:r>
              <a:rPr lang="en" altLang="ko-KR" b="0" strike="sngStrike" dirty="0" err="1"/>
              <a:t>userId</a:t>
            </a:r>
            <a:r>
              <a:rPr lang="ko-KR" altLang="en-US" b="0" strike="sngStrike" dirty="0"/>
              <a:t>와 </a:t>
            </a:r>
            <a:r>
              <a:rPr lang="en" altLang="ko-KR" b="0" strike="sngStrike" dirty="0" err="1"/>
              <a:t>movieId</a:t>
            </a:r>
            <a:r>
              <a:rPr lang="ko-KR" altLang="en-US" b="0" strike="sngStrike" dirty="0" err="1"/>
              <a:t>를</a:t>
            </a:r>
            <a:endParaRPr lang="ko-KR" altLang="en-US" b="0" strike="sngStrike" dirty="0"/>
          </a:p>
          <a:p>
            <a:r>
              <a:rPr lang="en-US" altLang="ko-KR" b="0" strike="sngStrike" dirty="0"/>
              <a:t>0</a:t>
            </a:r>
            <a:r>
              <a:rPr lang="ko-KR" altLang="en-US" b="0" strike="sngStrike" dirty="0" err="1"/>
              <a:t>부터</a:t>
            </a:r>
            <a:r>
              <a:rPr lang="ko-KR" altLang="en-US" b="0" strike="sngStrike" dirty="0"/>
              <a:t> 시작하는 연속된 정수 인덱스로 다시 매핑한 것이</a:t>
            </a:r>
          </a:p>
          <a:p>
            <a:r>
              <a:rPr lang="en" altLang="ko-KR" b="0" strike="sngStrike" dirty="0" err="1"/>
              <a:t>userId_enc</a:t>
            </a:r>
            <a:r>
              <a:rPr lang="en" altLang="ko-KR" b="0" strike="sngStrike" dirty="0"/>
              <a:t>, </a:t>
            </a:r>
            <a:r>
              <a:rPr lang="en" altLang="ko-KR" b="0" strike="sngStrike" dirty="0" err="1"/>
              <a:t>movieId_enc</a:t>
            </a:r>
            <a:r>
              <a:rPr lang="en" altLang="ko-KR" b="0" strike="sngStrike" dirty="0"/>
              <a:t> </a:t>
            </a:r>
            <a:r>
              <a:rPr lang="ko-KR" altLang="en-US" b="0" strike="sngStrike" dirty="0"/>
              <a:t>컬럼입니다</a:t>
            </a:r>
            <a:r>
              <a:rPr lang="en-US" altLang="ko-KR" b="0" strike="sngStrike" dirty="0"/>
              <a:t>.</a:t>
            </a:r>
          </a:p>
          <a:p>
            <a:endParaRPr kumimoji="1" lang="ko-KR" altLang="en-US" b="0"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7</a:t>
            </a:fld>
            <a:endParaRPr lang="ko-KR" altLang="en-US"/>
          </a:p>
        </p:txBody>
      </p:sp>
    </p:spTree>
    <p:extLst>
      <p:ext uri="{BB962C8B-B14F-4D97-AF65-F5344CB8AC3E}">
        <p14:creationId xmlns:p14="http://schemas.microsoft.com/office/powerpoint/2010/main" val="3041142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ko-KR" altLang="en-US" b="0" dirty="0"/>
              <a:t>다음은 모델링입니다</a:t>
            </a:r>
            <a:r>
              <a:rPr kumimoji="1" lang="en-US" altLang="ko-KR" b="0" dirty="0"/>
              <a:t>.</a:t>
            </a:r>
            <a:r>
              <a:rPr kumimoji="1" lang="ko-KR" altLang="en-US" b="0" dirty="0"/>
              <a:t> 앞서 말씀드린 것처럼 </a:t>
            </a:r>
            <a:r>
              <a:rPr lang="ko-KR" altLang="en-US" b="0" dirty="0"/>
              <a:t>저희는 </a:t>
            </a:r>
            <a:r>
              <a:rPr lang="ko-KR" altLang="en-US" sz="1200" b="0" kern="1200" dirty="0">
                <a:solidFill>
                  <a:schemeClr val="tx1"/>
                </a:solidFill>
                <a:effectLst/>
                <a:latin typeface="+mn-lt"/>
                <a:ea typeface="+mn-ea"/>
                <a:cs typeface="+mn-cs"/>
              </a:rPr>
              <a:t>해당 프로젝트에서 </a:t>
            </a:r>
            <a:r>
              <a:rPr lang="ko-KR" altLang="en-US" sz="1200" b="0" kern="1200" dirty="0" err="1">
                <a:solidFill>
                  <a:schemeClr val="tx1"/>
                </a:solidFill>
                <a:effectLst/>
                <a:latin typeface="+mn-lt"/>
                <a:ea typeface="+mn-ea"/>
                <a:cs typeface="+mn-cs"/>
              </a:rPr>
              <a:t>협업필터링</a:t>
            </a:r>
            <a:r>
              <a:rPr lang="ko-KR" altLang="en-US" sz="1200" b="0" kern="1200" dirty="0">
                <a:solidFill>
                  <a:schemeClr val="tx1"/>
                </a:solidFill>
                <a:effectLst/>
                <a:latin typeface="+mn-lt"/>
                <a:ea typeface="+mn-ea"/>
                <a:cs typeface="+mn-cs"/>
              </a:rPr>
              <a:t> 방법 </a:t>
            </a:r>
            <a:r>
              <a:rPr lang="en-US" altLang="ko-KR" sz="1200" b="0" kern="1200" dirty="0">
                <a:solidFill>
                  <a:schemeClr val="tx1"/>
                </a:solidFill>
                <a:effectLst/>
                <a:latin typeface="+mn-lt"/>
                <a:ea typeface="+mn-ea"/>
                <a:cs typeface="+mn-cs"/>
              </a:rPr>
              <a:t>2</a:t>
            </a:r>
            <a:r>
              <a:rPr lang="ko-KR" altLang="en-US" sz="1200" b="0" kern="1200" dirty="0">
                <a:solidFill>
                  <a:schemeClr val="tx1"/>
                </a:solidFill>
                <a:effectLst/>
                <a:latin typeface="+mn-lt"/>
                <a:ea typeface="+mn-ea"/>
                <a:cs typeface="+mn-cs"/>
              </a:rPr>
              <a:t>가지</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메모리 기반</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모델 기반</a:t>
            </a:r>
            <a:r>
              <a:rPr lang="en-US" altLang="ko-KR" sz="1200" b="0" kern="1200" dirty="0">
                <a:solidFill>
                  <a:schemeClr val="tx1"/>
                </a:solidFill>
                <a:effectLst/>
                <a:latin typeface="+mn-lt"/>
                <a:ea typeface="+mn-ea"/>
                <a:cs typeface="+mn-cs"/>
              </a:rPr>
              <a:t>)</a:t>
            </a:r>
            <a:r>
              <a:rPr lang="ko-KR" altLang="en-US" sz="1200" b="0" kern="1200" dirty="0" err="1">
                <a:solidFill>
                  <a:schemeClr val="tx1"/>
                </a:solidFill>
                <a:effectLst/>
                <a:latin typeface="+mn-lt"/>
                <a:ea typeface="+mn-ea"/>
                <a:cs typeface="+mn-cs"/>
              </a:rPr>
              <a:t>를</a:t>
            </a:r>
            <a:r>
              <a:rPr lang="ko-KR" altLang="en-US" sz="1200" b="0" kern="1200" dirty="0">
                <a:solidFill>
                  <a:schemeClr val="tx1"/>
                </a:solidFill>
                <a:effectLst/>
                <a:latin typeface="+mn-lt"/>
                <a:ea typeface="+mn-ea"/>
                <a:cs typeface="+mn-cs"/>
              </a:rPr>
              <a:t> 사용해보고 비교하는 방식으로 진행하였습니다</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a:t>
            </a:r>
            <a:endParaRPr kumimoji="1" lang="en-US" altLang="ko-KR" sz="1200" b="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1" lang="en-US" altLang="ko-KR" sz="1200" b="0" kern="1200" dirty="0">
              <a:solidFill>
                <a:schemeClr val="tx1"/>
              </a:solidFill>
              <a:effectLst/>
              <a:latin typeface="+mn-lt"/>
              <a:ea typeface="+mn-ea"/>
              <a:cs typeface="+mn-cs"/>
            </a:endParaRPr>
          </a:p>
          <a:p>
            <a:r>
              <a:rPr lang="ko-KR" altLang="en-US" sz="1200" b="0" kern="1200" dirty="0">
                <a:solidFill>
                  <a:schemeClr val="tx1"/>
                </a:solidFill>
                <a:effectLst/>
                <a:latin typeface="+mn-lt"/>
                <a:ea typeface="+mn-ea"/>
                <a:cs typeface="+mn-cs"/>
              </a:rPr>
              <a:t>먼저 메모리 기반 협업 필터링에서</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유저기반과 아이템 기반 중 아이템 기반 기법을 사용하였고</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그 과정에서 구현은 </a:t>
            </a:r>
            <a:r>
              <a:rPr lang="en-US" altLang="ko-KR" sz="1200" spc="-91" dirty="0">
                <a:solidFill>
                  <a:srgbClr val="4C4747"/>
                </a:solidFill>
                <a:latin typeface="본고딕" panose="020B0500000000000000" pitchFamily="34" charset="-127"/>
                <a:ea typeface="본고딕" panose="020B0500000000000000" pitchFamily="34" charset="-127"/>
              </a:rPr>
              <a:t>surprise </a:t>
            </a:r>
            <a:r>
              <a:rPr lang="ko-KR" altLang="en-US" sz="1200" spc="-91" dirty="0">
                <a:solidFill>
                  <a:srgbClr val="4C4747"/>
                </a:solidFill>
                <a:latin typeface="본고딕" panose="020B0500000000000000" pitchFamily="34" charset="-127"/>
                <a:ea typeface="본고딕" panose="020B0500000000000000" pitchFamily="34" charset="-127"/>
              </a:rPr>
              <a:t>라이브러리의 </a:t>
            </a:r>
            <a:r>
              <a:rPr lang="en-US" altLang="ko-KR" sz="1200" spc="-91" dirty="0" err="1">
                <a:solidFill>
                  <a:srgbClr val="4C4747"/>
                </a:solidFill>
                <a:latin typeface="본고딕" panose="020B0500000000000000" pitchFamily="34" charset="-127"/>
                <a:ea typeface="본고딕" panose="020B0500000000000000" pitchFamily="34" charset="-127"/>
              </a:rPr>
              <a:t>KNNBasic</a:t>
            </a:r>
            <a:r>
              <a:rPr lang="en-US" altLang="ko-KR" sz="1200" spc="-91" dirty="0">
                <a:solidFill>
                  <a:srgbClr val="4C4747"/>
                </a:solidFill>
                <a:latin typeface="본고딕" panose="020B0500000000000000" pitchFamily="34" charset="-127"/>
                <a:ea typeface="본고딕" panose="020B0500000000000000" pitchFamily="34" charset="-127"/>
              </a:rPr>
              <a:t> </a:t>
            </a:r>
            <a:r>
              <a:rPr lang="ko-KR" altLang="en-US" sz="1200" spc="-91" dirty="0">
                <a:solidFill>
                  <a:srgbClr val="4C4747"/>
                </a:solidFill>
                <a:latin typeface="본고딕" panose="020B0500000000000000" pitchFamily="34" charset="-127"/>
                <a:ea typeface="본고딕" panose="020B0500000000000000" pitchFamily="34" charset="-127"/>
              </a:rPr>
              <a:t>클래스를 사용하였습니다</a:t>
            </a:r>
            <a:r>
              <a:rPr lang="en-US" altLang="ko-KR" sz="1200" spc="-91" dirty="0">
                <a:solidFill>
                  <a:srgbClr val="4C4747"/>
                </a:solidFill>
                <a:latin typeface="본고딕" panose="020B0500000000000000" pitchFamily="34" charset="-127"/>
                <a:ea typeface="본고딕" panose="020B0500000000000000" pitchFamily="34" charset="-127"/>
              </a:rPr>
              <a:t>.</a:t>
            </a:r>
            <a:r>
              <a:rPr lang="ko-KR" altLang="en-US" sz="1200" spc="-91" dirty="0">
                <a:solidFill>
                  <a:srgbClr val="4C4747"/>
                </a:solidFill>
                <a:latin typeface="본고딕" panose="020B0500000000000000" pitchFamily="34" charset="-127"/>
                <a:ea typeface="본고딕" panose="020B0500000000000000" pitchFamily="34" charset="-127"/>
              </a:rPr>
              <a:t> 유사도 계산에는 코사인 유사도를 선택하였습니다</a:t>
            </a:r>
            <a:r>
              <a:rPr lang="en-US" altLang="ko-KR" sz="1200" spc="-91" dirty="0">
                <a:solidFill>
                  <a:srgbClr val="4C4747"/>
                </a:solidFill>
                <a:latin typeface="본고딕" panose="020B0500000000000000" pitchFamily="34" charset="-127"/>
                <a:ea typeface="본고딕" panose="020B0500000000000000" pitchFamily="34" charset="-127"/>
              </a:rPr>
              <a:t>.</a:t>
            </a:r>
            <a:r>
              <a:rPr lang="ko-KR" altLang="en-US" sz="1200" spc="-91" dirty="0">
                <a:solidFill>
                  <a:srgbClr val="4C4747"/>
                </a:solidFill>
                <a:latin typeface="본고딕" panose="020B0500000000000000" pitchFamily="34" charset="-127"/>
                <a:ea typeface="본고딕" panose="020B0500000000000000" pitchFamily="34" charset="-127"/>
              </a:rPr>
              <a:t> </a:t>
            </a:r>
            <a:endParaRPr lang="en-US" altLang="ko-KR" sz="1200" spc="-91" dirty="0">
              <a:solidFill>
                <a:srgbClr val="4C4747"/>
              </a:solidFill>
              <a:latin typeface="본고딕" panose="020B0500000000000000" pitchFamily="34" charset="-127"/>
              <a:ea typeface="본고딕" panose="020B0500000000000000" pitchFamily="34" charset="-127"/>
            </a:endParaRPr>
          </a:p>
          <a:p>
            <a:endParaRPr lang="en-US" altLang="ko-KR" sz="1200" b="0" i="1" kern="1200" dirty="0">
              <a:solidFill>
                <a:schemeClr val="tx1"/>
              </a:solidFill>
              <a:effectLst/>
              <a:latin typeface="+mn-lt"/>
              <a:ea typeface="+mn-ea"/>
              <a:cs typeface="+mn-cs"/>
            </a:endParaRPr>
          </a:p>
          <a:p>
            <a:r>
              <a:rPr lang="ko-KR" altLang="en-US" sz="1200" b="0" kern="1200" dirty="0">
                <a:solidFill>
                  <a:schemeClr val="tx1"/>
                </a:solidFill>
                <a:effectLst/>
                <a:latin typeface="+mn-lt"/>
                <a:ea typeface="+mn-ea"/>
                <a:cs typeface="+mn-cs"/>
              </a:rPr>
              <a:t>이 모델은 과거의 평점 행렬을 그대로 메모리에 두고</a:t>
            </a:r>
          </a:p>
          <a:p>
            <a:r>
              <a:rPr lang="ko-KR" altLang="en-US" sz="1200" b="0" kern="1200" dirty="0">
                <a:solidFill>
                  <a:schemeClr val="tx1"/>
                </a:solidFill>
                <a:effectLst/>
                <a:latin typeface="+mn-lt"/>
                <a:ea typeface="+mn-ea"/>
                <a:cs typeface="+mn-cs"/>
              </a:rPr>
              <a:t>서로 비슷한 영화들을 찾아서 ‘이 사용자가 좋아할 만한 영화를 </a:t>
            </a:r>
            <a:r>
              <a:rPr lang="ko-KR" altLang="en-US" sz="1200" b="0" kern="1200" dirty="0" err="1">
                <a:solidFill>
                  <a:schemeClr val="tx1"/>
                </a:solidFill>
                <a:effectLst/>
                <a:latin typeface="+mn-lt"/>
                <a:ea typeface="+mn-ea"/>
                <a:cs typeface="+mn-cs"/>
              </a:rPr>
              <a:t>예측’하는</a:t>
            </a:r>
            <a:r>
              <a:rPr lang="ko-KR" altLang="en-US" sz="1200" b="0" kern="1200" dirty="0">
                <a:solidFill>
                  <a:schemeClr val="tx1"/>
                </a:solidFill>
                <a:effectLst/>
                <a:latin typeface="+mn-lt"/>
                <a:ea typeface="+mn-ea"/>
                <a:cs typeface="+mn-cs"/>
              </a:rPr>
              <a:t> 구조입니다</a:t>
            </a:r>
            <a:r>
              <a:rPr lang="en-US" altLang="ko-KR" sz="1200" b="0" kern="1200" dirty="0">
                <a:solidFill>
                  <a:schemeClr val="tx1"/>
                </a:solidFill>
                <a:effectLst/>
                <a:latin typeface="+mn-lt"/>
                <a:ea typeface="+mn-ea"/>
                <a:cs typeface="+mn-cs"/>
              </a:rPr>
              <a:t>.</a:t>
            </a:r>
          </a:p>
          <a:p>
            <a:endParaRPr lang="en-US" altLang="ko-KR" sz="1200" b="0" i="1" kern="1200" dirty="0">
              <a:solidFill>
                <a:schemeClr val="tx1"/>
              </a:solidFill>
              <a:effectLst/>
              <a:latin typeface="+mn-lt"/>
              <a:ea typeface="+mn-ea"/>
              <a:cs typeface="+mn-cs"/>
            </a:endParaRPr>
          </a:p>
          <a:p>
            <a:r>
              <a:rPr lang="ko-KR" altLang="en-US" sz="1200" b="0" i="0" strike="sngStrike" kern="1200" dirty="0">
                <a:solidFill>
                  <a:schemeClr val="tx1"/>
                </a:solidFill>
                <a:effectLst/>
                <a:latin typeface="+mn-lt"/>
                <a:ea typeface="+mn-ea"/>
                <a:cs typeface="+mn-cs"/>
              </a:rPr>
              <a:t>다시 말해</a:t>
            </a:r>
            <a:r>
              <a:rPr lang="en-US" altLang="ko-KR" sz="1200" b="0" i="0" strike="sngStrike" kern="1200" dirty="0">
                <a:solidFill>
                  <a:schemeClr val="tx1"/>
                </a:solidFill>
                <a:effectLst/>
                <a:latin typeface="+mn-lt"/>
                <a:ea typeface="+mn-ea"/>
                <a:cs typeface="+mn-cs"/>
              </a:rPr>
              <a:t>,</a:t>
            </a:r>
            <a:r>
              <a:rPr lang="ko-KR" altLang="en-US" sz="1200" b="0" i="0" strike="sngStrike" kern="1200" dirty="0">
                <a:solidFill>
                  <a:schemeClr val="tx1"/>
                </a:solidFill>
                <a:effectLst/>
                <a:latin typeface="+mn-lt"/>
                <a:ea typeface="+mn-ea"/>
                <a:cs typeface="+mn-cs"/>
              </a:rPr>
              <a:t> </a:t>
            </a:r>
            <a:r>
              <a:rPr lang="ko-KR" altLang="en-US" sz="1200" b="0" i="0" strike="sngStrike" kern="1200" dirty="0" err="1">
                <a:solidFill>
                  <a:schemeClr val="tx1"/>
                </a:solidFill>
                <a:effectLst/>
                <a:latin typeface="+mn-lt"/>
                <a:ea typeface="+mn-ea"/>
                <a:cs typeface="+mn-cs"/>
              </a:rPr>
              <a:t>사용자들끼리의</a:t>
            </a:r>
            <a:r>
              <a:rPr lang="ko-KR" altLang="en-US" sz="1200" b="0" i="0" strike="sngStrike" kern="1200" dirty="0">
                <a:solidFill>
                  <a:schemeClr val="tx1"/>
                </a:solidFill>
                <a:effectLst/>
                <a:latin typeface="+mn-lt"/>
                <a:ea typeface="+mn-ea"/>
                <a:cs typeface="+mn-cs"/>
              </a:rPr>
              <a:t> 유사도를 보는 것이 아니라</a:t>
            </a:r>
            <a:r>
              <a:rPr lang="en-US" altLang="ko-KR" sz="1200" b="0" i="0" strike="sngStrike" kern="1200" dirty="0">
                <a:solidFill>
                  <a:schemeClr val="tx1"/>
                </a:solidFill>
                <a:effectLst/>
                <a:latin typeface="+mn-lt"/>
                <a:ea typeface="+mn-ea"/>
                <a:cs typeface="+mn-cs"/>
              </a:rPr>
              <a:t>,</a:t>
            </a:r>
          </a:p>
          <a:p>
            <a:r>
              <a:rPr lang="ko-KR" altLang="en-US" sz="1200" b="0" i="0" strike="sngStrike" kern="1200" dirty="0">
                <a:solidFill>
                  <a:schemeClr val="tx1"/>
                </a:solidFill>
                <a:effectLst/>
                <a:latin typeface="+mn-lt"/>
                <a:ea typeface="+mn-ea"/>
                <a:cs typeface="+mn-cs"/>
              </a:rPr>
              <a:t>영화와 영화 사이의 유사도를 계산해서 추천하는 방식</a:t>
            </a:r>
            <a:r>
              <a:rPr lang="en-US" altLang="ko-KR" sz="1200" b="0" i="0" strike="sngStrike" kern="1200" dirty="0">
                <a:solidFill>
                  <a:schemeClr val="tx1"/>
                </a:solidFill>
                <a:effectLst/>
                <a:latin typeface="+mn-lt"/>
                <a:ea typeface="+mn-ea"/>
                <a:cs typeface="+mn-cs"/>
              </a:rPr>
              <a:t>.</a:t>
            </a:r>
            <a:endParaRPr kumimoji="1" lang="en-US" altLang="ko-KR" sz="1200" b="0" strike="noStrike" kern="1200" dirty="0">
              <a:solidFill>
                <a:schemeClr val="tx1"/>
              </a:solidFill>
              <a:effectLst/>
              <a:latin typeface="+mn-lt"/>
              <a:ea typeface="+mn-ea"/>
              <a:cs typeface="+mn-cs"/>
            </a:endParaRPr>
          </a:p>
          <a:p>
            <a:r>
              <a:rPr lang="en" altLang="ko-KR" sz="1200" b="0" strike="sngStrike" kern="1200" dirty="0" err="1">
                <a:solidFill>
                  <a:schemeClr val="tx1"/>
                </a:solidFill>
                <a:effectLst/>
                <a:latin typeface="+mn-lt"/>
                <a:ea typeface="+mn-ea"/>
                <a:cs typeface="+mn-cs"/>
              </a:rPr>
              <a:t>KNNBasic</a:t>
            </a:r>
            <a:r>
              <a:rPr lang="en" altLang="ko-KR" sz="1200" b="0" strike="sngStrike" kern="1200" dirty="0">
                <a:solidFill>
                  <a:schemeClr val="tx1"/>
                </a:solidFill>
                <a:effectLst/>
                <a:latin typeface="+mn-lt"/>
                <a:ea typeface="+mn-ea"/>
                <a:cs typeface="+mn-cs"/>
              </a:rPr>
              <a:t>(k=40, </a:t>
            </a:r>
            <a:r>
              <a:rPr lang="en-US" altLang="ko-KR" sz="1200" b="0" strike="sngStrike" kern="1200" dirty="0">
                <a:solidFill>
                  <a:schemeClr val="tx1"/>
                </a:solidFill>
                <a:effectLst/>
                <a:latin typeface="+mn-lt"/>
                <a:ea typeface="+mn-ea"/>
                <a:cs typeface="+mn-cs"/>
              </a:rPr>
              <a:t>--</a:t>
            </a:r>
            <a:r>
              <a:rPr lang="en" altLang="ko-KR" sz="1200" b="0" strike="sngStrike" kern="1200" dirty="0">
                <a:solidFill>
                  <a:schemeClr val="tx1"/>
                </a:solidFill>
                <a:effectLst/>
                <a:latin typeface="+mn-lt"/>
                <a:ea typeface="+mn-ea"/>
                <a:cs typeface="+mn-cs"/>
              </a:rPr>
              <a:t>)</a:t>
            </a:r>
            <a:r>
              <a:rPr lang="ko-KR" altLang="en-US" sz="1200" b="0" strike="sngStrike" kern="1200" dirty="0" err="1">
                <a:solidFill>
                  <a:schemeClr val="tx1"/>
                </a:solidFill>
                <a:effectLst/>
                <a:latin typeface="+mn-lt"/>
                <a:ea typeface="+mn-ea"/>
                <a:cs typeface="+mn-cs"/>
              </a:rPr>
              <a:t>으로</a:t>
            </a:r>
            <a:r>
              <a:rPr lang="ko-KR" altLang="en-US" sz="1200" b="0" strike="sngStrike" kern="1200" dirty="0">
                <a:solidFill>
                  <a:schemeClr val="tx1"/>
                </a:solidFill>
                <a:effectLst/>
                <a:latin typeface="+mn-lt"/>
                <a:ea typeface="+mn-ea"/>
                <a:cs typeface="+mn-cs"/>
              </a:rPr>
              <a:t> 모델을 생성해서 가장 가까운 이웃 영화 </a:t>
            </a:r>
            <a:r>
              <a:rPr lang="en-US" altLang="ko-KR" sz="1200" b="0" strike="sngStrike" kern="1200" dirty="0">
                <a:solidFill>
                  <a:schemeClr val="tx1"/>
                </a:solidFill>
                <a:effectLst/>
                <a:latin typeface="+mn-lt"/>
                <a:ea typeface="+mn-ea"/>
                <a:cs typeface="+mn-cs"/>
              </a:rPr>
              <a:t>40</a:t>
            </a:r>
            <a:r>
              <a:rPr lang="ko-KR" altLang="en-US" sz="1200" b="0" strike="sngStrike" kern="1200" dirty="0">
                <a:solidFill>
                  <a:schemeClr val="tx1"/>
                </a:solidFill>
                <a:effectLst/>
                <a:latin typeface="+mn-lt"/>
                <a:ea typeface="+mn-ea"/>
                <a:cs typeface="+mn-cs"/>
              </a:rPr>
              <a:t>개를 참고하여 예측하도록 함</a:t>
            </a:r>
            <a:r>
              <a:rPr lang="en-US" altLang="ko-KR" sz="1200" b="0" strike="sngStrike" kern="1200" dirty="0">
                <a:solidFill>
                  <a:schemeClr val="tx1"/>
                </a:solidFill>
                <a:effectLst/>
                <a:latin typeface="+mn-lt"/>
                <a:ea typeface="+mn-ea"/>
                <a:cs typeface="+mn-cs"/>
              </a:rPr>
              <a:t>.</a:t>
            </a:r>
            <a:endParaRPr lang="ko-KR" altLang="en-US" sz="1200" b="0" strike="sngStrike"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200" b="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8</a:t>
            </a:fld>
            <a:endParaRPr lang="ko-KR" altLang="en-US"/>
          </a:p>
        </p:txBody>
      </p:sp>
    </p:spTree>
    <p:extLst>
      <p:ext uri="{BB962C8B-B14F-4D97-AF65-F5344CB8AC3E}">
        <p14:creationId xmlns:p14="http://schemas.microsoft.com/office/powerpoint/2010/main" val="2368872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sz="1200" b="0" kern="1200" dirty="0">
                <a:solidFill>
                  <a:schemeClr val="tx1"/>
                </a:solidFill>
                <a:effectLst/>
                <a:latin typeface="+mn-lt"/>
                <a:ea typeface="+mn-ea"/>
                <a:cs typeface="+mn-cs"/>
              </a:rPr>
              <a:t>두 번째 모델은 모델 기반 협업 필터링으로</a:t>
            </a:r>
            <a:r>
              <a:rPr lang="en-US" altLang="ko-KR" sz="1200" b="0" kern="1200" dirty="0">
                <a:solidFill>
                  <a:schemeClr val="tx1"/>
                </a:solidFill>
                <a:effectLst/>
                <a:latin typeface="+mn-lt"/>
                <a:ea typeface="+mn-ea"/>
                <a:cs typeface="+mn-cs"/>
              </a:rPr>
              <a:t>,</a:t>
            </a:r>
          </a:p>
          <a:p>
            <a:r>
              <a:rPr lang="ko-KR" altLang="en-US" sz="1200" b="0" kern="1200" dirty="0">
                <a:solidFill>
                  <a:schemeClr val="tx1"/>
                </a:solidFill>
                <a:effectLst/>
                <a:latin typeface="+mn-lt"/>
                <a:ea typeface="+mn-ea"/>
                <a:cs typeface="+mn-cs"/>
              </a:rPr>
              <a:t>그 중에서도 행렬 분해</a:t>
            </a:r>
            <a:r>
              <a:rPr lang="en-US" altLang="ko-KR" sz="1200" b="0" kern="1200" dirty="0">
                <a:solidFill>
                  <a:schemeClr val="tx1"/>
                </a:solidFill>
                <a:effectLst/>
                <a:latin typeface="+mn-lt"/>
                <a:ea typeface="+mn-ea"/>
                <a:cs typeface="+mn-cs"/>
              </a:rPr>
              <a:t>(</a:t>
            </a:r>
            <a:r>
              <a:rPr lang="en" altLang="ko-KR" sz="1200" b="0" kern="1200" dirty="0">
                <a:solidFill>
                  <a:schemeClr val="tx1"/>
                </a:solidFill>
                <a:effectLst/>
                <a:latin typeface="+mn-lt"/>
                <a:ea typeface="+mn-ea"/>
                <a:cs typeface="+mn-cs"/>
              </a:rPr>
              <a:t>Matrix Factorization) </a:t>
            </a:r>
            <a:r>
              <a:rPr lang="ko-KR" altLang="en-US" sz="1200" b="0" kern="1200" dirty="0">
                <a:solidFill>
                  <a:schemeClr val="tx1"/>
                </a:solidFill>
                <a:effectLst/>
                <a:latin typeface="+mn-lt"/>
                <a:ea typeface="+mn-ea"/>
                <a:cs typeface="+mn-cs"/>
              </a:rPr>
              <a:t>방식을 사용했습니다</a:t>
            </a:r>
            <a:r>
              <a:rPr lang="en-US" altLang="ko-KR" sz="1200" b="0" kern="1200" dirty="0">
                <a:solidFill>
                  <a:schemeClr val="tx1"/>
                </a:solidFill>
                <a:effectLst/>
                <a:latin typeface="+mn-lt"/>
                <a:ea typeface="+mn-ea"/>
                <a:cs typeface="+mn-cs"/>
              </a:rPr>
              <a:t>.</a:t>
            </a:r>
          </a:p>
          <a:p>
            <a:endParaRPr kumimoji="1" lang="en-US" altLang="ko-KR" b="0" dirty="0"/>
          </a:p>
          <a:p>
            <a:r>
              <a:rPr lang="ko-KR" altLang="en-US" sz="1200" b="0" kern="1200" dirty="0">
                <a:solidFill>
                  <a:schemeClr val="tx1"/>
                </a:solidFill>
                <a:effectLst/>
                <a:latin typeface="+mn-lt"/>
                <a:ea typeface="+mn-ea"/>
                <a:cs typeface="+mn-cs"/>
              </a:rPr>
              <a:t>메모리 기반이 ‘비슷한 영화</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사용자를 직접 찾아서 </a:t>
            </a:r>
            <a:r>
              <a:rPr lang="ko-KR" altLang="en-US" sz="1200" b="0" kern="1200" dirty="0" err="1">
                <a:solidFill>
                  <a:schemeClr val="tx1"/>
                </a:solidFill>
                <a:effectLst/>
                <a:latin typeface="+mn-lt"/>
                <a:ea typeface="+mn-ea"/>
                <a:cs typeface="+mn-cs"/>
              </a:rPr>
              <a:t>추천’했다면</a:t>
            </a:r>
            <a:r>
              <a:rPr lang="en-US" altLang="ko-KR" sz="1200" b="0" kern="1200" dirty="0">
                <a:solidFill>
                  <a:schemeClr val="tx1"/>
                </a:solidFill>
                <a:effectLst/>
                <a:latin typeface="+mn-lt"/>
                <a:ea typeface="+mn-ea"/>
                <a:cs typeface="+mn-cs"/>
              </a:rPr>
              <a:t>,</a:t>
            </a:r>
          </a:p>
          <a:p>
            <a:r>
              <a:rPr lang="ko-KR" altLang="en-US" sz="1200" b="0" kern="1200" dirty="0">
                <a:solidFill>
                  <a:schemeClr val="tx1"/>
                </a:solidFill>
                <a:effectLst/>
                <a:latin typeface="+mn-lt"/>
                <a:ea typeface="+mn-ea"/>
                <a:cs typeface="+mn-cs"/>
              </a:rPr>
              <a:t>행렬 분해는 사용자</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영화 평점 행렬을 두 개의 잠재 요인 행렬</a:t>
            </a:r>
            <a:r>
              <a:rPr lang="en-US" altLang="ko-KR" sz="1200" b="0" kern="1200" dirty="0">
                <a:solidFill>
                  <a:schemeClr val="tx1"/>
                </a:solidFill>
                <a:effectLst/>
                <a:latin typeface="+mn-lt"/>
                <a:ea typeface="+mn-ea"/>
                <a:cs typeface="+mn-cs"/>
              </a:rPr>
              <a:t>(latent</a:t>
            </a:r>
            <a:r>
              <a:rPr lang="ko-KR" altLang="en-US" sz="1200" b="0" kern="1200" dirty="0">
                <a:solidFill>
                  <a:schemeClr val="tx1"/>
                </a:solidFill>
                <a:effectLst/>
                <a:latin typeface="+mn-lt"/>
                <a:ea typeface="+mn-ea"/>
                <a:cs typeface="+mn-cs"/>
              </a:rPr>
              <a:t> </a:t>
            </a:r>
            <a:r>
              <a:rPr lang="en-US" altLang="ko-KR" sz="1200" b="0" kern="1200" dirty="0">
                <a:solidFill>
                  <a:schemeClr val="tx1"/>
                </a:solidFill>
                <a:effectLst/>
                <a:latin typeface="+mn-lt"/>
                <a:ea typeface="+mn-ea"/>
                <a:cs typeface="+mn-cs"/>
              </a:rPr>
              <a:t>factor</a:t>
            </a:r>
            <a:r>
              <a:rPr lang="ko-KR" altLang="en-US" sz="1200" b="0" kern="1200" dirty="0">
                <a:solidFill>
                  <a:schemeClr val="tx1"/>
                </a:solidFill>
                <a:effectLst/>
                <a:latin typeface="+mn-lt"/>
                <a:ea typeface="+mn-ea"/>
                <a:cs typeface="+mn-cs"/>
              </a:rPr>
              <a:t> </a:t>
            </a:r>
            <a:r>
              <a:rPr lang="en-US" altLang="ko-KR" sz="1200" b="0" kern="1200" dirty="0">
                <a:solidFill>
                  <a:schemeClr val="tx1"/>
                </a:solidFill>
                <a:effectLst/>
                <a:latin typeface="+mn-lt"/>
                <a:ea typeface="+mn-ea"/>
                <a:cs typeface="+mn-cs"/>
              </a:rPr>
              <a:t>matrix)</a:t>
            </a:r>
            <a:r>
              <a:rPr lang="ko-KR" altLang="en-US" sz="1200" b="0" kern="1200" dirty="0">
                <a:solidFill>
                  <a:schemeClr val="tx1"/>
                </a:solidFill>
                <a:effectLst/>
                <a:latin typeface="+mn-lt"/>
                <a:ea typeface="+mn-ea"/>
                <a:cs typeface="+mn-cs"/>
              </a:rPr>
              <a:t>로 분해해서</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각 사용자는 ‘취향 벡터’</a:t>
            </a:r>
            <a:r>
              <a:rPr lang="en-US"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각 영화는 ‘특성 </a:t>
            </a:r>
            <a:r>
              <a:rPr lang="ko-KR" altLang="en-US" sz="1200" b="0" kern="1200" dirty="0" err="1">
                <a:solidFill>
                  <a:schemeClr val="tx1"/>
                </a:solidFill>
                <a:effectLst/>
                <a:latin typeface="+mn-lt"/>
                <a:ea typeface="+mn-ea"/>
                <a:cs typeface="+mn-cs"/>
              </a:rPr>
              <a:t>벡터’로</a:t>
            </a:r>
            <a:r>
              <a:rPr lang="ko-KR" altLang="en-US" sz="1200" b="0" kern="1200" dirty="0">
                <a:solidFill>
                  <a:schemeClr val="tx1"/>
                </a:solidFill>
                <a:effectLst/>
                <a:latin typeface="+mn-lt"/>
                <a:ea typeface="+mn-ea"/>
                <a:cs typeface="+mn-cs"/>
              </a:rPr>
              <a:t> 표현하는 방식입니다</a:t>
            </a:r>
            <a:r>
              <a:rPr lang="en-US" altLang="ko-KR" sz="1200" b="0" kern="1200" dirty="0">
                <a:solidFill>
                  <a:schemeClr val="tx1"/>
                </a:solidFill>
                <a:effectLst/>
                <a:latin typeface="+mn-lt"/>
                <a:ea typeface="+mn-ea"/>
                <a:cs typeface="+mn-cs"/>
              </a:rPr>
              <a:t>.</a:t>
            </a:r>
          </a:p>
          <a:p>
            <a:endParaRPr kumimoji="1" lang="en-US" altLang="ko-KR" b="0"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kern="1200" dirty="0">
                <a:solidFill>
                  <a:schemeClr val="tx1"/>
                </a:solidFill>
                <a:effectLst/>
                <a:latin typeface="+mn-lt"/>
                <a:ea typeface="+mn-ea"/>
                <a:cs typeface="+mn-cs"/>
              </a:rPr>
              <a:t>구현에는 </a:t>
            </a:r>
            <a:r>
              <a:rPr lang="en" altLang="ko-KR" sz="1200" b="0" kern="1200" dirty="0" err="1">
                <a:solidFill>
                  <a:schemeClr val="tx1"/>
                </a:solidFill>
                <a:effectLst/>
                <a:latin typeface="+mn-lt"/>
                <a:ea typeface="+mn-ea"/>
                <a:cs typeface="+mn-cs"/>
              </a:rPr>
              <a:t>matrix_factorization</a:t>
            </a:r>
            <a:r>
              <a:rPr lang="en"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패키지의 </a:t>
            </a:r>
            <a:r>
              <a:rPr lang="en" altLang="ko-KR" sz="1200" b="0" kern="1200" dirty="0" err="1">
                <a:solidFill>
                  <a:schemeClr val="tx1"/>
                </a:solidFill>
                <a:effectLst/>
                <a:latin typeface="+mn-lt"/>
                <a:ea typeface="+mn-ea"/>
                <a:cs typeface="+mn-cs"/>
              </a:rPr>
              <a:t>KernelMF</a:t>
            </a:r>
            <a:r>
              <a:rPr lang="en"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클래스를 사용했습니다</a:t>
            </a:r>
            <a:r>
              <a:rPr lang="en-US" altLang="ko-KR" sz="1200" b="0" kern="1200" dirty="0">
                <a:solidFill>
                  <a:schemeClr val="tx1"/>
                </a:solidFill>
                <a:effectLst/>
                <a:latin typeface="+mn-lt"/>
                <a:ea typeface="+mn-ea"/>
                <a:cs typeface="+mn-cs"/>
              </a:rPr>
              <a:t>.</a:t>
            </a:r>
          </a:p>
          <a:p>
            <a:endParaRPr kumimoji="1" lang="ko-KR" altLang="en-US" b="0"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9</a:t>
            </a:fld>
            <a:endParaRPr lang="ko-KR" altLang="en-US"/>
          </a:p>
        </p:txBody>
      </p:sp>
    </p:spTree>
    <p:extLst>
      <p:ext uri="{BB962C8B-B14F-4D97-AF65-F5344CB8AC3E}">
        <p14:creationId xmlns:p14="http://schemas.microsoft.com/office/powerpoint/2010/main" val="2129966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kern="1200" dirty="0">
                <a:solidFill>
                  <a:schemeClr val="tx1"/>
                </a:solidFill>
                <a:effectLst/>
                <a:latin typeface="+mn-lt"/>
                <a:ea typeface="+mn-ea"/>
                <a:cs typeface="+mn-cs"/>
              </a:rPr>
              <a:t>이 화면은 행렬 분해 </a:t>
            </a:r>
            <a:r>
              <a:rPr lang="en-US" altLang="ko-KR" sz="1200" b="0" kern="1200" dirty="0">
                <a:solidFill>
                  <a:schemeClr val="tx1"/>
                </a:solidFill>
                <a:effectLst/>
                <a:latin typeface="+mn-lt"/>
                <a:ea typeface="+mn-ea"/>
                <a:cs typeface="+mn-cs"/>
              </a:rPr>
              <a:t>MF </a:t>
            </a:r>
            <a:r>
              <a:rPr lang="ko-KR" altLang="en-US" sz="1200" b="0" kern="1200" dirty="0">
                <a:solidFill>
                  <a:schemeClr val="tx1"/>
                </a:solidFill>
                <a:effectLst/>
                <a:latin typeface="+mn-lt"/>
                <a:ea typeface="+mn-ea"/>
                <a:cs typeface="+mn-cs"/>
              </a:rPr>
              <a:t>모델의 학습 로그입니다</a:t>
            </a:r>
            <a:r>
              <a:rPr lang="en-US" altLang="ko-KR" sz="1200" b="0" kern="1200" dirty="0">
                <a:solidFill>
                  <a:schemeClr val="tx1"/>
                </a:solidFill>
                <a:effectLst/>
                <a:latin typeface="+mn-lt"/>
                <a:ea typeface="+mn-ea"/>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b="0" kern="1200" dirty="0">
              <a:solidFill>
                <a:schemeClr val="tx1"/>
              </a:solidFill>
              <a:effectLst/>
              <a:latin typeface="+mn-lt"/>
              <a:ea typeface="+mn-ea"/>
              <a:cs typeface="+mn-cs"/>
            </a:endParaRPr>
          </a:p>
          <a:p>
            <a:r>
              <a:rPr lang="ko-KR" altLang="en-US" sz="1200" b="0" kern="1200" dirty="0">
                <a:solidFill>
                  <a:schemeClr val="tx1"/>
                </a:solidFill>
                <a:effectLst/>
                <a:latin typeface="+mn-lt"/>
                <a:ea typeface="+mn-ea"/>
                <a:cs typeface="+mn-cs"/>
              </a:rPr>
              <a:t>먼저 </a:t>
            </a:r>
            <a:r>
              <a:rPr lang="en" altLang="ko-KR" sz="1200" b="0" kern="1200" dirty="0" err="1">
                <a:solidFill>
                  <a:schemeClr val="tx1"/>
                </a:solidFill>
                <a:effectLst/>
                <a:latin typeface="+mn-lt"/>
                <a:ea typeface="+mn-ea"/>
                <a:cs typeface="+mn-cs"/>
              </a:rPr>
              <a:t>MovieLens</a:t>
            </a:r>
            <a:r>
              <a:rPr lang="en" altLang="ko-KR" sz="1200" b="0" kern="1200" dirty="0">
                <a:solidFill>
                  <a:schemeClr val="tx1"/>
                </a:solidFill>
                <a:effectLst/>
                <a:latin typeface="+mn-lt"/>
                <a:ea typeface="+mn-ea"/>
                <a:cs typeface="+mn-cs"/>
              </a:rPr>
              <a:t> 1M</a:t>
            </a:r>
            <a:r>
              <a:rPr lang="ko-KR" altLang="en-US" sz="1200" b="0" kern="1200" dirty="0">
                <a:solidFill>
                  <a:schemeClr val="tx1"/>
                </a:solidFill>
                <a:effectLst/>
                <a:latin typeface="+mn-lt"/>
                <a:ea typeface="+mn-ea"/>
                <a:cs typeface="+mn-cs"/>
              </a:rPr>
              <a:t>의</a:t>
            </a:r>
          </a:p>
          <a:p>
            <a:r>
              <a:rPr lang="ko-KR" altLang="en-US" sz="1200" b="0" kern="1200" dirty="0">
                <a:solidFill>
                  <a:schemeClr val="tx1"/>
                </a:solidFill>
                <a:effectLst/>
                <a:latin typeface="+mn-lt"/>
                <a:ea typeface="+mn-ea"/>
                <a:cs typeface="+mn-cs"/>
              </a:rPr>
              <a:t>평점 </a:t>
            </a:r>
            <a:r>
              <a:rPr lang="en-US" altLang="ko-KR" sz="1200" b="0" kern="1200" dirty="0">
                <a:solidFill>
                  <a:schemeClr val="tx1"/>
                </a:solidFill>
                <a:effectLst/>
                <a:latin typeface="+mn-lt"/>
                <a:ea typeface="+mn-ea"/>
                <a:cs typeface="+mn-cs"/>
              </a:rPr>
              <a:t>1,000,209</a:t>
            </a:r>
            <a:r>
              <a:rPr lang="ko-KR" altLang="en-US" sz="1200" b="0" kern="1200" dirty="0">
                <a:solidFill>
                  <a:schemeClr val="tx1"/>
                </a:solidFill>
                <a:effectLst/>
                <a:latin typeface="+mn-lt"/>
                <a:ea typeface="+mn-ea"/>
                <a:cs typeface="+mn-cs"/>
              </a:rPr>
              <a:t>개</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사용자 </a:t>
            </a:r>
            <a:r>
              <a:rPr lang="en-US" altLang="ko-KR" sz="1200" b="0" kern="1200" dirty="0">
                <a:solidFill>
                  <a:schemeClr val="tx1"/>
                </a:solidFill>
                <a:effectLst/>
                <a:latin typeface="+mn-lt"/>
                <a:ea typeface="+mn-ea"/>
                <a:cs typeface="+mn-cs"/>
              </a:rPr>
              <a:t>6,040</a:t>
            </a:r>
            <a:r>
              <a:rPr lang="ko-KR" altLang="en-US" sz="1200" b="0" kern="1200" dirty="0">
                <a:solidFill>
                  <a:schemeClr val="tx1"/>
                </a:solidFill>
                <a:effectLst/>
                <a:latin typeface="+mn-lt"/>
                <a:ea typeface="+mn-ea"/>
                <a:cs typeface="+mn-cs"/>
              </a:rPr>
              <a:t>명</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영화 약 </a:t>
            </a:r>
            <a:r>
              <a:rPr lang="en-US" altLang="ko-KR" sz="1200" b="0" kern="1200" dirty="0">
                <a:solidFill>
                  <a:schemeClr val="tx1"/>
                </a:solidFill>
                <a:effectLst/>
                <a:latin typeface="+mn-lt"/>
                <a:ea typeface="+mn-ea"/>
                <a:cs typeface="+mn-cs"/>
              </a:rPr>
              <a:t>3,700</a:t>
            </a:r>
            <a:r>
              <a:rPr lang="ko-KR" altLang="en-US" sz="1200" b="0" kern="1200" dirty="0">
                <a:solidFill>
                  <a:schemeClr val="tx1"/>
                </a:solidFill>
                <a:effectLst/>
                <a:latin typeface="+mn-lt"/>
                <a:ea typeface="+mn-ea"/>
                <a:cs typeface="+mn-cs"/>
              </a:rPr>
              <a:t>편을 사용해서 학습을 진행했고</a:t>
            </a:r>
            <a:r>
              <a:rPr lang="en-US" altLang="ko-KR" sz="1200" b="0" kern="1200" dirty="0">
                <a:solidFill>
                  <a:schemeClr val="tx1"/>
                </a:solidFill>
                <a:effectLst/>
                <a:latin typeface="+mn-lt"/>
                <a:ea typeface="+mn-ea"/>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b="0" kern="1200" dirty="0">
              <a:solidFill>
                <a:schemeClr val="tx1"/>
              </a:solidFill>
              <a:effectLst/>
              <a:latin typeface="+mn-lt"/>
              <a:ea typeface="+mn-ea"/>
              <a:cs typeface="+mn-cs"/>
            </a:endParaRPr>
          </a:p>
          <a:p>
            <a:r>
              <a:rPr lang="ko-KR" altLang="en-US" sz="1200" b="0" kern="1200" dirty="0" err="1">
                <a:solidFill>
                  <a:schemeClr val="tx1"/>
                </a:solidFill>
                <a:effectLst/>
                <a:latin typeface="+mn-lt"/>
                <a:ea typeface="+mn-ea"/>
                <a:cs typeface="+mn-cs"/>
              </a:rPr>
              <a:t>에포크가</a:t>
            </a:r>
            <a:r>
              <a:rPr lang="ko-KR" altLang="en-US" sz="1200" b="0" kern="1200" dirty="0">
                <a:solidFill>
                  <a:schemeClr val="tx1"/>
                </a:solidFill>
                <a:effectLst/>
                <a:latin typeface="+mn-lt"/>
                <a:ea typeface="+mn-ea"/>
                <a:cs typeface="+mn-cs"/>
              </a:rPr>
              <a:t> 진행될수록 </a:t>
            </a:r>
            <a:r>
              <a:rPr lang="en" altLang="ko-KR" sz="1200" b="0" kern="1200" dirty="0">
                <a:solidFill>
                  <a:schemeClr val="tx1"/>
                </a:solidFill>
                <a:effectLst/>
                <a:latin typeface="+mn-lt"/>
                <a:ea typeface="+mn-ea"/>
                <a:cs typeface="+mn-cs"/>
              </a:rPr>
              <a:t>RMSE</a:t>
            </a:r>
            <a:r>
              <a:rPr lang="ko-KR" altLang="en-US" sz="1200" b="0" kern="1200" dirty="0">
                <a:solidFill>
                  <a:schemeClr val="tx1"/>
                </a:solidFill>
                <a:effectLst/>
                <a:latin typeface="+mn-lt"/>
                <a:ea typeface="+mn-ea"/>
                <a:cs typeface="+mn-cs"/>
              </a:rPr>
              <a:t>가</a:t>
            </a:r>
          </a:p>
          <a:p>
            <a:r>
              <a:rPr lang="ko-KR" altLang="en-US" sz="1200" b="0" kern="1200" dirty="0">
                <a:solidFill>
                  <a:schemeClr val="tx1"/>
                </a:solidFill>
                <a:effectLst/>
                <a:latin typeface="+mn-lt"/>
                <a:ea typeface="+mn-ea"/>
                <a:cs typeface="+mn-cs"/>
              </a:rPr>
              <a:t>약 </a:t>
            </a:r>
            <a:r>
              <a:rPr lang="en-US" altLang="ko-KR" sz="1200" b="0" kern="1200" dirty="0">
                <a:solidFill>
                  <a:schemeClr val="tx1"/>
                </a:solidFill>
                <a:effectLst/>
                <a:latin typeface="+mn-lt"/>
                <a:ea typeface="+mn-ea"/>
                <a:cs typeface="+mn-cs"/>
              </a:rPr>
              <a:t>0.92</a:t>
            </a:r>
            <a:r>
              <a:rPr lang="ko-KR" altLang="en-US" sz="1200" b="0" kern="1200" dirty="0">
                <a:solidFill>
                  <a:schemeClr val="tx1"/>
                </a:solidFill>
                <a:effectLst/>
                <a:latin typeface="+mn-lt"/>
                <a:ea typeface="+mn-ea"/>
                <a:cs typeface="+mn-cs"/>
              </a:rPr>
              <a:t>에서 </a:t>
            </a:r>
            <a:r>
              <a:rPr lang="en-US" altLang="ko-KR" sz="1200" b="0" kern="1200" dirty="0">
                <a:solidFill>
                  <a:schemeClr val="tx1"/>
                </a:solidFill>
                <a:effectLst/>
                <a:latin typeface="+mn-lt"/>
                <a:ea typeface="+mn-ea"/>
                <a:cs typeface="+mn-cs"/>
              </a:rPr>
              <a:t>0.79 </a:t>
            </a:r>
            <a:r>
              <a:rPr lang="ko-KR" altLang="en-US" sz="1200" b="0" kern="1200" dirty="0">
                <a:solidFill>
                  <a:schemeClr val="tx1"/>
                </a:solidFill>
                <a:effectLst/>
                <a:latin typeface="+mn-lt"/>
                <a:ea typeface="+mn-ea"/>
                <a:cs typeface="+mn-cs"/>
              </a:rPr>
              <a:t>수준까지 감소하는 것을 확인할 수 있습니다</a:t>
            </a:r>
            <a:r>
              <a:rPr lang="en-US" altLang="ko-KR" sz="1200" b="0" kern="1200" dirty="0">
                <a:solidFill>
                  <a:schemeClr val="tx1"/>
                </a:solidFill>
                <a:effectLst/>
                <a:latin typeface="+mn-lt"/>
                <a:ea typeface="+mn-ea"/>
                <a:cs typeface="+mn-cs"/>
              </a:rPr>
              <a:t>.</a:t>
            </a:r>
          </a:p>
          <a:p>
            <a:r>
              <a:rPr lang="ko-KR" altLang="en-US" sz="1200" b="0" kern="1200" dirty="0">
                <a:solidFill>
                  <a:schemeClr val="tx1"/>
                </a:solidFill>
                <a:effectLst/>
                <a:latin typeface="+mn-lt"/>
                <a:ea typeface="+mn-ea"/>
                <a:cs typeface="+mn-cs"/>
              </a:rPr>
              <a:t>즉</a:t>
            </a:r>
            <a:r>
              <a:rPr lang="en-US"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모델이 점점 실제 평점에 더 근접하게 예측하게 된다는 뜻입니다</a:t>
            </a:r>
            <a:r>
              <a:rPr lang="en-US" altLang="ko-KR" sz="1200" b="0" kern="1200" dirty="0">
                <a:solidFill>
                  <a:schemeClr val="tx1"/>
                </a:solidFill>
                <a:effectLst/>
                <a:latin typeface="+mn-lt"/>
                <a:ea typeface="+mn-ea"/>
                <a:cs typeface="+mn-cs"/>
              </a:rPr>
              <a:t>.</a:t>
            </a:r>
          </a:p>
          <a:p>
            <a:endParaRPr kumimoji="1" lang="en-US" altLang="ko-KR" b="0" dirty="0"/>
          </a:p>
          <a:p>
            <a:r>
              <a:rPr lang="ko-KR" altLang="en-US" sz="1200" b="0" kern="1200" dirty="0">
                <a:solidFill>
                  <a:schemeClr val="tx1"/>
                </a:solidFill>
                <a:effectLst/>
                <a:latin typeface="+mn-lt"/>
                <a:ea typeface="+mn-ea"/>
                <a:cs typeface="+mn-cs"/>
              </a:rPr>
              <a:t>학습이 끝난 뒤에는 전체 사용자에 대해 </a:t>
            </a:r>
            <a:r>
              <a:rPr lang="en" altLang="ko-KR" sz="1200" b="0" kern="1200" dirty="0">
                <a:solidFill>
                  <a:schemeClr val="tx1"/>
                </a:solidFill>
                <a:effectLst/>
                <a:latin typeface="+mn-lt"/>
                <a:ea typeface="+mn-ea"/>
                <a:cs typeface="+mn-cs"/>
              </a:rPr>
              <a:t>Top-5 </a:t>
            </a:r>
            <a:r>
              <a:rPr lang="ko-KR" altLang="en-US" sz="1200" b="0" kern="1200" dirty="0">
                <a:solidFill>
                  <a:schemeClr val="tx1"/>
                </a:solidFill>
                <a:effectLst/>
                <a:latin typeface="+mn-lt"/>
                <a:ea typeface="+mn-ea"/>
                <a:cs typeface="+mn-cs"/>
              </a:rPr>
              <a:t>추천 영화를 생성해서 </a:t>
            </a:r>
            <a:r>
              <a:rPr lang="en" altLang="ko-KR" sz="1200" b="0" kern="1200" dirty="0">
                <a:solidFill>
                  <a:schemeClr val="tx1"/>
                </a:solidFill>
                <a:effectLst/>
                <a:latin typeface="+mn-lt"/>
                <a:ea typeface="+mn-ea"/>
                <a:cs typeface="+mn-cs"/>
              </a:rPr>
              <a:t>CSV </a:t>
            </a:r>
            <a:r>
              <a:rPr lang="ko-KR" altLang="en-US" sz="1200" b="0" kern="1200" dirty="0">
                <a:solidFill>
                  <a:schemeClr val="tx1"/>
                </a:solidFill>
                <a:effectLst/>
                <a:latin typeface="+mn-lt"/>
                <a:ea typeface="+mn-ea"/>
                <a:cs typeface="+mn-cs"/>
              </a:rPr>
              <a:t>파일로 저장했고</a:t>
            </a:r>
            <a:r>
              <a:rPr lang="en-US"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이 결과를 메모리 기반 모델과 성능</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결과를 비교하는 데 사용했습니다</a:t>
            </a:r>
            <a:r>
              <a:rPr lang="en-US" altLang="ko-KR" sz="1200" b="0" kern="1200" dirty="0">
                <a:solidFill>
                  <a:schemeClr val="tx1"/>
                </a:solidFill>
                <a:effectLst/>
                <a:latin typeface="+mn-lt"/>
                <a:ea typeface="+mn-ea"/>
                <a:cs typeface="+mn-cs"/>
              </a:rPr>
              <a:t>.</a:t>
            </a:r>
          </a:p>
          <a:p>
            <a:endParaRPr kumimoji="1" lang="ko-KR" altLang="en-US" b="0"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10</a:t>
            </a:fld>
            <a:endParaRPr lang="ko-KR" altLang="en-US"/>
          </a:p>
        </p:txBody>
      </p:sp>
    </p:spTree>
    <p:extLst>
      <p:ext uri="{BB962C8B-B14F-4D97-AF65-F5344CB8AC3E}">
        <p14:creationId xmlns:p14="http://schemas.microsoft.com/office/powerpoint/2010/main" val="54935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마지막으로</a:t>
            </a:r>
            <a:r>
              <a:rPr lang="en-US" altLang="ko-KR" b="0" dirty="0"/>
              <a:t>,</a:t>
            </a:r>
            <a:r>
              <a:rPr lang="ko-KR" altLang="en-US" b="0" dirty="0"/>
              <a:t> 모델 평가 및 분석 파트입니다</a:t>
            </a:r>
            <a:r>
              <a:rPr lang="en-US" altLang="ko-KR" b="0" dirty="0"/>
              <a:t>.</a:t>
            </a:r>
            <a:r>
              <a:rPr lang="ko-KR" altLang="en-US" b="0" dirty="0"/>
              <a:t> </a:t>
            </a:r>
            <a:r>
              <a:rPr lang="ko-KR" altLang="en-US" sz="1200" b="0" kern="1200" dirty="0">
                <a:solidFill>
                  <a:schemeClr val="tx1"/>
                </a:solidFill>
                <a:effectLst/>
                <a:latin typeface="+mn-lt"/>
                <a:ea typeface="+mn-ea"/>
                <a:cs typeface="+mn-cs"/>
              </a:rPr>
              <a:t>이제부터는 두 모델을 어떻게 평가했는지 </a:t>
            </a:r>
            <a:r>
              <a:rPr lang="ko-KR" altLang="en-US" sz="1200" b="0" kern="1200" dirty="0" err="1">
                <a:solidFill>
                  <a:schemeClr val="tx1"/>
                </a:solidFill>
                <a:effectLst/>
                <a:latin typeface="+mn-lt"/>
                <a:ea typeface="+mn-ea"/>
                <a:cs typeface="+mn-cs"/>
              </a:rPr>
              <a:t>설명드리겠습니다</a:t>
            </a:r>
            <a:r>
              <a:rPr lang="en-US" altLang="ko-KR" sz="1200" b="0" kern="1200" dirty="0">
                <a:solidFill>
                  <a:schemeClr val="tx1"/>
                </a:solidFill>
                <a:effectLst/>
                <a:latin typeface="+mn-lt"/>
                <a:ea typeface="+mn-ea"/>
                <a:cs typeface="+mn-cs"/>
              </a:rPr>
              <a:t>.</a:t>
            </a:r>
          </a:p>
          <a:p>
            <a:endParaRPr lang="en-US" altLang="ko-KR" b="0" dirty="0"/>
          </a:p>
          <a:p>
            <a:r>
              <a:rPr lang="ko-KR" altLang="en-US" b="0" dirty="0"/>
              <a:t>추천 시스템 성능 평가 방법에는 크게 평점 기반 평가 방법이 있고 순위 목록 기반 평가 방법이 있습니다</a:t>
            </a:r>
            <a:r>
              <a:rPr lang="en-US" altLang="ko-KR" b="0" dirty="0"/>
              <a:t>.</a:t>
            </a:r>
            <a:br>
              <a:rPr lang="en-US" altLang="ko-KR" b="0" dirty="0"/>
            </a:br>
            <a:endParaRPr lang="en-US" altLang="ko-KR" b="0" dirty="0"/>
          </a:p>
          <a:p>
            <a:r>
              <a:rPr lang="ko-KR" altLang="en-US" b="0" dirty="0"/>
              <a:t>평점 기반 평가 방법 중 대표적으로 사용되는 평균 제곱근 오차</a:t>
            </a:r>
            <a:r>
              <a:rPr lang="en-US" altLang="ko-KR" b="0" dirty="0"/>
              <a:t>(RMSE, root mean squared error), </a:t>
            </a:r>
            <a:r>
              <a:rPr lang="ko-KR" altLang="en-US" b="0" dirty="0"/>
              <a:t>평균 절대 오차</a:t>
            </a:r>
            <a:r>
              <a:rPr lang="en-US" altLang="ko-KR" b="0" dirty="0"/>
              <a:t>(MAE, mean absolute error)</a:t>
            </a:r>
            <a:r>
              <a:rPr lang="ko-KR" altLang="en-US" b="0" dirty="0"/>
              <a:t>와 순위 목록 기반 평가 방법 중 </a:t>
            </a:r>
            <a:r>
              <a:rPr lang="en-US" altLang="ko-KR" b="0" dirty="0" err="1"/>
              <a:t>nDCG@k</a:t>
            </a:r>
            <a:r>
              <a:rPr lang="ko-KR" altLang="en-US" b="0" dirty="0"/>
              <a:t>로 평가를 진행했습니다</a:t>
            </a:r>
            <a:r>
              <a:rPr lang="en-US" altLang="ko-KR" b="0" dirty="0"/>
              <a:t>.</a:t>
            </a:r>
            <a:br>
              <a:rPr lang="en-US" altLang="ko-KR" b="0" dirty="0"/>
            </a:br>
            <a:br>
              <a:rPr lang="en-US" altLang="ko-KR" b="0" dirty="0"/>
            </a:br>
            <a:r>
              <a:rPr lang="ko-KR" altLang="en-US" sz="1200" b="0" kern="1200" dirty="0">
                <a:solidFill>
                  <a:schemeClr val="tx1"/>
                </a:solidFill>
                <a:effectLst/>
                <a:latin typeface="+mn-lt"/>
                <a:ea typeface="+mn-ea"/>
                <a:cs typeface="+mn-cs"/>
              </a:rPr>
              <a:t>쉽게 말해</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‘숫자 평점을 얼마나 정확하게 </a:t>
            </a:r>
            <a:r>
              <a:rPr lang="ko-KR" altLang="en-US" sz="1200" b="0" kern="1200" dirty="0" err="1">
                <a:solidFill>
                  <a:schemeClr val="tx1"/>
                </a:solidFill>
                <a:effectLst/>
                <a:latin typeface="+mn-lt"/>
                <a:ea typeface="+mn-ea"/>
                <a:cs typeface="+mn-cs"/>
              </a:rPr>
              <a:t>맞추는지’를</a:t>
            </a:r>
            <a:r>
              <a:rPr lang="ko-KR" altLang="en-US" sz="1200" b="0" kern="1200" dirty="0">
                <a:solidFill>
                  <a:schemeClr val="tx1"/>
                </a:solidFill>
                <a:effectLst/>
                <a:latin typeface="+mn-lt"/>
                <a:ea typeface="+mn-ea"/>
                <a:cs typeface="+mn-cs"/>
              </a:rPr>
              <a:t> 보는</a:t>
            </a:r>
          </a:p>
          <a:p>
            <a:r>
              <a:rPr lang="en" altLang="ko-KR" sz="1200" b="0" kern="1200" dirty="0">
                <a:solidFill>
                  <a:schemeClr val="tx1"/>
                </a:solidFill>
                <a:effectLst/>
                <a:latin typeface="+mn-lt"/>
                <a:ea typeface="+mn-ea"/>
                <a:cs typeface="+mn-cs"/>
              </a:rPr>
              <a:t>Rating-based </a:t>
            </a:r>
            <a:r>
              <a:rPr lang="ko-KR" altLang="en-US" sz="1200" b="0" kern="1200" dirty="0">
                <a:solidFill>
                  <a:schemeClr val="tx1"/>
                </a:solidFill>
                <a:effectLst/>
                <a:latin typeface="+mn-lt"/>
                <a:ea typeface="+mn-ea"/>
                <a:cs typeface="+mn-cs"/>
              </a:rPr>
              <a:t>지표이고</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‘추천 목록의 순서가 얼마나 </a:t>
            </a:r>
            <a:r>
              <a:rPr lang="ko-KR" altLang="en-US" sz="1200" b="0" kern="1200" dirty="0" err="1">
                <a:solidFill>
                  <a:schemeClr val="tx1"/>
                </a:solidFill>
                <a:effectLst/>
                <a:latin typeface="+mn-lt"/>
                <a:ea typeface="+mn-ea"/>
                <a:cs typeface="+mn-cs"/>
              </a:rPr>
              <a:t>좋은지’를</a:t>
            </a:r>
            <a:r>
              <a:rPr lang="ko-KR" altLang="en-US" sz="1200" b="0" kern="1200" dirty="0">
                <a:solidFill>
                  <a:schemeClr val="tx1"/>
                </a:solidFill>
                <a:effectLst/>
                <a:latin typeface="+mn-lt"/>
                <a:ea typeface="+mn-ea"/>
                <a:cs typeface="+mn-cs"/>
              </a:rPr>
              <a:t> 보는 </a:t>
            </a:r>
            <a:r>
              <a:rPr lang="en" altLang="ko-KR" sz="1200" b="0" kern="1200" dirty="0">
                <a:solidFill>
                  <a:schemeClr val="tx1"/>
                </a:solidFill>
                <a:effectLst/>
                <a:latin typeface="+mn-lt"/>
                <a:ea typeface="+mn-ea"/>
                <a:cs typeface="+mn-cs"/>
              </a:rPr>
              <a:t>Ranking-based </a:t>
            </a:r>
            <a:r>
              <a:rPr lang="ko-KR" altLang="en-US" sz="1200" b="0" kern="1200" dirty="0">
                <a:solidFill>
                  <a:schemeClr val="tx1"/>
                </a:solidFill>
                <a:effectLst/>
                <a:latin typeface="+mn-lt"/>
                <a:ea typeface="+mn-ea"/>
                <a:cs typeface="+mn-cs"/>
              </a:rPr>
              <a:t>지표를 </a:t>
            </a:r>
            <a:r>
              <a:rPr lang="ko-KR" altLang="en-US" sz="1200" b="0" kern="1200" dirty="0" err="1">
                <a:solidFill>
                  <a:schemeClr val="tx1"/>
                </a:solidFill>
                <a:effectLst/>
                <a:latin typeface="+mn-lt"/>
                <a:ea typeface="+mn-ea"/>
                <a:cs typeface="+mn-cs"/>
              </a:rPr>
              <a:t>활용하였습니ㅏㄷ</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a:t>
            </a:r>
            <a:endParaRPr lang="en-US" altLang="ko-KR" sz="1200" b="0" kern="1200" dirty="0">
              <a:solidFill>
                <a:schemeClr val="tx1"/>
              </a:solidFill>
              <a:effectLst/>
              <a:latin typeface="+mn-lt"/>
              <a:ea typeface="+mn-ea"/>
              <a:cs typeface="+mn-cs"/>
            </a:endParaRPr>
          </a:p>
          <a:p>
            <a:endParaRPr lang="en-US" altLang="ko-KR" b="0" dirty="0"/>
          </a:p>
          <a:p>
            <a:r>
              <a:rPr lang="ko-KR" altLang="en-US" b="0" dirty="0"/>
              <a:t>결론적으로</a:t>
            </a:r>
            <a:r>
              <a:rPr lang="en-US" altLang="ko-KR" b="0" dirty="0"/>
              <a:t>,</a:t>
            </a:r>
            <a:r>
              <a:rPr lang="ko-KR" altLang="en-US" b="0" dirty="0"/>
              <a:t> </a:t>
            </a:r>
            <a:r>
              <a:rPr lang="en-US" altLang="ko-KR" b="0" dirty="0"/>
              <a:t>RMSE, MAE</a:t>
            </a:r>
            <a:r>
              <a:rPr lang="ko-KR" altLang="en-US" b="0" dirty="0"/>
              <a:t>는 낮을 수록 좋고 </a:t>
            </a:r>
            <a:r>
              <a:rPr lang="en-US" altLang="ko-KR" b="0" dirty="0" err="1"/>
              <a:t>nDCG</a:t>
            </a:r>
            <a:r>
              <a:rPr lang="ko-KR" altLang="en-US" b="0" dirty="0"/>
              <a:t>는 높을 수록 좋으며</a:t>
            </a:r>
            <a:r>
              <a:rPr lang="en-US" altLang="ko-KR" b="0" dirty="0"/>
              <a:t>, </a:t>
            </a:r>
            <a:r>
              <a:rPr lang="en-US" altLang="ko-KR" b="0" dirty="0" err="1"/>
              <a:t>nDCG</a:t>
            </a:r>
            <a:r>
              <a:rPr lang="ko-KR" altLang="en-US" b="0" dirty="0"/>
              <a:t>는 </a:t>
            </a:r>
            <a:r>
              <a:rPr lang="en-US" altLang="ko-KR" b="0" dirty="0"/>
              <a:t>0</a:t>
            </a:r>
            <a:r>
              <a:rPr lang="ko-KR" altLang="en-US" b="0" dirty="0"/>
              <a:t>에서 </a:t>
            </a:r>
            <a:r>
              <a:rPr lang="en-US" altLang="ko-KR" b="0" dirty="0"/>
              <a:t>1 </a:t>
            </a:r>
            <a:r>
              <a:rPr lang="ko-KR" altLang="en-US" b="0" dirty="0"/>
              <a:t>사이 값을 갖습니다</a:t>
            </a:r>
            <a:r>
              <a:rPr lang="en-US" altLang="ko-KR" b="0" dirty="0"/>
              <a:t>.</a:t>
            </a:r>
            <a:endParaRPr lang="ko-KR" altLang="en-US" b="0"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11</a:t>
            </a:fld>
            <a:endParaRPr lang="ko-KR" altLang="en-US"/>
          </a:p>
        </p:txBody>
      </p:sp>
    </p:spTree>
    <p:extLst>
      <p:ext uri="{BB962C8B-B14F-4D97-AF65-F5344CB8AC3E}">
        <p14:creationId xmlns:p14="http://schemas.microsoft.com/office/powerpoint/2010/main" val="131192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해당 표는 방금 말씀 드린 지표로</a:t>
            </a:r>
            <a:r>
              <a:rPr lang="en-US" altLang="ko-KR" dirty="0"/>
              <a:t>,</a:t>
            </a:r>
            <a:r>
              <a:rPr lang="ko-KR" altLang="en-US" dirty="0"/>
              <a:t> </a:t>
            </a:r>
            <a:r>
              <a:rPr lang="ko-KR" altLang="en-US" sz="1200" kern="1200" dirty="0">
                <a:solidFill>
                  <a:schemeClr val="tx1"/>
                </a:solidFill>
                <a:effectLst/>
                <a:latin typeface="+mn-lt"/>
                <a:ea typeface="+mn-ea"/>
                <a:cs typeface="+mn-cs"/>
              </a:rPr>
              <a:t>메모리 기반</a:t>
            </a:r>
            <a:r>
              <a:rPr lang="en-US" altLang="ko-KR" sz="1200" kern="1200" dirty="0">
                <a:solidFill>
                  <a:schemeClr val="tx1"/>
                </a:solidFill>
                <a:effectLst/>
                <a:latin typeface="+mn-lt"/>
                <a:ea typeface="+mn-ea"/>
                <a:cs typeface="+mn-cs"/>
              </a:rPr>
              <a:t>(</a:t>
            </a:r>
            <a:r>
              <a:rPr lang="en" altLang="ko-KR" sz="1200" kern="1200" dirty="0">
                <a:solidFill>
                  <a:schemeClr val="tx1"/>
                </a:solidFill>
                <a:effectLst/>
                <a:latin typeface="+mn-lt"/>
                <a:ea typeface="+mn-ea"/>
                <a:cs typeface="+mn-cs"/>
              </a:rPr>
              <a:t>KNN)</a:t>
            </a:r>
            <a:r>
              <a:rPr lang="ko-KR" altLang="en-US" sz="1200" kern="1200" dirty="0">
                <a:solidFill>
                  <a:schemeClr val="tx1"/>
                </a:solidFill>
                <a:effectLst/>
                <a:latin typeface="+mn-lt"/>
                <a:ea typeface="+mn-ea"/>
                <a:cs typeface="+mn-cs"/>
              </a:rPr>
              <a:t>과 모델 기반</a:t>
            </a:r>
            <a:r>
              <a:rPr lang="en-US" altLang="ko-KR" sz="1200" kern="1200" dirty="0">
                <a:solidFill>
                  <a:schemeClr val="tx1"/>
                </a:solidFill>
                <a:effectLst/>
                <a:latin typeface="+mn-lt"/>
                <a:ea typeface="+mn-ea"/>
                <a:cs typeface="+mn-cs"/>
              </a:rPr>
              <a:t>(</a:t>
            </a:r>
            <a:r>
              <a:rPr lang="en" altLang="ko-KR" sz="1200" kern="1200" dirty="0" err="1">
                <a:solidFill>
                  <a:schemeClr val="tx1"/>
                </a:solidFill>
                <a:effectLst/>
                <a:latin typeface="+mn-lt"/>
                <a:ea typeface="+mn-ea"/>
                <a:cs typeface="+mn-cs"/>
              </a:rPr>
              <a:t>KernelMF</a:t>
            </a:r>
            <a:r>
              <a:rPr lang="en"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을 비교한 결과입니다</a:t>
            </a:r>
            <a:r>
              <a:rPr lang="en-US" altLang="ko-KR" sz="1200" kern="1200" dirty="0">
                <a:solidFill>
                  <a:schemeClr val="tx1"/>
                </a:solidFill>
                <a:effectLst/>
                <a:latin typeface="+mn-lt"/>
                <a:ea typeface="+mn-ea"/>
                <a:cs typeface="+mn-cs"/>
              </a:rPr>
              <a:t>.</a:t>
            </a:r>
            <a:r>
              <a:rPr lang="ko-KR" altLang="en-US" sz="1200" kern="1200" dirty="0">
                <a:solidFill>
                  <a:schemeClr val="tx1"/>
                </a:solidFill>
                <a:effectLst/>
                <a:latin typeface="+mn-lt"/>
                <a:ea typeface="+mn-ea"/>
                <a:cs typeface="+mn-cs"/>
              </a:rPr>
              <a:t> </a:t>
            </a:r>
            <a:endParaRPr lang="en-US" altLang="ko-KR"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kern="1200" dirty="0">
              <a:solidFill>
                <a:schemeClr val="tx1"/>
              </a:solidFill>
              <a:effectLst/>
              <a:latin typeface="+mn-lt"/>
              <a:ea typeface="+mn-ea"/>
              <a:cs typeface="+mn-cs"/>
            </a:endParaRPr>
          </a:p>
          <a:p>
            <a:r>
              <a:rPr lang="en" altLang="ko-KR" sz="1200" b="0" kern="1200" dirty="0">
                <a:solidFill>
                  <a:schemeClr val="tx1"/>
                </a:solidFill>
                <a:effectLst/>
                <a:latin typeface="+mn-lt"/>
                <a:ea typeface="+mn-ea"/>
                <a:cs typeface="+mn-cs"/>
              </a:rPr>
              <a:t>RMSE, MAE</a:t>
            </a:r>
            <a:r>
              <a:rPr lang="ko-KR" altLang="en-US" sz="1200" b="0" kern="1200" dirty="0" err="1">
                <a:solidFill>
                  <a:schemeClr val="tx1"/>
                </a:solidFill>
                <a:effectLst/>
                <a:latin typeface="+mn-lt"/>
                <a:ea typeface="+mn-ea"/>
                <a:cs typeface="+mn-cs"/>
              </a:rPr>
              <a:t>를</a:t>
            </a:r>
            <a:r>
              <a:rPr lang="ko-KR" altLang="en-US" sz="1200" b="0" kern="1200" dirty="0">
                <a:solidFill>
                  <a:schemeClr val="tx1"/>
                </a:solidFill>
                <a:effectLst/>
                <a:latin typeface="+mn-lt"/>
                <a:ea typeface="+mn-ea"/>
                <a:cs typeface="+mn-cs"/>
              </a:rPr>
              <a:t> 보면</a:t>
            </a:r>
          </a:p>
          <a:p>
            <a:r>
              <a:rPr lang="ko-KR" altLang="en-US" sz="1200" b="0" kern="1200" dirty="0">
                <a:solidFill>
                  <a:schemeClr val="tx1"/>
                </a:solidFill>
                <a:effectLst/>
                <a:latin typeface="+mn-lt"/>
                <a:ea typeface="+mn-ea"/>
                <a:cs typeface="+mn-cs"/>
              </a:rPr>
              <a:t>메모리 기반 </a:t>
            </a:r>
            <a:r>
              <a:rPr lang="en" altLang="ko-KR" sz="1200" b="0" kern="1200" dirty="0">
                <a:solidFill>
                  <a:schemeClr val="tx1"/>
                </a:solidFill>
                <a:effectLst/>
                <a:latin typeface="+mn-lt"/>
                <a:ea typeface="+mn-ea"/>
                <a:cs typeface="+mn-cs"/>
              </a:rPr>
              <a:t>KNN</a:t>
            </a:r>
            <a:r>
              <a:rPr lang="ko-KR" altLang="en-US" sz="1200" b="0" kern="1200" dirty="0">
                <a:solidFill>
                  <a:schemeClr val="tx1"/>
                </a:solidFill>
                <a:effectLst/>
                <a:latin typeface="+mn-lt"/>
                <a:ea typeface="+mn-ea"/>
                <a:cs typeface="+mn-cs"/>
              </a:rPr>
              <a:t>이 모델 기반보다 오차가 더 작습니다</a:t>
            </a:r>
            <a:r>
              <a:rPr lang="en-US" altLang="ko-KR" sz="1200" b="0" kern="1200" dirty="0">
                <a:solidFill>
                  <a:schemeClr val="tx1"/>
                </a:solidFill>
                <a:effectLst/>
                <a:latin typeface="+mn-lt"/>
                <a:ea typeface="+mn-ea"/>
                <a:cs typeface="+mn-cs"/>
              </a:rPr>
              <a:t>.</a:t>
            </a:r>
          </a:p>
          <a:p>
            <a:r>
              <a:rPr lang="ko-KR" altLang="en-US" sz="1200" b="0" kern="1200" dirty="0">
                <a:solidFill>
                  <a:schemeClr val="tx1"/>
                </a:solidFill>
                <a:effectLst/>
                <a:latin typeface="+mn-lt"/>
                <a:ea typeface="+mn-ea"/>
                <a:cs typeface="+mn-cs"/>
              </a:rPr>
              <a:t>즉</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숫자 평점을 더 정확하게 맞추는 쪽은 </a:t>
            </a:r>
            <a:r>
              <a:rPr lang="en" altLang="ko-KR" sz="1200" b="0" kern="1200" dirty="0">
                <a:solidFill>
                  <a:schemeClr val="tx1"/>
                </a:solidFill>
                <a:effectLst/>
                <a:latin typeface="+mn-lt"/>
                <a:ea typeface="+mn-ea"/>
                <a:cs typeface="+mn-cs"/>
              </a:rPr>
              <a:t>KNN</a:t>
            </a:r>
            <a:r>
              <a:rPr lang="ko-KR" altLang="en-US" sz="1200" b="0" kern="1200" dirty="0">
                <a:solidFill>
                  <a:schemeClr val="tx1"/>
                </a:solidFill>
                <a:effectLst/>
                <a:latin typeface="+mn-lt"/>
                <a:ea typeface="+mn-ea"/>
                <a:cs typeface="+mn-cs"/>
              </a:rPr>
              <a:t>이었습니다</a:t>
            </a:r>
            <a:r>
              <a:rPr lang="en-US" altLang="ko-KR" sz="1200" b="0" kern="1200" dirty="0">
                <a:solidFill>
                  <a:schemeClr val="tx1"/>
                </a:solidFill>
                <a:effectLst/>
                <a:latin typeface="+mn-lt"/>
                <a:ea typeface="+mn-ea"/>
                <a:cs typeface="+mn-cs"/>
              </a:rPr>
              <a:t>.</a:t>
            </a:r>
          </a:p>
          <a:p>
            <a:endParaRPr lang="en-US" altLang="ko-KR" sz="1200" b="0" kern="1200" dirty="0">
              <a:solidFill>
                <a:schemeClr val="tx1"/>
              </a:solidFill>
              <a:effectLst/>
              <a:latin typeface="+mn-lt"/>
              <a:ea typeface="+mn-ea"/>
              <a:cs typeface="+mn-cs"/>
            </a:endParaRPr>
          </a:p>
          <a:p>
            <a:r>
              <a:rPr lang="ko-KR" altLang="en-US" sz="1200" b="0" kern="1200" dirty="0">
                <a:solidFill>
                  <a:schemeClr val="tx1"/>
                </a:solidFill>
                <a:effectLst/>
                <a:latin typeface="+mn-lt"/>
                <a:ea typeface="+mn-ea"/>
                <a:cs typeface="+mn-cs"/>
              </a:rPr>
              <a:t>반대로 우측의</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a:t>
            </a:r>
            <a:r>
              <a:rPr lang="en" altLang="ko-KR" sz="1200" b="0" kern="1200" dirty="0">
                <a:solidFill>
                  <a:schemeClr val="tx1"/>
                </a:solidFill>
                <a:effectLst/>
                <a:latin typeface="+mn-lt"/>
                <a:ea typeface="+mn-ea"/>
                <a:cs typeface="+mn-cs"/>
              </a:rPr>
              <a:t>nDCG10</a:t>
            </a:r>
            <a:r>
              <a:rPr lang="ko-KR" altLang="en-US" sz="1200" b="0" kern="1200" dirty="0">
                <a:solidFill>
                  <a:schemeClr val="tx1"/>
                </a:solidFill>
                <a:effectLst/>
                <a:latin typeface="+mn-lt"/>
                <a:ea typeface="+mn-ea"/>
                <a:cs typeface="+mn-cs"/>
              </a:rPr>
              <a:t>을 보면</a:t>
            </a:r>
          </a:p>
          <a:p>
            <a:r>
              <a:rPr lang="en" altLang="ko-KR" sz="1200" b="0" kern="1200" dirty="0" err="1">
                <a:solidFill>
                  <a:schemeClr val="tx1"/>
                </a:solidFill>
                <a:effectLst/>
                <a:latin typeface="+mn-lt"/>
                <a:ea typeface="+mn-ea"/>
                <a:cs typeface="+mn-cs"/>
              </a:rPr>
              <a:t>KernelMF</a:t>
            </a:r>
            <a:r>
              <a:rPr lang="ko-KR" altLang="en-US" sz="1200" b="0" kern="1200" dirty="0">
                <a:solidFill>
                  <a:schemeClr val="tx1"/>
                </a:solidFill>
                <a:effectLst/>
                <a:latin typeface="+mn-lt"/>
                <a:ea typeface="+mn-ea"/>
                <a:cs typeface="+mn-cs"/>
              </a:rPr>
              <a:t>가 </a:t>
            </a:r>
            <a:r>
              <a:rPr lang="en" altLang="ko-KR" sz="1200" b="0" kern="1200" dirty="0">
                <a:solidFill>
                  <a:schemeClr val="tx1"/>
                </a:solidFill>
                <a:effectLst/>
                <a:latin typeface="+mn-lt"/>
                <a:ea typeface="+mn-ea"/>
                <a:cs typeface="+mn-cs"/>
              </a:rPr>
              <a:t>KNN</a:t>
            </a:r>
            <a:r>
              <a:rPr lang="ko-KR" altLang="en-US" sz="1200" b="0" kern="1200" dirty="0">
                <a:solidFill>
                  <a:schemeClr val="tx1"/>
                </a:solidFill>
                <a:effectLst/>
                <a:latin typeface="+mn-lt"/>
                <a:ea typeface="+mn-ea"/>
                <a:cs typeface="+mn-cs"/>
              </a:rPr>
              <a:t>보다 높았습니다</a:t>
            </a:r>
            <a:r>
              <a:rPr lang="en-US" altLang="ko-KR" sz="1200" b="0" kern="1200" dirty="0">
                <a:solidFill>
                  <a:schemeClr val="tx1"/>
                </a:solidFill>
                <a:effectLst/>
                <a:latin typeface="+mn-lt"/>
                <a:ea typeface="+mn-ea"/>
                <a:cs typeface="+mn-cs"/>
              </a:rPr>
              <a:t>.</a:t>
            </a:r>
          </a:p>
          <a:p>
            <a:r>
              <a:rPr lang="ko-KR" altLang="en-US" sz="1200" b="0" kern="1200" dirty="0">
                <a:solidFill>
                  <a:schemeClr val="tx1"/>
                </a:solidFill>
                <a:effectLst/>
                <a:latin typeface="+mn-lt"/>
                <a:ea typeface="+mn-ea"/>
                <a:cs typeface="+mn-cs"/>
              </a:rPr>
              <a:t>즉</a:t>
            </a:r>
            <a:r>
              <a:rPr lang="en-US" altLang="ko-KR" sz="1200" b="0" kern="1200" dirty="0">
                <a:solidFill>
                  <a:schemeClr val="tx1"/>
                </a:solidFill>
                <a:effectLst/>
                <a:latin typeface="+mn-lt"/>
                <a:ea typeface="+mn-ea"/>
                <a:cs typeface="+mn-cs"/>
              </a:rPr>
              <a:t>, </a:t>
            </a:r>
            <a:r>
              <a:rPr lang="en" altLang="ko-KR" sz="1200" b="0" kern="1200" dirty="0">
                <a:solidFill>
                  <a:schemeClr val="tx1"/>
                </a:solidFill>
                <a:effectLst/>
                <a:latin typeface="+mn-lt"/>
                <a:ea typeface="+mn-ea"/>
                <a:cs typeface="+mn-cs"/>
              </a:rPr>
              <a:t>Top-10 </a:t>
            </a:r>
            <a:r>
              <a:rPr lang="ko-KR" altLang="en-US" sz="1200" b="0" kern="1200" dirty="0">
                <a:solidFill>
                  <a:schemeClr val="tx1"/>
                </a:solidFill>
                <a:effectLst/>
                <a:latin typeface="+mn-lt"/>
                <a:ea typeface="+mn-ea"/>
                <a:cs typeface="+mn-cs"/>
              </a:rPr>
              <a:t>추천 목록의 순서를 잘 만드는 쪽은</a:t>
            </a:r>
          </a:p>
          <a:p>
            <a:r>
              <a:rPr lang="ko-KR" altLang="en-US" sz="1200" b="0" kern="1200" dirty="0">
                <a:solidFill>
                  <a:schemeClr val="tx1"/>
                </a:solidFill>
                <a:effectLst/>
                <a:latin typeface="+mn-lt"/>
                <a:ea typeface="+mn-ea"/>
                <a:cs typeface="+mn-cs"/>
              </a:rPr>
              <a:t>모델 기반 행렬 분해가 더 우수했습니다</a:t>
            </a:r>
            <a:r>
              <a:rPr lang="en-US" altLang="ko-KR" sz="1200" b="0" kern="1200" dirty="0">
                <a:solidFill>
                  <a:schemeClr val="tx1"/>
                </a:solidFill>
                <a:effectLst/>
                <a:latin typeface="+mn-lt"/>
                <a:ea typeface="+mn-ea"/>
                <a:cs typeface="+mn-cs"/>
              </a:rPr>
              <a:t>.</a:t>
            </a:r>
            <a:endParaRPr lang="ko-KR" altLang="en-US" sz="1200" kern="1200" dirty="0">
              <a:solidFill>
                <a:schemeClr val="tx1"/>
              </a:solidFill>
              <a:effectLst/>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200" b="0" i="0" kern="1200" dirty="0">
                <a:solidFill>
                  <a:schemeClr val="tx1"/>
                </a:solidFill>
                <a:effectLst/>
                <a:latin typeface="+mn-lt"/>
                <a:ea typeface="+mn-ea"/>
                <a:cs typeface="+mn-cs"/>
              </a:rPr>
              <a:t>하지만</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 평가와 분석에 있어서는 </a:t>
            </a:r>
            <a:r>
              <a:rPr lang="en" altLang="ko-KR" sz="1200" b="0" i="0" kern="1200" dirty="0">
                <a:solidFill>
                  <a:schemeClr val="tx1"/>
                </a:solidFill>
                <a:effectLst/>
                <a:latin typeface="+mn-lt"/>
                <a:ea typeface="+mn-ea"/>
                <a:cs typeface="+mn-cs"/>
              </a:rPr>
              <a:t>Comparative study of recommender systems</a:t>
            </a:r>
            <a:r>
              <a:rPr lang="ko-KR" altLang="en-US" sz="1200" b="0" i="0" kern="1200" dirty="0">
                <a:solidFill>
                  <a:schemeClr val="tx1"/>
                </a:solidFill>
                <a:effectLst/>
                <a:latin typeface="+mn-lt"/>
                <a:ea typeface="+mn-ea"/>
                <a:cs typeface="+mn-cs"/>
              </a:rPr>
              <a:t> 논문을 참고하였는데요</a:t>
            </a:r>
            <a:r>
              <a:rPr lang="en-US" altLang="ko-KR" sz="1200" b="0" i="0" kern="1200" dirty="0">
                <a:solidFill>
                  <a:schemeClr val="tx1"/>
                </a:solidFill>
                <a:effectLst/>
                <a:latin typeface="+mn-lt"/>
                <a:ea typeface="+mn-ea"/>
                <a:cs typeface="+mn-cs"/>
              </a:rPr>
              <a:t>.</a:t>
            </a:r>
            <a:r>
              <a:rPr lang="ko-KR" altLang="en-US" sz="1200" b="0" i="0" kern="1200" dirty="0">
                <a:solidFill>
                  <a:schemeClr val="tx1"/>
                </a:solidFill>
                <a:effectLst/>
                <a:latin typeface="+mn-lt"/>
                <a:ea typeface="+mn-ea"/>
                <a:cs typeface="+mn-cs"/>
              </a:rPr>
              <a:t> </a:t>
            </a:r>
            <a:r>
              <a:rPr lang="ko-KR" altLang="en-US" dirty="0"/>
              <a:t>참고</a:t>
            </a:r>
            <a:r>
              <a:rPr lang="en-US" altLang="ko-KR" dirty="0"/>
              <a:t> </a:t>
            </a:r>
            <a:r>
              <a:rPr lang="ko-KR" altLang="en-US" dirty="0"/>
              <a:t>논문과 비교했을 때 </a:t>
            </a:r>
            <a:r>
              <a:rPr lang="en-US" altLang="ko-KR" dirty="0" err="1"/>
              <a:t>ndcg</a:t>
            </a:r>
            <a:r>
              <a:rPr lang="ko-KR" altLang="en-US" dirty="0"/>
              <a:t>값이 매우 낮습니다</a:t>
            </a:r>
            <a:r>
              <a:rPr lang="en-US" altLang="ko-KR" dirty="0"/>
              <a:t>. </a:t>
            </a:r>
            <a:r>
              <a:rPr lang="ko-KR" altLang="en-US" dirty="0">
                <a:latin typeface="본고딕" panose="020B0500000000000000" pitchFamily="34" charset="-127"/>
                <a:ea typeface="본고딕" panose="020B0500000000000000" pitchFamily="34" charset="-127"/>
              </a:rPr>
              <a:t>따라서</a:t>
            </a:r>
            <a:r>
              <a:rPr lang="en-US" altLang="ko-KR" dirty="0">
                <a:latin typeface="본고딕" panose="020B0500000000000000" pitchFamily="34" charset="-127"/>
                <a:ea typeface="본고딕" panose="020B0500000000000000" pitchFamily="34" charset="-127"/>
              </a:rPr>
              <a:t>,</a:t>
            </a:r>
            <a:r>
              <a:rPr lang="ko-KR" altLang="en-US" dirty="0">
                <a:latin typeface="본고딕" panose="020B0500000000000000" pitchFamily="34" charset="-127"/>
                <a:ea typeface="본고딕" panose="020B0500000000000000" pitchFamily="34" charset="-127"/>
              </a:rPr>
              <a:t> 둘 다 좋은 추천시스템은 아니라는 것을 파악할 수 있었습니다</a:t>
            </a:r>
            <a:r>
              <a:rPr lang="en-US" altLang="ko-KR" dirty="0">
                <a:latin typeface="본고딕" panose="020B0500000000000000" pitchFamily="34" charset="-127"/>
                <a:ea typeface="본고딕" panose="020B0500000000000000" pitchFamily="34" charset="-127"/>
              </a:rPr>
              <a:t>.</a:t>
            </a:r>
            <a:endParaRPr kumimoji="1" lang="ko-KR" altLang="en-US"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1" dirty="0"/>
              <a:t>다시 말해</a:t>
            </a:r>
            <a:r>
              <a:rPr lang="en-US" altLang="ko-KR" b="1" dirty="0"/>
              <a:t>,</a:t>
            </a:r>
            <a:r>
              <a:rPr lang="ko-KR" altLang="en-US" b="1" dirty="0"/>
              <a:t> </a:t>
            </a:r>
            <a:r>
              <a:rPr lang="en-US" altLang="ko-KR" b="1" dirty="0"/>
              <a:t>0.1</a:t>
            </a:r>
            <a:r>
              <a:rPr lang="ko-KR" altLang="en-US" b="1" dirty="0"/>
              <a:t>이상은 나와야 제대로 된 </a:t>
            </a:r>
            <a:r>
              <a:rPr lang="ko-KR" altLang="en-US" b="1" dirty="0" err="1"/>
              <a:t>추천시스템이고</a:t>
            </a:r>
            <a:r>
              <a:rPr lang="ko-KR" altLang="en-US" b="1" dirty="0"/>
              <a:t> </a:t>
            </a:r>
            <a:r>
              <a:rPr lang="en-US" altLang="ko-KR" b="1" dirty="0"/>
              <a:t>0.1~0.2 </a:t>
            </a:r>
            <a:r>
              <a:rPr lang="ko-KR" altLang="en-US" b="1" dirty="0"/>
              <a:t>정도가 간단한 알고리즘으로 구현한 추천시스템 </a:t>
            </a:r>
            <a:r>
              <a:rPr lang="en-US" altLang="ko-KR" b="1" dirty="0"/>
              <a:t>0.3</a:t>
            </a:r>
            <a:r>
              <a:rPr lang="ko-KR" altLang="en-US" b="1" dirty="0"/>
              <a:t>이상은 매우 잘 구현한 추천시스템이라고 합니다</a:t>
            </a:r>
            <a:r>
              <a:rPr lang="en-US" altLang="ko-KR" b="1"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dirty="0"/>
          </a:p>
          <a:p>
            <a:endParaRPr lang="ko-KR" altLang="en-US"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12</a:t>
            </a:fld>
            <a:endParaRPr lang="ko-KR" altLang="en-US"/>
          </a:p>
        </p:txBody>
      </p:sp>
    </p:spTree>
    <p:extLst>
      <p:ext uri="{BB962C8B-B14F-4D97-AF65-F5344CB8AC3E}">
        <p14:creationId xmlns:p14="http://schemas.microsoft.com/office/powerpoint/2010/main" val="368040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trike="sngStrike" dirty="0"/>
              <a:t>이렇게 값이 낮은 이유는 여러가지가 있을 수 있는데 저희 팀이 생각하기에 가장 큰 이유는 일반적으로는 하나의 데이터셋을 가지고 학습과 테스트용으로 나누는데 저희가 진행한 프로젝트에서는 </a:t>
            </a:r>
            <a:r>
              <a:rPr lang="en-US" altLang="ko-KR" strike="sngStrike" dirty="0"/>
              <a:t>1m</a:t>
            </a:r>
            <a:r>
              <a:rPr lang="ko-KR" altLang="en-US" strike="sngStrike" dirty="0"/>
              <a:t>을 학습용</a:t>
            </a:r>
            <a:r>
              <a:rPr lang="en-US" altLang="ko-KR" strike="sngStrike" dirty="0"/>
              <a:t>, 100k</a:t>
            </a:r>
            <a:r>
              <a:rPr lang="ko-KR" altLang="en-US" strike="sngStrike" dirty="0" err="1"/>
              <a:t>를</a:t>
            </a:r>
            <a:r>
              <a:rPr lang="ko-KR" altLang="en-US" strike="sngStrike" dirty="0"/>
              <a:t> 테스트용으로 테스트용에 사용되는 데이터셋이 학습에 사용된 것과 다른 </a:t>
            </a:r>
            <a:r>
              <a:rPr lang="ko-KR" altLang="en-US" strike="sngStrike" dirty="0" err="1"/>
              <a:t>데이터셋이었기</a:t>
            </a:r>
            <a:r>
              <a:rPr lang="ko-KR" altLang="en-US" strike="sngStrike" dirty="0"/>
              <a:t> 때문인 것 같습니다</a:t>
            </a:r>
            <a:r>
              <a:rPr lang="en-US" altLang="ko-KR" strike="sngStrike" dirty="0"/>
              <a:t>.</a:t>
            </a:r>
            <a:br>
              <a:rPr lang="en-US" altLang="ko-KR" strike="sngStrike" dirty="0"/>
            </a:br>
            <a:br>
              <a:rPr lang="en-US" altLang="ko-KR" strike="sngStrike" dirty="0"/>
            </a:br>
            <a:r>
              <a:rPr lang="ko-KR" altLang="en-US" strike="sngStrike" dirty="0"/>
              <a:t>그 다음 이유로는 참고 논문의 경우 평점 </a:t>
            </a:r>
            <a:r>
              <a:rPr lang="en-US" altLang="ko-KR" strike="sngStrike" dirty="0"/>
              <a:t>10</a:t>
            </a:r>
            <a:r>
              <a:rPr lang="ko-KR" altLang="en-US" strike="sngStrike" dirty="0"/>
              <a:t>개 미만인 영화는 데이터셋에서 지웠는데 저희는 그대로 사용한 점이 있을 것 같습니다</a:t>
            </a:r>
            <a:r>
              <a:rPr lang="en-US" altLang="ko-KR" strike="sngStrike" dirty="0"/>
              <a:t>.</a:t>
            </a:r>
            <a:br>
              <a:rPr lang="en-US" altLang="ko-KR" strike="sngStrike" dirty="0"/>
            </a:br>
            <a:br>
              <a:rPr lang="en-US" altLang="ko-KR" strike="sngStrike" dirty="0"/>
            </a:br>
            <a:r>
              <a:rPr lang="ko-KR" altLang="en-US" strike="sngStrike" dirty="0"/>
              <a:t>이외에도 보통 알고리즘의 </a:t>
            </a:r>
            <a:r>
              <a:rPr lang="ko-KR" altLang="en-US" strike="sngStrike" dirty="0" err="1"/>
              <a:t>하이퍼파라미터를</a:t>
            </a:r>
            <a:r>
              <a:rPr lang="ko-KR" altLang="en-US" strike="sngStrike" dirty="0"/>
              <a:t> 수정해가며 </a:t>
            </a:r>
            <a:r>
              <a:rPr lang="ko-KR" altLang="en-US" strike="sngStrike" dirty="0" err="1"/>
              <a:t>최적값을</a:t>
            </a:r>
            <a:r>
              <a:rPr lang="ko-KR" altLang="en-US" strike="sngStrike" dirty="0"/>
              <a:t> 찾는데 해당 과정을 거치지 않은 것 등이 이유로 짐작됩니다</a:t>
            </a:r>
            <a:r>
              <a:rPr lang="en-US" altLang="ko-KR" strike="sngStrike" dirty="0"/>
              <a:t>.</a:t>
            </a:r>
            <a:endParaRPr lang="ko-KR" altLang="en-US" strike="sngStrike"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13</a:t>
            </a:fld>
            <a:endParaRPr lang="ko-KR" altLang="en-US"/>
          </a:p>
        </p:txBody>
      </p:sp>
    </p:spTree>
    <p:extLst>
      <p:ext uri="{BB962C8B-B14F-4D97-AF65-F5344CB8AC3E}">
        <p14:creationId xmlns:p14="http://schemas.microsoft.com/office/powerpoint/2010/main" val="1514664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F009A-B3CF-C4B4-3BA0-CC3799DACED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2AD593D-83AF-B280-A2F1-5838F457511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ED9A554-16AB-3263-BB4A-A74626071EC9}"/>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b="0" dirty="0"/>
              <a:t>이를 바탕으로 도출한 개선점입니다</a:t>
            </a:r>
            <a:r>
              <a:rPr lang="en-US" altLang="ko-KR" b="0" dirty="0"/>
              <a:t>.</a:t>
            </a:r>
            <a:r>
              <a:rPr lang="ko-KR" altLang="en-US" b="0" dirty="0"/>
              <a:t> </a:t>
            </a:r>
            <a:endParaRPr lang="en-US" altLang="ko-KR" b="0" dirty="0"/>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b="0" dirty="0"/>
          </a:p>
          <a:p>
            <a:r>
              <a:rPr lang="ko-KR" altLang="en-US" sz="1200" b="0" kern="1200" dirty="0">
                <a:solidFill>
                  <a:schemeClr val="tx1"/>
                </a:solidFill>
                <a:effectLst/>
                <a:latin typeface="+mn-lt"/>
                <a:ea typeface="+mn-ea"/>
                <a:cs typeface="+mn-cs"/>
              </a:rPr>
              <a:t>두 모델 모두 콜드 스타트와 데이터 희소성</a:t>
            </a:r>
            <a:r>
              <a:rPr lang="en-US" altLang="ko-KR" sz="1200" b="0" kern="1200" dirty="0">
                <a:solidFill>
                  <a:schemeClr val="tx1"/>
                </a:solidFill>
                <a:effectLst/>
                <a:latin typeface="+mn-lt"/>
                <a:ea typeface="+mn-ea"/>
                <a:cs typeface="+mn-cs"/>
              </a:rPr>
              <a:t>(</a:t>
            </a:r>
            <a:r>
              <a:rPr lang="en" altLang="ko-KR" sz="1200" b="0" kern="1200" dirty="0">
                <a:solidFill>
                  <a:schemeClr val="tx1"/>
                </a:solidFill>
                <a:effectLst/>
                <a:latin typeface="+mn-lt"/>
                <a:ea typeface="+mn-ea"/>
                <a:cs typeface="+mn-cs"/>
              </a:rPr>
              <a:t>Data Sparsity) </a:t>
            </a:r>
            <a:r>
              <a:rPr lang="ko-KR" altLang="en-US" sz="1200" b="0" kern="1200" dirty="0">
                <a:solidFill>
                  <a:schemeClr val="tx1"/>
                </a:solidFill>
                <a:effectLst/>
                <a:latin typeface="+mn-lt"/>
                <a:ea typeface="+mn-ea"/>
                <a:cs typeface="+mn-cs"/>
              </a:rPr>
              <a:t>문제의 영향을 받습니다</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오른쪽 히스토그램과 왼쪽 분석 로그를 보면</a:t>
            </a:r>
            <a:r>
              <a:rPr lang="en-US" altLang="ko-KR" sz="1200" b="0" kern="1200" dirty="0">
                <a:solidFill>
                  <a:schemeClr val="tx1"/>
                </a:solidFill>
                <a:effectLst/>
                <a:latin typeface="+mn-lt"/>
                <a:ea typeface="+mn-ea"/>
                <a:cs typeface="+mn-cs"/>
              </a:rPr>
              <a:t>,</a:t>
            </a:r>
          </a:p>
          <a:p>
            <a:r>
              <a:rPr lang="ko-KR" altLang="en-US" sz="1200" b="0" kern="1200" dirty="0">
                <a:solidFill>
                  <a:schemeClr val="tx1"/>
                </a:solidFill>
                <a:effectLst/>
                <a:latin typeface="+mn-lt"/>
                <a:ea typeface="+mn-ea"/>
                <a:cs typeface="+mn-cs"/>
              </a:rPr>
              <a:t>전체 영화 수는 </a:t>
            </a:r>
            <a:r>
              <a:rPr lang="en-US" altLang="ko-KR" sz="1200" b="0" kern="1200" dirty="0">
                <a:solidFill>
                  <a:schemeClr val="tx1"/>
                </a:solidFill>
                <a:effectLst/>
                <a:latin typeface="+mn-lt"/>
                <a:ea typeface="+mn-ea"/>
                <a:cs typeface="+mn-cs"/>
              </a:rPr>
              <a:t>3,706</a:t>
            </a:r>
            <a:r>
              <a:rPr lang="ko-KR" altLang="en-US" sz="1200" b="0" kern="1200" dirty="0">
                <a:solidFill>
                  <a:schemeClr val="tx1"/>
                </a:solidFill>
                <a:effectLst/>
                <a:latin typeface="+mn-lt"/>
                <a:ea typeface="+mn-ea"/>
                <a:cs typeface="+mn-cs"/>
              </a:rPr>
              <a:t>편인데</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이 중 </a:t>
            </a:r>
            <a:r>
              <a:rPr lang="en-US" altLang="ko-KR" sz="1200" b="0" kern="1200" dirty="0">
                <a:solidFill>
                  <a:schemeClr val="tx1"/>
                </a:solidFill>
                <a:effectLst/>
                <a:latin typeface="+mn-lt"/>
                <a:ea typeface="+mn-ea"/>
                <a:cs typeface="+mn-cs"/>
              </a:rPr>
              <a:t>10</a:t>
            </a:r>
            <a:r>
              <a:rPr lang="ko-KR" altLang="en-US" sz="1200" b="0" kern="1200" dirty="0">
                <a:solidFill>
                  <a:schemeClr val="tx1"/>
                </a:solidFill>
                <a:effectLst/>
                <a:latin typeface="+mn-lt"/>
                <a:ea typeface="+mn-ea"/>
                <a:cs typeface="+mn-cs"/>
              </a:rPr>
              <a:t>개 미만의 평점만 가진 영화가 </a:t>
            </a:r>
            <a:r>
              <a:rPr lang="en-US" altLang="ko-KR" sz="1200" b="0" kern="1200" dirty="0">
                <a:solidFill>
                  <a:schemeClr val="tx1"/>
                </a:solidFill>
                <a:effectLst/>
                <a:latin typeface="+mn-lt"/>
                <a:ea typeface="+mn-ea"/>
                <a:cs typeface="+mn-cs"/>
              </a:rPr>
              <a:t>446</a:t>
            </a:r>
            <a:r>
              <a:rPr lang="ko-KR" altLang="en-US" sz="1200" b="0" kern="1200" dirty="0">
                <a:solidFill>
                  <a:schemeClr val="tx1"/>
                </a:solidFill>
                <a:effectLst/>
                <a:latin typeface="+mn-lt"/>
                <a:ea typeface="+mn-ea"/>
                <a:cs typeface="+mn-cs"/>
              </a:rPr>
              <a:t>편</a:t>
            </a:r>
            <a:r>
              <a:rPr lang="en-US" altLang="ko-KR" sz="1200" b="0" kern="1200" dirty="0">
                <a:solidFill>
                  <a:schemeClr val="tx1"/>
                </a:solidFill>
                <a:effectLst/>
                <a:latin typeface="+mn-lt"/>
                <a:ea typeface="+mn-ea"/>
                <a:cs typeface="+mn-cs"/>
              </a:rPr>
              <a:t>,</a:t>
            </a:r>
          </a:p>
          <a:p>
            <a:r>
              <a:rPr lang="ko-KR" altLang="en-US" sz="1200" b="0" kern="1200" dirty="0">
                <a:solidFill>
                  <a:schemeClr val="tx1"/>
                </a:solidFill>
                <a:effectLst/>
                <a:latin typeface="+mn-lt"/>
                <a:ea typeface="+mn-ea"/>
                <a:cs typeface="+mn-cs"/>
              </a:rPr>
              <a:t>즉 약 </a:t>
            </a:r>
            <a:r>
              <a:rPr lang="en-US" altLang="ko-KR" sz="1200" b="0" kern="1200" dirty="0">
                <a:solidFill>
                  <a:schemeClr val="tx1"/>
                </a:solidFill>
                <a:effectLst/>
                <a:latin typeface="+mn-lt"/>
                <a:ea typeface="+mn-ea"/>
                <a:cs typeface="+mn-cs"/>
              </a:rPr>
              <a:t>12%</a:t>
            </a:r>
            <a:r>
              <a:rPr lang="ko-KR" altLang="en-US" sz="1200" b="0" kern="1200" dirty="0">
                <a:solidFill>
                  <a:schemeClr val="tx1"/>
                </a:solidFill>
                <a:effectLst/>
                <a:latin typeface="+mn-lt"/>
                <a:ea typeface="+mn-ea"/>
                <a:cs typeface="+mn-cs"/>
              </a:rPr>
              <a:t>입니다</a:t>
            </a:r>
            <a:r>
              <a:rPr lang="en-US" altLang="ko-KR" sz="1200" b="0" kern="1200" dirty="0">
                <a:solidFill>
                  <a:schemeClr val="tx1"/>
                </a:solidFill>
                <a:effectLst/>
                <a:latin typeface="+mn-lt"/>
                <a:ea typeface="+mn-ea"/>
                <a:cs typeface="+mn-cs"/>
              </a:rPr>
              <a:t>.</a:t>
            </a:r>
            <a:br>
              <a:rPr lang="en-US" altLang="ko-KR" sz="1200" b="0" kern="1200" dirty="0">
                <a:solidFill>
                  <a:schemeClr val="tx1"/>
                </a:solidFill>
                <a:effectLst/>
                <a:latin typeface="+mn-lt"/>
                <a:ea typeface="+mn-ea"/>
                <a:cs typeface="+mn-cs"/>
              </a:rPr>
            </a:br>
            <a:endParaRPr lang="en-US" altLang="ko-KR" sz="1200" b="0" kern="1200" dirty="0">
              <a:solidFill>
                <a:schemeClr val="tx1"/>
              </a:solidFill>
              <a:effectLst/>
              <a:latin typeface="+mn-lt"/>
              <a:ea typeface="+mn-ea"/>
              <a:cs typeface="+mn-cs"/>
            </a:endParaRPr>
          </a:p>
          <a:p>
            <a:r>
              <a:rPr lang="ko-KR" altLang="en-US" sz="1200" b="0" kern="1200" dirty="0">
                <a:solidFill>
                  <a:schemeClr val="tx1"/>
                </a:solidFill>
                <a:effectLst/>
                <a:latin typeface="+mn-lt"/>
                <a:ea typeface="+mn-ea"/>
                <a:cs typeface="+mn-cs"/>
              </a:rPr>
              <a:t>이런 아이템들은 사용자 정보가 너무 적어서 신뢰할 수 있는 추천을 만들기 어렵습니다</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그래서 한 가지 개선 방향으로</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평점 개수가 너무 적은 아이템을 제거하거나 일정 기준 이상</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예</a:t>
            </a:r>
            <a:r>
              <a:rPr lang="en-US" altLang="ko-KR" sz="1200" b="0" kern="1200" dirty="0">
                <a:solidFill>
                  <a:schemeClr val="tx1"/>
                </a:solidFill>
                <a:effectLst/>
                <a:latin typeface="+mn-lt"/>
                <a:ea typeface="+mn-ea"/>
                <a:cs typeface="+mn-cs"/>
              </a:rPr>
              <a:t>: 10</a:t>
            </a:r>
            <a:r>
              <a:rPr lang="ko-KR" altLang="en-US" sz="1200" b="0" kern="1200" dirty="0">
                <a:solidFill>
                  <a:schemeClr val="tx1"/>
                </a:solidFill>
                <a:effectLst/>
                <a:latin typeface="+mn-lt"/>
                <a:ea typeface="+mn-ea"/>
                <a:cs typeface="+mn-cs"/>
              </a:rPr>
              <a:t>개 이상</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인 아이템만 남겨서 더 촘촘하고 신뢰할 수 있는 데이터셋을 만드는 전략을 제안할 수 있습니다</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a:t>
            </a:r>
            <a:endParaRPr lang="en-US" altLang="ko-KR" sz="1200" b="0" kern="1200" dirty="0">
              <a:solidFill>
                <a:schemeClr val="tx1"/>
              </a:solidFill>
              <a:effectLst/>
              <a:latin typeface="+mn-lt"/>
              <a:ea typeface="+mn-ea"/>
              <a:cs typeface="+mn-cs"/>
            </a:endParaRPr>
          </a:p>
          <a:p>
            <a:endParaRPr lang="ko-KR" altLang="en-US" sz="1200" b="0" kern="1200" dirty="0">
              <a:solidFill>
                <a:schemeClr val="tx1"/>
              </a:solidFill>
              <a:effectLst/>
              <a:latin typeface="+mn-lt"/>
              <a:ea typeface="+mn-ea"/>
              <a:cs typeface="+mn-cs"/>
            </a:endParaRPr>
          </a:p>
          <a:p>
            <a:r>
              <a:rPr lang="ko-KR" altLang="en-US" sz="1200" b="0" kern="1200" dirty="0">
                <a:solidFill>
                  <a:schemeClr val="tx1"/>
                </a:solidFill>
                <a:effectLst/>
                <a:latin typeface="+mn-lt"/>
                <a:ea typeface="+mn-ea"/>
                <a:cs typeface="+mn-cs"/>
              </a:rPr>
              <a:t>이렇게 하면 두 모델 모두 희소성에 덜 민감해지고</a:t>
            </a:r>
            <a:r>
              <a:rPr lang="en-US" altLang="ko-KR" sz="1200" b="0" kern="1200" dirty="0">
                <a:solidFill>
                  <a:schemeClr val="tx1"/>
                </a:solidFill>
                <a:effectLst/>
                <a:latin typeface="+mn-lt"/>
                <a:ea typeface="+mn-ea"/>
                <a:cs typeface="+mn-cs"/>
              </a:rPr>
              <a:t>,</a:t>
            </a:r>
            <a:r>
              <a:rPr lang="ko-KR" altLang="en-US" sz="1200" b="0" kern="1200" dirty="0">
                <a:solidFill>
                  <a:schemeClr val="tx1"/>
                </a:solidFill>
                <a:effectLst/>
                <a:latin typeface="+mn-lt"/>
                <a:ea typeface="+mn-ea"/>
                <a:cs typeface="+mn-cs"/>
              </a:rPr>
              <a:t> 특히 콜드 스타트 아이템에서 오는 잡음을 줄일 수 있을 것으로 기대합니다</a:t>
            </a:r>
            <a:r>
              <a:rPr lang="en-US" altLang="ko-KR" sz="1200" b="0" kern="1200" dirty="0">
                <a:solidFill>
                  <a:schemeClr val="tx1"/>
                </a:solidFill>
                <a:effectLst/>
                <a:latin typeface="+mn-lt"/>
                <a:ea typeface="+mn-ea"/>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br>
              <a:rPr lang="en-US" altLang="ko-KR" b="0" dirty="0"/>
            </a:br>
            <a:endParaRPr lang="ko-KR" altLang="en-US" b="0" dirty="0"/>
          </a:p>
          <a:p>
            <a:endParaRPr kumimoji="1" lang="ko-KR" altLang="en-US" b="0" dirty="0"/>
          </a:p>
          <a:p>
            <a:endParaRPr lang="ko-KR" altLang="en-US" dirty="0"/>
          </a:p>
        </p:txBody>
      </p:sp>
      <p:sp>
        <p:nvSpPr>
          <p:cNvPr id="4" name="슬라이드 번호 개체 틀 3">
            <a:extLst>
              <a:ext uri="{FF2B5EF4-FFF2-40B4-BE49-F238E27FC236}">
                <a16:creationId xmlns:a16="http://schemas.microsoft.com/office/drawing/2014/main" id="{76AD8CA4-4A3E-4EDD-D251-4945A07B1289}"/>
              </a:ext>
            </a:extLst>
          </p:cNvPr>
          <p:cNvSpPr>
            <a:spLocks noGrp="1"/>
          </p:cNvSpPr>
          <p:nvPr>
            <p:ph type="sldNum" sz="quarter" idx="5"/>
          </p:nvPr>
        </p:nvSpPr>
        <p:spPr/>
        <p:txBody>
          <a:bodyPr/>
          <a:lstStyle/>
          <a:p>
            <a:fld id="{68358C1E-621D-4606-AE43-57F7814AEF90}" type="slidenum">
              <a:rPr lang="ko-KR" altLang="en-US" smtClean="0"/>
              <a:t>14</a:t>
            </a:fld>
            <a:endParaRPr lang="ko-KR" altLang="en-US"/>
          </a:p>
        </p:txBody>
      </p:sp>
    </p:spTree>
    <p:extLst>
      <p:ext uri="{BB962C8B-B14F-4D97-AF65-F5344CB8AC3E}">
        <p14:creationId xmlns:p14="http://schemas.microsoft.com/office/powerpoint/2010/main" val="372288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D04DF-954C-2019-A9B2-1B8D6E86319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13050B8-8480-73B8-9E12-FB02EFC6248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31C6414-5DB0-464E-66ED-25A482EDE53D}"/>
              </a:ext>
            </a:extLst>
          </p:cNvPr>
          <p:cNvSpPr>
            <a:spLocks noGrp="1"/>
          </p:cNvSpPr>
          <p:nvPr>
            <p:ph type="body" idx="1"/>
          </p:nvPr>
        </p:nvSpPr>
        <p:spPr/>
        <p:txBody>
          <a:bodyPr/>
          <a:lstStyle/>
          <a:p>
            <a:r>
              <a:rPr lang="ko-KR" altLang="en-US" sz="1200" b="0" kern="1200" dirty="0">
                <a:solidFill>
                  <a:schemeClr val="tx1"/>
                </a:solidFill>
                <a:effectLst/>
                <a:latin typeface="+mn-lt"/>
                <a:ea typeface="+mn-ea"/>
                <a:cs typeface="+mn-cs"/>
              </a:rPr>
              <a:t>두번째 개선 방향은 </a:t>
            </a:r>
            <a:r>
              <a:rPr lang="ko-KR" altLang="en-US" sz="1200" b="0" kern="1200" dirty="0" err="1">
                <a:solidFill>
                  <a:schemeClr val="tx1"/>
                </a:solidFill>
                <a:effectLst/>
                <a:latin typeface="+mn-lt"/>
                <a:ea typeface="+mn-ea"/>
                <a:cs typeface="+mn-cs"/>
              </a:rPr>
              <a:t>하이퍼파라미터</a:t>
            </a:r>
            <a:r>
              <a:rPr lang="ko-KR" altLang="en-US" sz="1200" b="0" kern="1200" dirty="0">
                <a:solidFill>
                  <a:schemeClr val="tx1"/>
                </a:solidFill>
                <a:effectLst/>
                <a:latin typeface="+mn-lt"/>
                <a:ea typeface="+mn-ea"/>
                <a:cs typeface="+mn-cs"/>
              </a:rPr>
              <a:t> 튜닝입니다</a:t>
            </a:r>
            <a:r>
              <a:rPr lang="en-US" altLang="ko-KR" sz="1200" b="0" kern="1200" dirty="0">
                <a:solidFill>
                  <a:schemeClr val="tx1"/>
                </a:solidFill>
                <a:effectLst/>
                <a:latin typeface="+mn-lt"/>
                <a:ea typeface="+mn-ea"/>
                <a:cs typeface="+mn-cs"/>
              </a:rPr>
              <a:t>.</a:t>
            </a:r>
          </a:p>
          <a:p>
            <a:endParaRPr lang="ko-KR" altLang="en-US" sz="1200" b="0" kern="1200" dirty="0">
              <a:solidFill>
                <a:schemeClr val="tx1"/>
              </a:solidFill>
              <a:effectLst/>
              <a:latin typeface="+mn-lt"/>
              <a:ea typeface="+mn-ea"/>
              <a:cs typeface="+mn-cs"/>
            </a:endParaRPr>
          </a:p>
          <a:p>
            <a:r>
              <a:rPr lang="ko-KR" altLang="en-US" sz="1200" b="0" kern="1200" dirty="0" err="1">
                <a:solidFill>
                  <a:schemeClr val="tx1"/>
                </a:solidFill>
                <a:effectLst/>
                <a:latin typeface="+mn-lt"/>
                <a:ea typeface="+mn-ea"/>
                <a:cs typeface="+mn-cs"/>
              </a:rPr>
              <a:t>하이퍼파라미터를</a:t>
            </a:r>
            <a:r>
              <a:rPr lang="ko-KR" altLang="en-US" sz="1200" b="0" kern="1200" dirty="0">
                <a:solidFill>
                  <a:schemeClr val="tx1"/>
                </a:solidFill>
                <a:effectLst/>
                <a:latin typeface="+mn-lt"/>
                <a:ea typeface="+mn-ea"/>
                <a:cs typeface="+mn-cs"/>
              </a:rPr>
              <a:t> 튜닝하는 방법에는 여러 가지가 있는데</a:t>
            </a:r>
            <a:r>
              <a:rPr lang="en-US"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대표적으로</a:t>
            </a:r>
            <a:endParaRPr lang="en-US" altLang="ko-KR" sz="1200" b="0" kern="1200" dirty="0">
              <a:solidFill>
                <a:schemeClr val="tx1"/>
              </a:solidFill>
              <a:effectLst/>
              <a:latin typeface="+mn-lt"/>
              <a:ea typeface="+mn-ea"/>
              <a:cs typeface="+mn-cs"/>
            </a:endParaRPr>
          </a:p>
          <a:p>
            <a:endParaRPr lang="ko-KR" altLang="en-US" sz="1200" b="0" kern="1200" dirty="0">
              <a:solidFill>
                <a:schemeClr val="tx1"/>
              </a:solidFill>
              <a:effectLst/>
              <a:latin typeface="+mn-lt"/>
              <a:ea typeface="+mn-ea"/>
              <a:cs typeface="+mn-cs"/>
            </a:endParaRPr>
          </a:p>
          <a:p>
            <a:r>
              <a:rPr lang="en" altLang="ko-KR" sz="1200" b="0" kern="1200" dirty="0">
                <a:solidFill>
                  <a:schemeClr val="tx1"/>
                </a:solidFill>
                <a:effectLst/>
                <a:latin typeface="+mn-lt"/>
                <a:ea typeface="+mn-ea"/>
                <a:cs typeface="+mn-cs"/>
              </a:rPr>
              <a:t>Random Search</a:t>
            </a:r>
            <a:r>
              <a:rPr lang="ko-KR" altLang="en-US" sz="1200" b="0" kern="1200" dirty="0">
                <a:solidFill>
                  <a:schemeClr val="tx1"/>
                </a:solidFill>
                <a:effectLst/>
                <a:latin typeface="+mn-lt"/>
                <a:ea typeface="+mn-ea"/>
                <a:cs typeface="+mn-cs"/>
              </a:rPr>
              <a:t> </a:t>
            </a:r>
            <a:r>
              <a:rPr lang="en"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정해 둔 범위 안에서 무작위로 조합을 뽑아 성능을 확인하는 방법입니다</a:t>
            </a:r>
            <a:r>
              <a:rPr lang="en-US" altLang="ko-KR" sz="1200" b="0" kern="1200" dirty="0">
                <a:solidFill>
                  <a:schemeClr val="tx1"/>
                </a:solidFill>
                <a:effectLst/>
                <a:latin typeface="+mn-lt"/>
                <a:ea typeface="+mn-ea"/>
                <a:cs typeface="+mn-cs"/>
              </a:rPr>
              <a:t>.</a:t>
            </a:r>
          </a:p>
          <a:p>
            <a:r>
              <a:rPr lang="en" altLang="ko-KR" sz="1200" b="0" kern="1200" dirty="0">
                <a:solidFill>
                  <a:schemeClr val="tx1"/>
                </a:solidFill>
                <a:effectLst/>
                <a:latin typeface="+mn-lt"/>
                <a:ea typeface="+mn-ea"/>
                <a:cs typeface="+mn-cs"/>
              </a:rPr>
              <a:t>Grid Search</a:t>
            </a:r>
            <a:r>
              <a:rPr lang="ko-KR" altLang="en-US" sz="1200" b="0" kern="1200" dirty="0">
                <a:solidFill>
                  <a:schemeClr val="tx1"/>
                </a:solidFill>
                <a:effectLst/>
                <a:latin typeface="+mn-lt"/>
                <a:ea typeface="+mn-ea"/>
                <a:cs typeface="+mn-cs"/>
              </a:rPr>
              <a:t> </a:t>
            </a:r>
            <a:r>
              <a:rPr lang="en"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미리 정한 후보 값들을 격자 형태로 전부 다 조합해 보는 완전 탐색 방식입니다</a:t>
            </a:r>
            <a:r>
              <a:rPr lang="en-US" altLang="ko-KR" sz="1200" b="0" kern="1200" dirty="0">
                <a:solidFill>
                  <a:schemeClr val="tx1"/>
                </a:solidFill>
                <a:effectLst/>
                <a:latin typeface="+mn-lt"/>
                <a:ea typeface="+mn-ea"/>
                <a:cs typeface="+mn-cs"/>
              </a:rPr>
              <a:t>.</a:t>
            </a:r>
          </a:p>
          <a:p>
            <a:r>
              <a:rPr lang="en" altLang="ko-KR" sz="1200" b="0" kern="1200" dirty="0">
                <a:solidFill>
                  <a:schemeClr val="tx1"/>
                </a:solidFill>
                <a:effectLst/>
                <a:latin typeface="+mn-lt"/>
                <a:ea typeface="+mn-ea"/>
                <a:cs typeface="+mn-cs"/>
              </a:rPr>
              <a:t>Bayesian Optimization</a:t>
            </a:r>
            <a:r>
              <a:rPr lang="ko-KR" altLang="en-US" sz="1200" b="0" kern="1200" dirty="0">
                <a:solidFill>
                  <a:schemeClr val="tx1"/>
                </a:solidFill>
                <a:effectLst/>
                <a:latin typeface="+mn-lt"/>
                <a:ea typeface="+mn-ea"/>
                <a:cs typeface="+mn-cs"/>
              </a:rPr>
              <a:t> </a:t>
            </a:r>
            <a:r>
              <a:rPr lang="en"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실험 결과를 바탕으로 목적 함수를 추정한 뒤</a:t>
            </a:r>
            <a:r>
              <a:rPr lang="en-US" altLang="ko-KR" sz="1200" b="0" kern="1200" dirty="0">
                <a:solidFill>
                  <a:schemeClr val="tx1"/>
                </a:solidFill>
                <a:effectLst/>
                <a:latin typeface="+mn-lt"/>
                <a:ea typeface="+mn-ea"/>
                <a:cs typeface="+mn-cs"/>
              </a:rPr>
              <a:t>,</a:t>
            </a:r>
            <a:endParaRPr lang="ko-KR" altLang="en-US" sz="1200" b="0" kern="1200" dirty="0">
              <a:solidFill>
                <a:schemeClr val="tx1"/>
              </a:solidFill>
              <a:effectLst/>
              <a:latin typeface="+mn-lt"/>
              <a:ea typeface="+mn-ea"/>
              <a:cs typeface="+mn-cs"/>
            </a:endParaRPr>
          </a:p>
          <a:p>
            <a:r>
              <a:rPr lang="ko-KR" altLang="en-US" sz="1200" b="0" kern="1200" dirty="0">
                <a:solidFill>
                  <a:schemeClr val="tx1"/>
                </a:solidFill>
                <a:effectLst/>
                <a:latin typeface="+mn-lt"/>
                <a:ea typeface="+mn-ea"/>
                <a:cs typeface="+mn-cs"/>
              </a:rPr>
              <a:t>성능이 좋을 것으로 예상되는 영역 위주로 탐색을 집중하는 방법입니다</a:t>
            </a:r>
            <a:r>
              <a:rPr lang="en-US" altLang="ko-KR" sz="1200" b="0" kern="1200" dirty="0">
                <a:solidFill>
                  <a:schemeClr val="tx1"/>
                </a:solidFill>
                <a:effectLst/>
                <a:latin typeface="+mn-lt"/>
                <a:ea typeface="+mn-ea"/>
                <a:cs typeface="+mn-cs"/>
              </a:rPr>
              <a:t>.</a:t>
            </a:r>
            <a:br>
              <a:rPr lang="ko-KR" altLang="en-US" sz="1200" b="0" kern="1200" dirty="0">
                <a:solidFill>
                  <a:schemeClr val="tx1"/>
                </a:solidFill>
                <a:effectLst/>
                <a:latin typeface="+mn-lt"/>
                <a:ea typeface="+mn-ea"/>
                <a:cs typeface="+mn-cs"/>
              </a:rPr>
            </a:br>
            <a:endParaRPr lang="ko-KR" altLang="en-US" sz="1200" b="0" kern="1200" dirty="0">
              <a:solidFill>
                <a:schemeClr val="tx1"/>
              </a:solidFill>
              <a:effectLst/>
              <a:latin typeface="+mn-lt"/>
              <a:ea typeface="+mn-ea"/>
              <a:cs typeface="+mn-cs"/>
            </a:endParaRPr>
          </a:p>
          <a:p>
            <a:r>
              <a:rPr lang="ko-KR" altLang="en-US" sz="1200" b="0" kern="1200" dirty="0">
                <a:solidFill>
                  <a:schemeClr val="tx1"/>
                </a:solidFill>
                <a:effectLst/>
                <a:latin typeface="+mn-lt"/>
                <a:ea typeface="+mn-ea"/>
                <a:cs typeface="+mn-cs"/>
              </a:rPr>
              <a:t>이런 기법들을 이용해서 </a:t>
            </a:r>
            <a:r>
              <a:rPr lang="en" altLang="ko-KR" sz="1200" b="0" kern="1200" dirty="0">
                <a:solidFill>
                  <a:schemeClr val="tx1"/>
                </a:solidFill>
                <a:effectLst/>
                <a:latin typeface="+mn-lt"/>
                <a:ea typeface="+mn-ea"/>
                <a:cs typeface="+mn-cs"/>
              </a:rPr>
              <a:t>K</a:t>
            </a:r>
            <a:r>
              <a:rPr lang="ko-KR" altLang="en-US" sz="1200" b="0" kern="1200" dirty="0">
                <a:solidFill>
                  <a:schemeClr val="tx1"/>
                </a:solidFill>
                <a:effectLst/>
                <a:latin typeface="+mn-lt"/>
                <a:ea typeface="+mn-ea"/>
                <a:cs typeface="+mn-cs"/>
              </a:rPr>
              <a:t>값</a:t>
            </a:r>
            <a:r>
              <a:rPr lang="en-US"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유사도 지표</a:t>
            </a:r>
            <a:r>
              <a:rPr lang="en-US" altLang="ko-KR" sz="1200" b="0" kern="1200" dirty="0">
                <a:solidFill>
                  <a:schemeClr val="tx1"/>
                </a:solidFill>
                <a:effectLst/>
                <a:latin typeface="+mn-lt"/>
                <a:ea typeface="+mn-ea"/>
                <a:cs typeface="+mn-cs"/>
              </a:rPr>
              <a:t>, </a:t>
            </a:r>
            <a:r>
              <a:rPr lang="ko-KR" altLang="en-US" sz="1200" b="0" kern="1200" dirty="0">
                <a:solidFill>
                  <a:schemeClr val="tx1"/>
                </a:solidFill>
                <a:effectLst/>
                <a:latin typeface="+mn-lt"/>
                <a:ea typeface="+mn-ea"/>
                <a:cs typeface="+mn-cs"/>
              </a:rPr>
              <a:t>잠재 요인 수 같은 </a:t>
            </a:r>
            <a:r>
              <a:rPr lang="ko-KR" altLang="en-US" sz="1200" b="0" kern="1200" dirty="0" err="1">
                <a:solidFill>
                  <a:schemeClr val="tx1"/>
                </a:solidFill>
                <a:effectLst/>
                <a:latin typeface="+mn-lt"/>
                <a:ea typeface="+mn-ea"/>
                <a:cs typeface="+mn-cs"/>
              </a:rPr>
              <a:t>하이퍼파라미터를</a:t>
            </a:r>
            <a:r>
              <a:rPr lang="ko-KR" altLang="en-US" sz="1200" b="0" kern="1200" dirty="0">
                <a:solidFill>
                  <a:schemeClr val="tx1"/>
                </a:solidFill>
                <a:effectLst/>
                <a:latin typeface="+mn-lt"/>
                <a:ea typeface="+mn-ea"/>
                <a:cs typeface="+mn-cs"/>
              </a:rPr>
              <a:t> 튜닝하면 현재 모델보다 더 나은 성능을 얻을 수 있을 것으로 기대합니다</a:t>
            </a:r>
            <a:r>
              <a:rPr lang="en-US" altLang="ko-KR" sz="1200" b="0" kern="1200" dirty="0">
                <a:solidFill>
                  <a:schemeClr val="tx1"/>
                </a:solidFill>
                <a:effectLst/>
                <a:latin typeface="+mn-lt"/>
                <a:ea typeface="+mn-ea"/>
                <a:cs typeface="+mn-cs"/>
              </a:rPr>
              <a:t>.</a:t>
            </a:r>
          </a:p>
          <a:p>
            <a:endParaRPr lang="en-US" altLang="ko-KR" b="0" dirty="0"/>
          </a:p>
        </p:txBody>
      </p:sp>
      <p:sp>
        <p:nvSpPr>
          <p:cNvPr id="4" name="슬라이드 번호 개체 틀 3">
            <a:extLst>
              <a:ext uri="{FF2B5EF4-FFF2-40B4-BE49-F238E27FC236}">
                <a16:creationId xmlns:a16="http://schemas.microsoft.com/office/drawing/2014/main" id="{B48A73DA-BBE9-7115-6531-0C488D31F566}"/>
              </a:ext>
            </a:extLst>
          </p:cNvPr>
          <p:cNvSpPr>
            <a:spLocks noGrp="1"/>
          </p:cNvSpPr>
          <p:nvPr>
            <p:ph type="sldNum" sz="quarter" idx="5"/>
          </p:nvPr>
        </p:nvSpPr>
        <p:spPr/>
        <p:txBody>
          <a:bodyPr/>
          <a:lstStyle/>
          <a:p>
            <a:fld id="{68358C1E-621D-4606-AE43-57F7814AEF90}" type="slidenum">
              <a:rPr lang="ko-KR" altLang="en-US" smtClean="0"/>
              <a:t>15</a:t>
            </a:fld>
            <a:endParaRPr lang="ko-KR" altLang="en-US"/>
          </a:p>
        </p:txBody>
      </p:sp>
    </p:spTree>
    <p:extLst>
      <p:ext uri="{BB962C8B-B14F-4D97-AF65-F5344CB8AC3E}">
        <p14:creationId xmlns:p14="http://schemas.microsoft.com/office/powerpoint/2010/main" val="862569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21</a:t>
            </a:fld>
            <a:endParaRPr lang="ko-KR" altLang="en-US"/>
          </a:p>
        </p:txBody>
      </p:sp>
    </p:spTree>
    <p:extLst>
      <p:ext uri="{BB962C8B-B14F-4D97-AF65-F5344CB8AC3E}">
        <p14:creationId xmlns:p14="http://schemas.microsoft.com/office/powerpoint/2010/main" val="3815657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전체 구조 설명 파트입니다</a:t>
            </a:r>
            <a:r>
              <a:rPr lang="en-US" altLang="ko-KR" dirty="0"/>
              <a:t>.</a:t>
            </a:r>
            <a:endParaRPr kumimoji="1" lang="ko-KR" altLang="en-US"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22</a:t>
            </a:fld>
            <a:endParaRPr lang="ko-KR" altLang="en-US"/>
          </a:p>
        </p:txBody>
      </p:sp>
    </p:spTree>
    <p:extLst>
      <p:ext uri="{BB962C8B-B14F-4D97-AF65-F5344CB8AC3E}">
        <p14:creationId xmlns:p14="http://schemas.microsoft.com/office/powerpoint/2010/main" val="3146229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참고문헌 부분입니다</a:t>
            </a:r>
            <a:endParaRPr kumimoji="1" lang="ko-KR" altLang="en-US" dirty="0"/>
          </a:p>
        </p:txBody>
      </p:sp>
      <p:sp>
        <p:nvSpPr>
          <p:cNvPr id="4" name="슬라이드 번호 개체 틀 3"/>
          <p:cNvSpPr>
            <a:spLocks noGrp="1"/>
          </p:cNvSpPr>
          <p:nvPr>
            <p:ph type="sldNum" sz="quarter" idx="5"/>
          </p:nvPr>
        </p:nvSpPr>
        <p:spPr/>
        <p:txBody>
          <a:bodyPr/>
          <a:lstStyle/>
          <a:p>
            <a:fld id="{68358C1E-621D-4606-AE43-57F7814AEF90}" type="slidenum">
              <a:rPr lang="ko-KR" altLang="en-US" smtClean="0"/>
              <a:t>24</a:t>
            </a:fld>
            <a:endParaRPr lang="ko-KR" altLang="en-US"/>
          </a:p>
        </p:txBody>
      </p:sp>
    </p:spTree>
    <p:extLst>
      <p:ext uri="{BB962C8B-B14F-4D97-AF65-F5344CB8AC3E}">
        <p14:creationId xmlns:p14="http://schemas.microsoft.com/office/powerpoint/2010/main" val="1508181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263A68-2AC2-4F48-9DC8-B64FC0E3A18A}"/>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C8963E3-3C75-3466-F0F4-9C5E7A10F4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9457E88-7398-0B31-7A89-95566CE40BF1}"/>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5" name="바닥글 개체 틀 4">
            <a:extLst>
              <a:ext uri="{FF2B5EF4-FFF2-40B4-BE49-F238E27FC236}">
                <a16:creationId xmlns:a16="http://schemas.microsoft.com/office/drawing/2014/main" id="{8B46B25E-633C-0767-1426-11684A64F0E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5943BB2-F461-3DBA-99D1-6EF5EF5D97B3}"/>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1244739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AD7E9B-E7B0-5BC8-3B5F-BA482BEBAA3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757BE706-E6F1-FFF3-B111-A341CC6F5F9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D9CE45A-5573-650B-4F75-DB140C667DA1}"/>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5" name="바닥글 개체 틀 4">
            <a:extLst>
              <a:ext uri="{FF2B5EF4-FFF2-40B4-BE49-F238E27FC236}">
                <a16:creationId xmlns:a16="http://schemas.microsoft.com/office/drawing/2014/main" id="{FDED9B2D-0C2D-B485-9605-2E6A12143B9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7F8C39C-9E44-6C7C-E964-4EF8D36FAD52}"/>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3492571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04510C-2FAE-C9C7-75DF-68B49E994AD4}"/>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76E4A273-6B67-2BA7-FDCB-2354BA7D00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64F181EB-49AB-4CBE-C720-528C8344CED1}"/>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5" name="바닥글 개체 틀 4">
            <a:extLst>
              <a:ext uri="{FF2B5EF4-FFF2-40B4-BE49-F238E27FC236}">
                <a16:creationId xmlns:a16="http://schemas.microsoft.com/office/drawing/2014/main" id="{786F67C5-B5E1-D1DF-B340-BD37B8EB88C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0F0C228-1B48-81BE-371E-234B68988713}"/>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1065628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078B515-ABA2-435A-A9F3-6F28F35A35C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7410A7-4349-54A6-6C5E-598B5C8EAD31}"/>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4AD02302-4CF2-D99F-9A26-658687EF163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1B609C8B-1D95-8374-9C50-0884F0037C7A}"/>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6" name="바닥글 개체 틀 5">
            <a:extLst>
              <a:ext uri="{FF2B5EF4-FFF2-40B4-BE49-F238E27FC236}">
                <a16:creationId xmlns:a16="http://schemas.microsoft.com/office/drawing/2014/main" id="{7586A3C7-B42D-B93C-FB2F-F67E3D9E90B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49A0A00-5D21-222E-D3B5-23439A792C83}"/>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892955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1888F6-DBC4-5133-E643-FCCA4CA274C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C2B44E-9480-1B2F-D42C-E74CEE4680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A18A0F7C-F7F5-B6EB-0998-0DE6B00F1CA5}"/>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EB60BB53-077B-1F20-4B9C-104FDF28A8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92E8B47-26FB-39D7-CDC9-114BAD0AF1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BDCA0A13-E7F2-EBDD-FBEE-C5A300A47110}"/>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8" name="바닥글 개체 틀 7">
            <a:extLst>
              <a:ext uri="{FF2B5EF4-FFF2-40B4-BE49-F238E27FC236}">
                <a16:creationId xmlns:a16="http://schemas.microsoft.com/office/drawing/2014/main" id="{32D4E972-04F8-6B73-F3DC-6879E05B9D49}"/>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5A2EEC3C-F59E-B39F-CB56-297BA0683C1D}"/>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3653862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80B1BB-C333-5015-A127-1D119D64EBB6}"/>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2C7BE389-7811-604C-9A99-F5DCC4B1B3E0}"/>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4" name="바닥글 개체 틀 3">
            <a:extLst>
              <a:ext uri="{FF2B5EF4-FFF2-40B4-BE49-F238E27FC236}">
                <a16:creationId xmlns:a16="http://schemas.microsoft.com/office/drawing/2014/main" id="{D0A6DC31-22DD-B51A-B8B1-9565C9D8546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AD0DB15D-D549-CF3D-B287-6B592A580CE5}"/>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1805853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146AE3D-9518-4BFC-E38D-D538B9968E21}"/>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3" name="바닥글 개체 틀 2">
            <a:extLst>
              <a:ext uri="{FF2B5EF4-FFF2-40B4-BE49-F238E27FC236}">
                <a16:creationId xmlns:a16="http://schemas.microsoft.com/office/drawing/2014/main" id="{23E9E5C1-3660-67A2-C298-DC66F746470B}"/>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50AD7AB-BFD8-C98A-292E-A35550AE6D07}"/>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74713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5F25FAE-9359-4601-F141-13832C9F305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36CA25F5-D973-881A-0D03-CE420EB04A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1DB6D840-5433-2C1C-5C63-FCE271C6DB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80B7126E-014D-E61F-4574-87D393EFCDE9}"/>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6" name="바닥글 개체 틀 5">
            <a:extLst>
              <a:ext uri="{FF2B5EF4-FFF2-40B4-BE49-F238E27FC236}">
                <a16:creationId xmlns:a16="http://schemas.microsoft.com/office/drawing/2014/main" id="{C785A158-A534-D334-F4F5-345611BEC4E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D791946-89F3-467E-D3FC-3A490E6016E5}"/>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822361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456C09-859C-A4C2-19E6-E897157E183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F790BBE-F540-75C1-23BB-36AB7706F6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D6911FDF-D5C0-3F69-2AF1-1D40476F8D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769936CE-4C66-53BB-60CC-134BF600114F}"/>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6" name="바닥글 개체 틀 5">
            <a:extLst>
              <a:ext uri="{FF2B5EF4-FFF2-40B4-BE49-F238E27FC236}">
                <a16:creationId xmlns:a16="http://schemas.microsoft.com/office/drawing/2014/main" id="{5F0F1038-33D5-523B-FF29-BE3B3A426EB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3E21935-BC7D-2C1E-8A49-A11BECF1DFB2}"/>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3548229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61861F-2615-843F-5857-770C7DAE64CF}"/>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BB2F0A04-6403-7811-7EB6-E3D32DBC856B}"/>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11684F0-03DA-70C7-1DC7-BC86DC50B797}"/>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5" name="바닥글 개체 틀 4">
            <a:extLst>
              <a:ext uri="{FF2B5EF4-FFF2-40B4-BE49-F238E27FC236}">
                <a16:creationId xmlns:a16="http://schemas.microsoft.com/office/drawing/2014/main" id="{FEF2EBDE-EEAF-37A7-C35C-ADD3BCB44A7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958E7D-9B00-52BC-8B80-7A0366026612}"/>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2400780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8CB84CF2-7487-E955-E807-19B13D826FB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987C34C-E486-A749-D6D2-F8B6A34C7ADE}"/>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C89214B-E826-8A2E-40FA-3D22B460C862}"/>
              </a:ext>
            </a:extLst>
          </p:cNvPr>
          <p:cNvSpPr>
            <a:spLocks noGrp="1"/>
          </p:cNvSpPr>
          <p:nvPr>
            <p:ph type="dt" sz="half" idx="10"/>
          </p:nvPr>
        </p:nvSpPr>
        <p:spPr/>
        <p:txBody>
          <a:bodyPr/>
          <a:lstStyle/>
          <a:p>
            <a:fld id="{5A33C437-57EF-4233-935C-4E1A70149F05}" type="datetimeFigureOut">
              <a:rPr lang="ko-KR" altLang="en-US" smtClean="0"/>
              <a:t>2025. 11. 17.</a:t>
            </a:fld>
            <a:endParaRPr lang="ko-KR" altLang="en-US"/>
          </a:p>
        </p:txBody>
      </p:sp>
      <p:sp>
        <p:nvSpPr>
          <p:cNvPr id="5" name="바닥글 개체 틀 4">
            <a:extLst>
              <a:ext uri="{FF2B5EF4-FFF2-40B4-BE49-F238E27FC236}">
                <a16:creationId xmlns:a16="http://schemas.microsoft.com/office/drawing/2014/main" id="{682EFAA3-4D5D-5814-BAC2-B5081463274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657C339-527B-91CC-4900-2151F07C5FDB}"/>
              </a:ext>
            </a:extLst>
          </p:cNvPr>
          <p:cNvSpPr>
            <a:spLocks noGrp="1"/>
          </p:cNvSpPr>
          <p:nvPr>
            <p:ph type="sldNum" sz="quarter" idx="12"/>
          </p:nvPr>
        </p:nvSpPr>
        <p:spPr/>
        <p:txBody>
          <a:body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3725484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DE573E9-4637-B479-FBAE-AD188247EF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E576517-CC8E-217C-595B-9CC5443A29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3B77277-033E-CACE-BA70-860664C5DB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33C437-57EF-4233-935C-4E1A70149F05}" type="datetimeFigureOut">
              <a:rPr lang="ko-KR" altLang="en-US" smtClean="0"/>
              <a:t>2025. 11. 17.</a:t>
            </a:fld>
            <a:endParaRPr lang="ko-KR" altLang="en-US"/>
          </a:p>
        </p:txBody>
      </p:sp>
      <p:sp>
        <p:nvSpPr>
          <p:cNvPr id="5" name="바닥글 개체 틀 4">
            <a:extLst>
              <a:ext uri="{FF2B5EF4-FFF2-40B4-BE49-F238E27FC236}">
                <a16:creationId xmlns:a16="http://schemas.microsoft.com/office/drawing/2014/main" id="{7DB16955-4AF9-B2CB-99CA-D2C5DEA8E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D22DDC70-75B8-24AB-45FA-84271E626A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341C86-0E97-47F7-9799-9B782DE0A53F}" type="slidenum">
              <a:rPr lang="ko-KR" altLang="en-US" smtClean="0"/>
              <a:t>‹#›</a:t>
            </a:fld>
            <a:endParaRPr lang="ko-KR" altLang="en-US"/>
          </a:p>
        </p:txBody>
      </p:sp>
    </p:spTree>
    <p:extLst>
      <p:ext uri="{BB962C8B-B14F-4D97-AF65-F5344CB8AC3E}">
        <p14:creationId xmlns:p14="http://schemas.microsoft.com/office/powerpoint/2010/main" val="1106352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matplotlib.org/" TargetMode="External"/><Relationship Id="rId3" Type="http://schemas.openxmlformats.org/officeDocument/2006/relationships/hyperlink" Target="https://grouplens.org/datasets/movielens/1m/" TargetMode="External"/><Relationship Id="rId7" Type="http://schemas.openxmlformats.org/officeDocument/2006/relationships/hyperlink" Target="https://github.com/tqdm/tqdm"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pypi.org/project/matrix-factorization/" TargetMode="External"/><Relationship Id="rId5" Type="http://schemas.openxmlformats.org/officeDocument/2006/relationships/hyperlink" Target="https://surpriselib.com/" TargetMode="External"/><Relationship Id="rId4" Type="http://schemas.openxmlformats.org/officeDocument/2006/relationships/hyperlink" Target="https://grouplens.org/datasets/movielens/100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213950" y="1388923"/>
            <a:ext cx="6829936" cy="1829567"/>
          </a:xfrm>
          <a:prstGeom prst="rect">
            <a:avLst/>
          </a:prstGeom>
        </p:spPr>
        <p:txBody>
          <a:bodyPr lIns="0" tIns="0" rIns="0" bIns="0" rtlCol="0" anchor="ctr"/>
          <a:lstStyle/>
          <a:p>
            <a:pPr lvl="0" algn="r">
              <a:lnSpc>
                <a:spcPct val="106240"/>
              </a:lnSpc>
            </a:pPr>
            <a:r>
              <a:rPr lang="en-US" altLang="ko-KR" sz="3600" dirty="0">
                <a:latin typeface="본고딕" panose="020B0500000000000000" pitchFamily="34" charset="-127"/>
                <a:ea typeface="본고딕" panose="020B0500000000000000" pitchFamily="34" charset="-127"/>
              </a:rPr>
              <a:t>Movie recommendation system </a:t>
            </a:r>
            <a:endParaRPr lang="en-US" sz="4000" b="1" dirty="0">
              <a:solidFill>
                <a:srgbClr val="4C50BB"/>
              </a:solidFill>
              <a:latin typeface="Bebas"/>
            </a:endParaRPr>
          </a:p>
        </p:txBody>
      </p:sp>
      <p:pic>
        <p:nvPicPr>
          <p:cNvPr id="5" name="Picture 5"/>
          <p:cNvPicPr>
            <a:picLocks noChangeAspect="1"/>
          </p:cNvPicPr>
          <p:nvPr/>
        </p:nvPicPr>
        <p:blipFill>
          <a:blip r:embed="rId3"/>
          <a:stretch>
            <a:fillRect/>
          </a:stretch>
        </p:blipFill>
        <p:spPr>
          <a:xfrm>
            <a:off x="7683926" y="1829567"/>
            <a:ext cx="3359960" cy="103560"/>
          </a:xfrm>
          <a:prstGeom prst="rect">
            <a:avLst/>
          </a:prstGeom>
        </p:spPr>
      </p:pic>
      <p:pic>
        <p:nvPicPr>
          <p:cNvPr id="6" name="Picture 6"/>
          <p:cNvPicPr>
            <a:picLocks noChangeAspect="1"/>
          </p:cNvPicPr>
          <p:nvPr/>
        </p:nvPicPr>
        <p:blipFill>
          <a:blip r:embed="rId4">
            <a:alphaModFix amt="12000"/>
          </a:blip>
          <a:stretch>
            <a:fillRect/>
          </a:stretch>
        </p:blipFill>
        <p:spPr>
          <a:xfrm>
            <a:off x="-300773" y="-21799"/>
            <a:ext cx="2957225" cy="2934211"/>
          </a:xfrm>
          <a:prstGeom prst="rect">
            <a:avLst/>
          </a:prstGeom>
        </p:spPr>
      </p:pic>
      <p:pic>
        <p:nvPicPr>
          <p:cNvPr id="7" name="Picture 7"/>
          <p:cNvPicPr>
            <a:picLocks noChangeAspect="1"/>
          </p:cNvPicPr>
          <p:nvPr/>
        </p:nvPicPr>
        <p:blipFill>
          <a:blip r:embed="rId5">
            <a:alphaModFix amt="12000"/>
          </a:blip>
          <a:stretch>
            <a:fillRect/>
          </a:stretch>
        </p:blipFill>
        <p:spPr>
          <a:xfrm>
            <a:off x="8489396" y="4199949"/>
            <a:ext cx="2554490" cy="2531477"/>
          </a:xfrm>
          <a:prstGeom prst="rect">
            <a:avLst/>
          </a:prstGeom>
        </p:spPr>
      </p:pic>
      <p:pic>
        <p:nvPicPr>
          <p:cNvPr id="8" name="Picture 8"/>
          <p:cNvPicPr>
            <a:picLocks noChangeAspect="1"/>
          </p:cNvPicPr>
          <p:nvPr/>
        </p:nvPicPr>
        <p:blipFill>
          <a:blip r:embed="rId6">
            <a:alphaModFix amt="21000"/>
          </a:blip>
          <a:stretch>
            <a:fillRect/>
          </a:stretch>
        </p:blipFill>
        <p:spPr>
          <a:xfrm>
            <a:off x="2644946" y="2268037"/>
            <a:ext cx="1898607" cy="1887101"/>
          </a:xfrm>
          <a:prstGeom prst="rect">
            <a:avLst/>
          </a:prstGeom>
        </p:spPr>
      </p:pic>
      <p:pic>
        <p:nvPicPr>
          <p:cNvPr id="9" name="Picture 9"/>
          <p:cNvPicPr>
            <a:picLocks noChangeAspect="1"/>
          </p:cNvPicPr>
          <p:nvPr/>
        </p:nvPicPr>
        <p:blipFill>
          <a:blip r:embed="rId7"/>
          <a:stretch>
            <a:fillRect/>
          </a:stretch>
        </p:blipFill>
        <p:spPr>
          <a:xfrm>
            <a:off x="918939" y="2831865"/>
            <a:ext cx="1254232" cy="1254232"/>
          </a:xfrm>
          <a:prstGeom prst="rect">
            <a:avLst/>
          </a:prstGeom>
        </p:spPr>
      </p:pic>
      <p:grpSp>
        <p:nvGrpSpPr>
          <p:cNvPr id="11" name="Group 11"/>
          <p:cNvGrpSpPr/>
          <p:nvPr/>
        </p:nvGrpSpPr>
        <p:grpSpPr>
          <a:xfrm>
            <a:off x="1948210009" y="1945706660"/>
            <a:ext cx="1945706660" cy="1945706660"/>
            <a:chOff x="1948210009" y="1945706660"/>
            <a:chExt cx="1945706660" cy="1945706660"/>
          </a:xfrm>
        </p:grpSpPr>
      </p:grpSp>
      <p:grpSp>
        <p:nvGrpSpPr>
          <p:cNvPr id="14" name="Group 14"/>
          <p:cNvGrpSpPr/>
          <p:nvPr/>
        </p:nvGrpSpPr>
        <p:grpSpPr>
          <a:xfrm>
            <a:off x="1948210009" y="1945706660"/>
            <a:ext cx="1945706660" cy="1945706660"/>
            <a:chOff x="1948210009" y="1945706660"/>
            <a:chExt cx="1945706660" cy="1945706660"/>
          </a:xfrm>
        </p:grpSpPr>
      </p:grpSp>
      <p:grpSp>
        <p:nvGrpSpPr>
          <p:cNvPr id="17" name="Group 17"/>
          <p:cNvGrpSpPr/>
          <p:nvPr/>
        </p:nvGrpSpPr>
        <p:grpSpPr>
          <a:xfrm>
            <a:off x="1948210009" y="1945706660"/>
            <a:ext cx="1945706660" cy="1945706660"/>
            <a:chOff x="1948210009" y="1945706660"/>
            <a:chExt cx="1945706660" cy="1945706660"/>
          </a:xfrm>
        </p:grpSpPr>
      </p:grpSp>
      <p:pic>
        <p:nvPicPr>
          <p:cNvPr id="20" name="Picture 20"/>
          <p:cNvPicPr>
            <a:picLocks noChangeAspect="1"/>
          </p:cNvPicPr>
          <p:nvPr/>
        </p:nvPicPr>
        <p:blipFill>
          <a:blip r:embed="rId8"/>
          <a:stretch>
            <a:fillRect/>
          </a:stretch>
        </p:blipFill>
        <p:spPr>
          <a:xfrm rot="-2700000">
            <a:off x="1459754" y="1347500"/>
            <a:ext cx="2255315" cy="2255315"/>
          </a:xfrm>
          <a:prstGeom prst="rect">
            <a:avLst/>
          </a:prstGeom>
        </p:spPr>
      </p:pic>
      <p:pic>
        <p:nvPicPr>
          <p:cNvPr id="4" name="Picture 2">
            <a:extLst>
              <a:ext uri="{FF2B5EF4-FFF2-40B4-BE49-F238E27FC236}">
                <a16:creationId xmlns:a16="http://schemas.microsoft.com/office/drawing/2014/main" id="{FCFC86A5-0875-1AE3-B3FB-9552BE663CB5}"/>
              </a:ext>
            </a:extLst>
          </p:cNvPr>
          <p:cNvPicPr>
            <a:picLocks noChangeAspect="1"/>
          </p:cNvPicPr>
          <p:nvPr/>
        </p:nvPicPr>
        <p:blipFill>
          <a:blip r:embed="rId9"/>
          <a:stretch>
            <a:fillRect/>
          </a:stretch>
        </p:blipFill>
        <p:spPr>
          <a:xfrm rot="10800000">
            <a:off x="952500" y="4924873"/>
            <a:ext cx="1070124" cy="103560"/>
          </a:xfrm>
          <a:prstGeom prst="rect">
            <a:avLst/>
          </a:prstGeom>
        </p:spPr>
      </p:pic>
      <p:sp>
        <p:nvSpPr>
          <p:cNvPr id="10" name="TextBox 13">
            <a:extLst>
              <a:ext uri="{FF2B5EF4-FFF2-40B4-BE49-F238E27FC236}">
                <a16:creationId xmlns:a16="http://schemas.microsoft.com/office/drawing/2014/main" id="{545CA192-264A-C47A-DE25-204AFCBC6B44}"/>
              </a:ext>
            </a:extLst>
          </p:cNvPr>
          <p:cNvSpPr txBox="1"/>
          <p:nvPr/>
        </p:nvSpPr>
        <p:spPr>
          <a:xfrm>
            <a:off x="952499" y="5106476"/>
            <a:ext cx="2258386" cy="359211"/>
          </a:xfrm>
          <a:prstGeom prst="rect">
            <a:avLst/>
          </a:prstGeom>
        </p:spPr>
        <p:txBody>
          <a:bodyPr lIns="0" tIns="0" rIns="0" bIns="0" rtlCol="0" anchor="ctr"/>
          <a:lstStyle/>
          <a:p>
            <a:pPr>
              <a:lnSpc>
                <a:spcPct val="149316"/>
              </a:lnSpc>
            </a:pPr>
            <a:r>
              <a:rPr lang="en-US" sz="2000" spc="-91" dirty="0">
                <a:solidFill>
                  <a:srgbClr val="4C4747"/>
                </a:solidFill>
                <a:latin typeface="본고딕" panose="020B0500000000000000" pitchFamily="34" charset="-127"/>
                <a:ea typeface="본고딕" panose="020B0500000000000000" pitchFamily="34" charset="-127"/>
              </a:rPr>
              <a:t>Team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291B171-BEA2-7A88-F610-FB428A0FDA50}"/>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Business objective</a:t>
            </a:r>
            <a:endParaRPr lang="ko-KR" altLang="en-US" sz="2800" dirty="0">
              <a:latin typeface="본고딕" panose="020B0500000000000000" pitchFamily="34" charset="-127"/>
              <a:ea typeface="본고딕" panose="020B0500000000000000" pitchFamily="34" charset="-127"/>
            </a:endParaRPr>
          </a:p>
        </p:txBody>
      </p:sp>
      <p:cxnSp>
        <p:nvCxnSpPr>
          <p:cNvPr id="6" name="직선 연결선 5">
            <a:extLst>
              <a:ext uri="{FF2B5EF4-FFF2-40B4-BE49-F238E27FC236}">
                <a16:creationId xmlns:a16="http://schemas.microsoft.com/office/drawing/2014/main" id="{3A3F4CA1-2F9B-D1B8-98E9-32BE11E982D0}"/>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3" name="TextBox 13">
            <a:extLst>
              <a:ext uri="{FF2B5EF4-FFF2-40B4-BE49-F238E27FC236}">
                <a16:creationId xmlns:a16="http://schemas.microsoft.com/office/drawing/2014/main" id="{50FA0B41-61A0-B8A7-4F60-C53188E9C9C3}"/>
              </a:ext>
            </a:extLst>
          </p:cNvPr>
          <p:cNvSpPr txBox="1"/>
          <p:nvPr/>
        </p:nvSpPr>
        <p:spPr>
          <a:xfrm>
            <a:off x="838199" y="1431320"/>
            <a:ext cx="10582275" cy="3597877"/>
          </a:xfrm>
          <a:prstGeom prst="rect">
            <a:avLst/>
          </a:prstGeom>
        </p:spPr>
        <p:txBody>
          <a:bodyPr lIns="0" tIns="0" rIns="0" bIns="0" rtlCol="0" anchor="ctr"/>
          <a:lstStyle/>
          <a:p>
            <a:pPr>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Analyzing the user's past movie rating data</a:t>
            </a:r>
          </a:p>
          <a:p>
            <a:pPr>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Predicting and recommending "movies that you're likely to like" that you haven't seen yet</a:t>
            </a:r>
          </a:p>
          <a:p>
            <a:pPr>
              <a:lnSpc>
                <a:spcPct val="149316"/>
              </a:lnSpc>
            </a:pPr>
            <a:endParaRPr lang="en-US" altLang="ko-KR" sz="2000" spc="-91" dirty="0">
              <a:solidFill>
                <a:srgbClr val="4C4747"/>
              </a:solidFill>
              <a:latin typeface="본고딕" panose="020B0500000000000000" pitchFamily="34" charset="-127"/>
              <a:ea typeface="본고딕" panose="020B0500000000000000" pitchFamily="34" charset="-127"/>
            </a:endParaRPr>
          </a:p>
          <a:p>
            <a:pPr marL="342900"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Understanding user preferences through rating patterns</a:t>
            </a:r>
          </a:p>
          <a:p>
            <a:pPr marL="342900"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Providing personalized recommendations</a:t>
            </a:r>
          </a:p>
          <a:p>
            <a:pPr marL="342900"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Improving selection efficiency</a:t>
            </a:r>
          </a:p>
          <a:p>
            <a:pPr marL="342900" indent="-342900">
              <a:lnSpc>
                <a:spcPct val="149316"/>
              </a:lnSpc>
              <a:buFontTx/>
              <a:buChar char="-"/>
            </a:pPr>
            <a:endParaRPr lang="en-US" sz="2000" spc="-91" dirty="0">
              <a:solidFill>
                <a:srgbClr val="4C4747"/>
              </a:solidFill>
              <a:latin typeface="본고딕" panose="020B0500000000000000" pitchFamily="34" charset="-127"/>
              <a:ea typeface="본고딕" panose="020B0500000000000000" pitchFamily="34" charset="-127"/>
            </a:endParaRPr>
          </a:p>
          <a:p>
            <a:pPr>
              <a:lnSpc>
                <a:spcPct val="149316"/>
              </a:lnSpc>
            </a:pPr>
            <a:r>
              <a:rPr lang="en-US" sz="2400" spc="-91" dirty="0">
                <a:solidFill>
                  <a:srgbClr val="4C4747"/>
                </a:solidFill>
                <a:latin typeface="본고딕" panose="020B0500000000000000" pitchFamily="34" charset="-127"/>
                <a:ea typeface="본고딕" panose="020B0500000000000000" pitchFamily="34" charset="-127"/>
              </a:rPr>
              <a:t>-&gt;   Application domain is “Movie Recommendation System”</a:t>
            </a:r>
          </a:p>
        </p:txBody>
      </p:sp>
    </p:spTree>
    <p:extLst>
      <p:ext uri="{BB962C8B-B14F-4D97-AF65-F5344CB8AC3E}">
        <p14:creationId xmlns:p14="http://schemas.microsoft.com/office/powerpoint/2010/main" val="392661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2A248E6-95C7-0E40-62B1-2F269B8B103A}"/>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Data exploration</a:t>
            </a:r>
            <a:endParaRPr lang="ko-KR" altLang="en-US" sz="2800" dirty="0">
              <a:latin typeface="본고딕" panose="020B0500000000000000" pitchFamily="34" charset="-127"/>
              <a:ea typeface="본고딕" panose="020B0500000000000000" pitchFamily="34" charset="-127"/>
            </a:endParaRPr>
          </a:p>
        </p:txBody>
      </p:sp>
      <p:cxnSp>
        <p:nvCxnSpPr>
          <p:cNvPr id="3" name="직선 연결선 2">
            <a:extLst>
              <a:ext uri="{FF2B5EF4-FFF2-40B4-BE49-F238E27FC236}">
                <a16:creationId xmlns:a16="http://schemas.microsoft.com/office/drawing/2014/main" id="{4209A975-3283-7091-68D3-760DB149CEC8}"/>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4" name="TextBox 13">
            <a:extLst>
              <a:ext uri="{FF2B5EF4-FFF2-40B4-BE49-F238E27FC236}">
                <a16:creationId xmlns:a16="http://schemas.microsoft.com/office/drawing/2014/main" id="{9CC329B8-555E-9962-D995-2BA14A4C4251}"/>
              </a:ext>
            </a:extLst>
          </p:cNvPr>
          <p:cNvSpPr txBox="1"/>
          <p:nvPr/>
        </p:nvSpPr>
        <p:spPr>
          <a:xfrm>
            <a:off x="838199" y="1431320"/>
            <a:ext cx="10582275" cy="4402839"/>
          </a:xfrm>
          <a:prstGeom prst="rect">
            <a:avLst/>
          </a:prstGeom>
        </p:spPr>
        <p:txBody>
          <a:bodyPr lIns="0" tIns="0" rIns="0" bIns="0" rtlCol="0" anchor="ctr"/>
          <a:lstStyle/>
          <a:p>
            <a:pPr>
              <a:lnSpc>
                <a:spcPct val="149316"/>
              </a:lnSpc>
            </a:pPr>
            <a:r>
              <a:rPr lang="en-US" altLang="ko-KR" sz="2400" spc="-91" dirty="0">
                <a:solidFill>
                  <a:srgbClr val="4C4747"/>
                </a:solidFill>
                <a:latin typeface="본고딕" panose="020B0500000000000000" pitchFamily="34" charset="-127"/>
                <a:ea typeface="본고딕" panose="020B0500000000000000" pitchFamily="34" charset="-127"/>
              </a:rPr>
              <a:t>MovieLens 1M Dataset – for training</a:t>
            </a:r>
          </a:p>
          <a:p>
            <a:pPr marL="342900"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Rating: 1,000,209 ratings (1-5)</a:t>
            </a:r>
          </a:p>
          <a:p>
            <a:pPr marL="342900"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User: 6,040 users</a:t>
            </a:r>
          </a:p>
          <a:p>
            <a:pPr marL="342900"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Movie: 3,900 movies</a:t>
            </a:r>
          </a:p>
          <a:p>
            <a:pPr marL="342900"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Column</a:t>
            </a:r>
            <a:r>
              <a:rPr lang="ko-KR" altLang="en-US" sz="2000" spc="-91" dirty="0">
                <a:solidFill>
                  <a:srgbClr val="4C4747"/>
                </a:solidFill>
                <a:latin typeface="본고딕" panose="020B0500000000000000" pitchFamily="34" charset="-127"/>
                <a:ea typeface="본고딕" panose="020B0500000000000000" pitchFamily="34" charset="-127"/>
              </a:rPr>
              <a:t> </a:t>
            </a:r>
            <a:r>
              <a:rPr lang="en-US" altLang="ko-KR" sz="2000" spc="-91" dirty="0">
                <a:solidFill>
                  <a:srgbClr val="4C4747"/>
                </a:solidFill>
                <a:latin typeface="본고딕" panose="020B0500000000000000" pitchFamily="34" charset="-127"/>
                <a:ea typeface="본고딕" panose="020B0500000000000000" pitchFamily="34" charset="-127"/>
              </a:rPr>
              <a:t>description</a:t>
            </a:r>
          </a:p>
          <a:p>
            <a:pPr marL="800100" lvl="1" indent="-342900">
              <a:lnSpc>
                <a:spcPct val="149316"/>
              </a:lnSpc>
              <a:buFontTx/>
              <a:buChar char="-"/>
            </a:pPr>
            <a:r>
              <a:rPr lang="en-US" spc="-91" dirty="0" err="1">
                <a:solidFill>
                  <a:srgbClr val="4C4747"/>
                </a:solidFill>
                <a:latin typeface="본고딕" panose="020B0500000000000000" pitchFamily="34" charset="-127"/>
                <a:ea typeface="본고딕" panose="020B0500000000000000" pitchFamily="34" charset="-127"/>
              </a:rPr>
              <a:t>userId</a:t>
            </a:r>
            <a:r>
              <a:rPr lang="en-US" spc="-91" dirty="0">
                <a:solidFill>
                  <a:srgbClr val="4C4747"/>
                </a:solidFill>
                <a:latin typeface="본고딕" panose="020B0500000000000000" pitchFamily="34" charset="-127"/>
                <a:ea typeface="본고딕" panose="020B0500000000000000" pitchFamily="34" charset="-127"/>
              </a:rPr>
              <a:t> : unique ID of user who evaluated movie</a:t>
            </a:r>
          </a:p>
          <a:p>
            <a:pPr marL="800100" lvl="1" indent="-342900">
              <a:lnSpc>
                <a:spcPct val="149316"/>
              </a:lnSpc>
              <a:buFontTx/>
              <a:buChar char="-"/>
            </a:pPr>
            <a:r>
              <a:rPr lang="en-US" spc="-91" dirty="0" err="1">
                <a:solidFill>
                  <a:srgbClr val="4C4747"/>
                </a:solidFill>
                <a:latin typeface="본고딕" panose="020B0500000000000000" pitchFamily="34" charset="-127"/>
                <a:ea typeface="본고딕" panose="020B0500000000000000" pitchFamily="34" charset="-127"/>
              </a:rPr>
              <a:t>movieId</a:t>
            </a:r>
            <a:r>
              <a:rPr lang="en-US" spc="-91" dirty="0">
                <a:solidFill>
                  <a:srgbClr val="4C4747"/>
                </a:solidFill>
                <a:latin typeface="본고딕" panose="020B0500000000000000" pitchFamily="34" charset="-127"/>
                <a:ea typeface="본고딕" panose="020B0500000000000000" pitchFamily="34" charset="-127"/>
              </a:rPr>
              <a:t> : unique ID of movie</a:t>
            </a:r>
          </a:p>
          <a:p>
            <a:pPr marL="800100" lvl="1"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rating : rating value that user gave to movie</a:t>
            </a:r>
          </a:p>
          <a:p>
            <a:pPr marL="800100" lvl="1"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timestamp : when assessment was made</a:t>
            </a:r>
          </a:p>
          <a:p>
            <a:pPr marL="800100" lvl="1"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title : title of movie (year)</a:t>
            </a:r>
          </a:p>
        </p:txBody>
      </p:sp>
    </p:spTree>
    <p:extLst>
      <p:ext uri="{BB962C8B-B14F-4D97-AF65-F5344CB8AC3E}">
        <p14:creationId xmlns:p14="http://schemas.microsoft.com/office/powerpoint/2010/main" val="4160700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A9622-154B-DE3B-3CAF-B7E9FCBA94E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0F51E67-157F-1FFE-8132-35D9D211265A}"/>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Data exploration</a:t>
            </a:r>
            <a:endParaRPr lang="ko-KR" altLang="en-US" sz="2800" dirty="0">
              <a:latin typeface="본고딕" panose="020B0500000000000000" pitchFamily="34" charset="-127"/>
              <a:ea typeface="본고딕" panose="020B0500000000000000" pitchFamily="34" charset="-127"/>
            </a:endParaRPr>
          </a:p>
        </p:txBody>
      </p:sp>
      <p:cxnSp>
        <p:nvCxnSpPr>
          <p:cNvPr id="3" name="직선 연결선 2">
            <a:extLst>
              <a:ext uri="{FF2B5EF4-FFF2-40B4-BE49-F238E27FC236}">
                <a16:creationId xmlns:a16="http://schemas.microsoft.com/office/drawing/2014/main" id="{1AE6F001-AFAF-3D5A-612B-0FB460A141CF}"/>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4" name="TextBox 13">
            <a:extLst>
              <a:ext uri="{FF2B5EF4-FFF2-40B4-BE49-F238E27FC236}">
                <a16:creationId xmlns:a16="http://schemas.microsoft.com/office/drawing/2014/main" id="{C7AD15FB-EC15-FB11-B28A-5C012CF6E22F}"/>
              </a:ext>
            </a:extLst>
          </p:cNvPr>
          <p:cNvSpPr txBox="1"/>
          <p:nvPr/>
        </p:nvSpPr>
        <p:spPr>
          <a:xfrm>
            <a:off x="838199" y="1431320"/>
            <a:ext cx="10582275" cy="4402839"/>
          </a:xfrm>
          <a:prstGeom prst="rect">
            <a:avLst/>
          </a:prstGeom>
        </p:spPr>
        <p:txBody>
          <a:bodyPr lIns="0" tIns="0" rIns="0" bIns="0" rtlCol="0" anchor="ctr"/>
          <a:lstStyle/>
          <a:p>
            <a:pPr>
              <a:lnSpc>
                <a:spcPct val="149316"/>
              </a:lnSpc>
            </a:pPr>
            <a:r>
              <a:rPr lang="en-US" altLang="ko-KR" sz="2400" spc="-91" dirty="0">
                <a:solidFill>
                  <a:srgbClr val="4C4747"/>
                </a:solidFill>
                <a:latin typeface="본고딕" panose="020B0500000000000000" pitchFamily="34" charset="-127"/>
                <a:ea typeface="본고딕" panose="020B0500000000000000" pitchFamily="34" charset="-127"/>
              </a:rPr>
              <a:t>MovieLens 100K Dataset - for testing</a:t>
            </a:r>
          </a:p>
          <a:p>
            <a:pPr marL="342900"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Rating: 100,000 ratings (1-5)</a:t>
            </a:r>
          </a:p>
          <a:p>
            <a:pPr marL="342900"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User: 943 users</a:t>
            </a:r>
          </a:p>
          <a:p>
            <a:pPr marL="342900"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Movie: 1,682 movies</a:t>
            </a:r>
          </a:p>
          <a:p>
            <a:pPr marL="342900"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Column</a:t>
            </a:r>
            <a:r>
              <a:rPr lang="ko-KR" altLang="en-US" sz="2000" spc="-91" dirty="0">
                <a:solidFill>
                  <a:srgbClr val="4C4747"/>
                </a:solidFill>
                <a:latin typeface="본고딕" panose="020B0500000000000000" pitchFamily="34" charset="-127"/>
                <a:ea typeface="본고딕" panose="020B0500000000000000" pitchFamily="34" charset="-127"/>
              </a:rPr>
              <a:t> </a:t>
            </a:r>
            <a:r>
              <a:rPr lang="en-US" altLang="ko-KR" sz="2000" spc="-91" dirty="0">
                <a:solidFill>
                  <a:srgbClr val="4C4747"/>
                </a:solidFill>
                <a:latin typeface="본고딕" panose="020B0500000000000000" pitchFamily="34" charset="-127"/>
                <a:ea typeface="본고딕" panose="020B0500000000000000" pitchFamily="34" charset="-127"/>
              </a:rPr>
              <a:t>description</a:t>
            </a:r>
          </a:p>
          <a:p>
            <a:pPr marL="800100" lvl="1" indent="-342900">
              <a:lnSpc>
                <a:spcPct val="149316"/>
              </a:lnSpc>
              <a:buFontTx/>
              <a:buChar char="-"/>
            </a:pPr>
            <a:r>
              <a:rPr lang="en-US" spc="-91" dirty="0" err="1">
                <a:solidFill>
                  <a:srgbClr val="4C4747"/>
                </a:solidFill>
                <a:latin typeface="본고딕" panose="020B0500000000000000" pitchFamily="34" charset="-127"/>
                <a:ea typeface="본고딕" panose="020B0500000000000000" pitchFamily="34" charset="-127"/>
              </a:rPr>
              <a:t>userId</a:t>
            </a:r>
            <a:r>
              <a:rPr lang="en-US" spc="-91" dirty="0">
                <a:solidFill>
                  <a:srgbClr val="4C4747"/>
                </a:solidFill>
                <a:latin typeface="본고딕" panose="020B0500000000000000" pitchFamily="34" charset="-127"/>
                <a:ea typeface="본고딕" panose="020B0500000000000000" pitchFamily="34" charset="-127"/>
              </a:rPr>
              <a:t> : unique ID of user who evaluated movie</a:t>
            </a:r>
          </a:p>
          <a:p>
            <a:pPr marL="800100" lvl="1" indent="-342900">
              <a:lnSpc>
                <a:spcPct val="149316"/>
              </a:lnSpc>
              <a:buFontTx/>
              <a:buChar char="-"/>
            </a:pPr>
            <a:r>
              <a:rPr lang="en-US" spc="-91" dirty="0" err="1">
                <a:solidFill>
                  <a:srgbClr val="4C4747"/>
                </a:solidFill>
                <a:latin typeface="본고딕" panose="020B0500000000000000" pitchFamily="34" charset="-127"/>
                <a:ea typeface="본고딕" panose="020B0500000000000000" pitchFamily="34" charset="-127"/>
              </a:rPr>
              <a:t>movieId</a:t>
            </a:r>
            <a:r>
              <a:rPr lang="en-US" spc="-91" dirty="0">
                <a:solidFill>
                  <a:srgbClr val="4C4747"/>
                </a:solidFill>
                <a:latin typeface="본고딕" panose="020B0500000000000000" pitchFamily="34" charset="-127"/>
                <a:ea typeface="본고딕" panose="020B0500000000000000" pitchFamily="34" charset="-127"/>
              </a:rPr>
              <a:t> : unique ID of movie</a:t>
            </a:r>
          </a:p>
          <a:p>
            <a:pPr marL="800100" lvl="1"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rating : rating value that user gave to movie</a:t>
            </a:r>
          </a:p>
          <a:p>
            <a:pPr marL="800100" lvl="1"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timestamp : when assessment was made</a:t>
            </a:r>
          </a:p>
          <a:p>
            <a:pPr marL="800100" lvl="1" indent="-342900">
              <a:lnSpc>
                <a:spcPct val="149316"/>
              </a:lnSpc>
              <a:buFontTx/>
              <a:buChar char="-"/>
            </a:pPr>
            <a:r>
              <a:rPr lang="en-US" spc="-91" dirty="0">
                <a:solidFill>
                  <a:srgbClr val="4C4747"/>
                </a:solidFill>
                <a:latin typeface="본고딕" panose="020B0500000000000000" pitchFamily="34" charset="-127"/>
                <a:ea typeface="본고딕" panose="020B0500000000000000" pitchFamily="34" charset="-127"/>
              </a:rPr>
              <a:t>title : title of movie (year)</a:t>
            </a:r>
          </a:p>
        </p:txBody>
      </p:sp>
    </p:spTree>
    <p:extLst>
      <p:ext uri="{BB962C8B-B14F-4D97-AF65-F5344CB8AC3E}">
        <p14:creationId xmlns:p14="http://schemas.microsoft.com/office/powerpoint/2010/main" val="711609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A031B4A-5A05-87B0-47FF-2DCE2C4F518F}"/>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Data preprocessing</a:t>
            </a:r>
            <a:endParaRPr lang="ko-KR" altLang="en-US" sz="2800" dirty="0">
              <a:latin typeface="본고딕" panose="020B0500000000000000" pitchFamily="34" charset="-127"/>
              <a:ea typeface="본고딕" panose="020B0500000000000000" pitchFamily="34" charset="-127"/>
            </a:endParaRPr>
          </a:p>
        </p:txBody>
      </p:sp>
      <p:cxnSp>
        <p:nvCxnSpPr>
          <p:cNvPr id="3" name="직선 연결선 2">
            <a:extLst>
              <a:ext uri="{FF2B5EF4-FFF2-40B4-BE49-F238E27FC236}">
                <a16:creationId xmlns:a16="http://schemas.microsoft.com/office/drawing/2014/main" id="{1B047F2B-8BEC-05E1-EEBD-03938BF441AE}"/>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8" name="TextBox 13">
            <a:extLst>
              <a:ext uri="{FF2B5EF4-FFF2-40B4-BE49-F238E27FC236}">
                <a16:creationId xmlns:a16="http://schemas.microsoft.com/office/drawing/2014/main" id="{E43CFE29-EA07-6839-DC3F-6376CAC5F54F}"/>
              </a:ext>
            </a:extLst>
          </p:cNvPr>
          <p:cNvSpPr txBox="1"/>
          <p:nvPr/>
        </p:nvSpPr>
        <p:spPr>
          <a:xfrm>
            <a:off x="838199" y="1431320"/>
            <a:ext cx="10582275" cy="4402839"/>
          </a:xfrm>
          <a:prstGeom prst="rect">
            <a:avLst/>
          </a:prstGeom>
        </p:spPr>
        <p:txBody>
          <a:bodyPr lIns="0" tIns="0" rIns="0" bIns="0" rtlCol="0" anchor="ctr"/>
          <a:lstStyle/>
          <a:p>
            <a:pPr marL="457200" indent="-457200">
              <a:lnSpc>
                <a:spcPct val="149316"/>
              </a:lnSpc>
              <a:buAutoNum type="arabicPeriod"/>
            </a:pPr>
            <a:r>
              <a:rPr lang="en-US" altLang="ko-KR" sz="2400" spc="-91" dirty="0">
                <a:solidFill>
                  <a:srgbClr val="4C4747"/>
                </a:solidFill>
                <a:latin typeface="본고딕" panose="020B0500000000000000" pitchFamily="34" charset="-127"/>
                <a:ea typeface="본고딕" panose="020B0500000000000000" pitchFamily="34" charset="-127"/>
              </a:rPr>
              <a:t>Data Merging</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Merged ratings and movies datasets on the </a:t>
            </a:r>
            <a:r>
              <a:rPr lang="en-US" altLang="ko-KR" sz="2000" spc="-91" dirty="0" err="1">
                <a:solidFill>
                  <a:srgbClr val="4C4747"/>
                </a:solidFill>
                <a:latin typeface="본고딕" panose="020B0500000000000000" pitchFamily="34" charset="-127"/>
                <a:ea typeface="본고딕" panose="020B0500000000000000" pitchFamily="34" charset="-127"/>
              </a:rPr>
              <a:t>movieId</a:t>
            </a:r>
            <a:r>
              <a:rPr lang="en-US" altLang="ko-KR" sz="2000" spc="-91" dirty="0">
                <a:solidFill>
                  <a:srgbClr val="4C4747"/>
                </a:solidFill>
                <a:latin typeface="본고딕" panose="020B0500000000000000" pitchFamily="34" charset="-127"/>
                <a:ea typeface="본고딕" panose="020B0500000000000000" pitchFamily="34" charset="-127"/>
              </a:rPr>
              <a:t> key</a:t>
            </a:r>
          </a:p>
          <a:p>
            <a:pPr marL="800100" lvl="1"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a:p>
            <a:pPr marL="457200" indent="-457200">
              <a:lnSpc>
                <a:spcPct val="149316"/>
              </a:lnSpc>
              <a:buAutoNum type="arabicPeriod"/>
            </a:pPr>
            <a:r>
              <a:rPr lang="en-US" sz="2400" spc="-91" dirty="0">
                <a:solidFill>
                  <a:srgbClr val="4C4747"/>
                </a:solidFill>
                <a:latin typeface="본고딕" panose="020B0500000000000000" pitchFamily="34" charset="-127"/>
                <a:ea typeface="본고딕" panose="020B0500000000000000" pitchFamily="34" charset="-127"/>
              </a:rPr>
              <a:t>Label Encoding</a:t>
            </a:r>
          </a:p>
          <a:p>
            <a:pPr marL="800100" lvl="1" indent="-342900">
              <a:lnSpc>
                <a:spcPct val="149316"/>
              </a:lnSpc>
              <a:buFontTx/>
              <a:buChar char="-"/>
            </a:pPr>
            <a:r>
              <a:rPr lang="en-US" sz="2000" spc="-91" dirty="0">
                <a:solidFill>
                  <a:srgbClr val="4C4747"/>
                </a:solidFill>
                <a:latin typeface="본고딕" panose="020B0500000000000000" pitchFamily="34" charset="-127"/>
                <a:ea typeface="본고딕" panose="020B0500000000000000" pitchFamily="34" charset="-127"/>
              </a:rPr>
              <a:t>Converted </a:t>
            </a:r>
            <a:r>
              <a:rPr lang="en-US" sz="2000" spc="-91" dirty="0" err="1">
                <a:solidFill>
                  <a:srgbClr val="4C4747"/>
                </a:solidFill>
                <a:latin typeface="본고딕" panose="020B0500000000000000" pitchFamily="34" charset="-127"/>
                <a:ea typeface="본고딕" panose="020B0500000000000000" pitchFamily="34" charset="-127"/>
              </a:rPr>
              <a:t>userId</a:t>
            </a:r>
            <a:r>
              <a:rPr lang="en-US" sz="2000" spc="-91" dirty="0">
                <a:solidFill>
                  <a:srgbClr val="4C4747"/>
                </a:solidFill>
                <a:latin typeface="본고딕" panose="020B0500000000000000" pitchFamily="34" charset="-127"/>
                <a:ea typeface="본고딕" panose="020B0500000000000000" pitchFamily="34" charset="-127"/>
              </a:rPr>
              <a:t> and </a:t>
            </a:r>
            <a:r>
              <a:rPr lang="en-US" sz="2000" spc="-91" dirty="0" err="1">
                <a:solidFill>
                  <a:srgbClr val="4C4747"/>
                </a:solidFill>
                <a:latin typeface="본고딕" panose="020B0500000000000000" pitchFamily="34" charset="-127"/>
                <a:ea typeface="본고딕" panose="020B0500000000000000" pitchFamily="34" charset="-127"/>
              </a:rPr>
              <a:t>movieId</a:t>
            </a:r>
            <a:r>
              <a:rPr lang="en-US" sz="2000" spc="-91" dirty="0">
                <a:solidFill>
                  <a:srgbClr val="4C4747"/>
                </a:solidFill>
                <a:latin typeface="본고딕" panose="020B0500000000000000" pitchFamily="34" charset="-127"/>
                <a:ea typeface="본고딕" panose="020B0500000000000000" pitchFamily="34" charset="-127"/>
              </a:rPr>
              <a:t> into unique integer IDs</a:t>
            </a:r>
          </a:p>
          <a:p>
            <a:pPr marL="800100" lvl="1" indent="-342900">
              <a:lnSpc>
                <a:spcPct val="149316"/>
              </a:lnSpc>
              <a:buFontTx/>
              <a:buChar char="-"/>
            </a:pPr>
            <a:endParaRPr lang="en-US" sz="2000" spc="-91" dirty="0">
              <a:solidFill>
                <a:srgbClr val="4C4747"/>
              </a:solidFill>
              <a:latin typeface="본고딕" panose="020B0500000000000000" pitchFamily="34" charset="-127"/>
              <a:ea typeface="본고딕" panose="020B0500000000000000" pitchFamily="34" charset="-127"/>
            </a:endParaRPr>
          </a:p>
          <a:p>
            <a:pPr marL="457200" indent="-457200">
              <a:lnSpc>
                <a:spcPct val="149316"/>
              </a:lnSpc>
              <a:buAutoNum type="arabicPeriod"/>
            </a:pPr>
            <a:r>
              <a:rPr lang="en-US" sz="2400" spc="-91" dirty="0">
                <a:solidFill>
                  <a:srgbClr val="4C4747"/>
                </a:solidFill>
                <a:latin typeface="본고딕" panose="020B0500000000000000" pitchFamily="34" charset="-127"/>
                <a:ea typeface="본고딕" panose="020B0500000000000000" pitchFamily="34" charset="-127"/>
              </a:rPr>
              <a:t>Structure Normalization</a:t>
            </a:r>
          </a:p>
          <a:p>
            <a:pPr lvl="1">
              <a:lnSpc>
                <a:spcPct val="149316"/>
              </a:lnSpc>
            </a:pPr>
            <a:r>
              <a:rPr lang="en-US" sz="2000" spc="-91" dirty="0">
                <a:solidFill>
                  <a:srgbClr val="4C4747"/>
                </a:solidFill>
                <a:latin typeface="본고딕" panose="020B0500000000000000" pitchFamily="34" charset="-127"/>
                <a:ea typeface="본고딕" panose="020B0500000000000000" pitchFamily="34" charset="-127"/>
              </a:rPr>
              <a:t>- Standardized both datasets (100k &amp; 1M) into a uniform structure.</a:t>
            </a:r>
          </a:p>
        </p:txBody>
      </p:sp>
    </p:spTree>
    <p:extLst>
      <p:ext uri="{BB962C8B-B14F-4D97-AF65-F5344CB8AC3E}">
        <p14:creationId xmlns:p14="http://schemas.microsoft.com/office/powerpoint/2010/main" val="1349802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FF7B-FFC2-C5C2-8647-356AFAFA26F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46EEAAB-95B0-076B-0FE0-4CEAB977AD75}"/>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Data preprocessing</a:t>
            </a:r>
            <a:endParaRPr lang="ko-KR" altLang="en-US" sz="2800" dirty="0">
              <a:latin typeface="본고딕" panose="020B0500000000000000" pitchFamily="34" charset="-127"/>
              <a:ea typeface="본고딕" panose="020B0500000000000000" pitchFamily="34" charset="-127"/>
            </a:endParaRPr>
          </a:p>
        </p:txBody>
      </p:sp>
      <p:cxnSp>
        <p:nvCxnSpPr>
          <p:cNvPr id="3" name="직선 연결선 2">
            <a:extLst>
              <a:ext uri="{FF2B5EF4-FFF2-40B4-BE49-F238E27FC236}">
                <a16:creationId xmlns:a16="http://schemas.microsoft.com/office/drawing/2014/main" id="{B3F41B1B-319E-05E9-9CC1-49FBE2CB7E08}"/>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pic>
        <p:nvPicPr>
          <p:cNvPr id="5" name="그림 4">
            <a:extLst>
              <a:ext uri="{FF2B5EF4-FFF2-40B4-BE49-F238E27FC236}">
                <a16:creationId xmlns:a16="http://schemas.microsoft.com/office/drawing/2014/main" id="{7D9AAC5A-AA9C-3A07-B802-AE197DD9C913}"/>
              </a:ext>
            </a:extLst>
          </p:cNvPr>
          <p:cNvPicPr>
            <a:picLocks noChangeAspect="1"/>
          </p:cNvPicPr>
          <p:nvPr/>
        </p:nvPicPr>
        <p:blipFill>
          <a:blip r:embed="rId3"/>
          <a:stretch>
            <a:fillRect/>
          </a:stretch>
        </p:blipFill>
        <p:spPr>
          <a:xfrm>
            <a:off x="1236694" y="2428735"/>
            <a:ext cx="2624091" cy="2675044"/>
          </a:xfrm>
          <a:prstGeom prst="rect">
            <a:avLst/>
          </a:prstGeom>
        </p:spPr>
      </p:pic>
      <p:sp>
        <p:nvSpPr>
          <p:cNvPr id="6" name="TextBox 13">
            <a:extLst>
              <a:ext uri="{FF2B5EF4-FFF2-40B4-BE49-F238E27FC236}">
                <a16:creationId xmlns:a16="http://schemas.microsoft.com/office/drawing/2014/main" id="{EFCF0D88-E3D3-57A1-C09D-2E3755E0C58E}"/>
              </a:ext>
            </a:extLst>
          </p:cNvPr>
          <p:cNvSpPr txBox="1"/>
          <p:nvPr/>
        </p:nvSpPr>
        <p:spPr>
          <a:xfrm>
            <a:off x="1236695" y="1902450"/>
            <a:ext cx="1097943" cy="394696"/>
          </a:xfrm>
          <a:prstGeom prst="rect">
            <a:avLst/>
          </a:prstGeom>
        </p:spPr>
        <p:txBody>
          <a:bodyPr lIns="0" tIns="0" rIns="0" bIns="0" rtlCol="0" anchor="ctr"/>
          <a:lstStyle/>
          <a:p>
            <a:pPr>
              <a:lnSpc>
                <a:spcPct val="149316"/>
              </a:lnSpc>
            </a:pPr>
            <a:r>
              <a:rPr lang="en-US" sz="2400" spc="-91" dirty="0" err="1">
                <a:solidFill>
                  <a:srgbClr val="4C4747"/>
                </a:solidFill>
                <a:latin typeface="본고딕" panose="020B0500000000000000" pitchFamily="34" charset="-127"/>
                <a:ea typeface="본고딕" panose="020B0500000000000000" pitchFamily="34" charset="-127"/>
              </a:rPr>
              <a:t>u.data</a:t>
            </a:r>
            <a:endParaRPr lang="en-US" sz="2400" spc="-91" dirty="0">
              <a:solidFill>
                <a:srgbClr val="4C4747"/>
              </a:solidFill>
              <a:latin typeface="본고딕" panose="020B0500000000000000" pitchFamily="34" charset="-127"/>
              <a:ea typeface="본고딕" panose="020B0500000000000000" pitchFamily="34" charset="-127"/>
            </a:endParaRPr>
          </a:p>
        </p:txBody>
      </p:sp>
      <p:pic>
        <p:nvPicPr>
          <p:cNvPr id="11" name="그림 10">
            <a:extLst>
              <a:ext uri="{FF2B5EF4-FFF2-40B4-BE49-F238E27FC236}">
                <a16:creationId xmlns:a16="http://schemas.microsoft.com/office/drawing/2014/main" id="{6981D505-CD22-68AF-F376-0043CCB7F77F}"/>
              </a:ext>
            </a:extLst>
          </p:cNvPr>
          <p:cNvPicPr>
            <a:picLocks noChangeAspect="1"/>
          </p:cNvPicPr>
          <p:nvPr/>
        </p:nvPicPr>
        <p:blipFill>
          <a:blip r:embed="rId4"/>
          <a:srcRect r="28207"/>
          <a:stretch>
            <a:fillRect/>
          </a:stretch>
        </p:blipFill>
        <p:spPr>
          <a:xfrm>
            <a:off x="4160468" y="2428735"/>
            <a:ext cx="7108207" cy="2132120"/>
          </a:xfrm>
          <a:prstGeom prst="rect">
            <a:avLst/>
          </a:prstGeom>
        </p:spPr>
      </p:pic>
      <p:sp>
        <p:nvSpPr>
          <p:cNvPr id="12" name="TextBox 13">
            <a:extLst>
              <a:ext uri="{FF2B5EF4-FFF2-40B4-BE49-F238E27FC236}">
                <a16:creationId xmlns:a16="http://schemas.microsoft.com/office/drawing/2014/main" id="{844EA613-3586-2227-4EDC-E33173DD3CC9}"/>
              </a:ext>
            </a:extLst>
          </p:cNvPr>
          <p:cNvSpPr txBox="1"/>
          <p:nvPr/>
        </p:nvSpPr>
        <p:spPr>
          <a:xfrm>
            <a:off x="4160469" y="1902450"/>
            <a:ext cx="1097943" cy="394696"/>
          </a:xfrm>
          <a:prstGeom prst="rect">
            <a:avLst/>
          </a:prstGeom>
        </p:spPr>
        <p:txBody>
          <a:bodyPr lIns="0" tIns="0" rIns="0" bIns="0" rtlCol="0" anchor="ctr"/>
          <a:lstStyle/>
          <a:p>
            <a:pPr>
              <a:lnSpc>
                <a:spcPct val="149316"/>
              </a:lnSpc>
            </a:pPr>
            <a:r>
              <a:rPr lang="en-US" sz="2400" spc="-91" dirty="0" err="1">
                <a:solidFill>
                  <a:srgbClr val="4C4747"/>
                </a:solidFill>
                <a:latin typeface="본고딕" panose="020B0500000000000000" pitchFamily="34" charset="-127"/>
                <a:ea typeface="본고딕" panose="020B0500000000000000" pitchFamily="34" charset="-127"/>
              </a:rPr>
              <a:t>u.item</a:t>
            </a:r>
            <a:endParaRPr lang="en-US" sz="2400"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2339292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BBB51-C1E7-2B56-DC2F-2F02553CB9C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63A038D-0D8A-FF19-D0F3-027FB305B8C4}"/>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Data preprocessing</a:t>
            </a:r>
            <a:endParaRPr lang="ko-KR" altLang="en-US" sz="2800" dirty="0">
              <a:latin typeface="본고딕" panose="020B0500000000000000" pitchFamily="34" charset="-127"/>
              <a:ea typeface="본고딕" panose="020B0500000000000000" pitchFamily="34" charset="-127"/>
            </a:endParaRPr>
          </a:p>
        </p:txBody>
      </p:sp>
      <p:cxnSp>
        <p:nvCxnSpPr>
          <p:cNvPr id="3" name="직선 연결선 2">
            <a:extLst>
              <a:ext uri="{FF2B5EF4-FFF2-40B4-BE49-F238E27FC236}">
                <a16:creationId xmlns:a16="http://schemas.microsoft.com/office/drawing/2014/main" id="{47E67A96-9255-ECCF-A9D5-31CE01AF6A44}"/>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6" name="TextBox 13">
            <a:extLst>
              <a:ext uri="{FF2B5EF4-FFF2-40B4-BE49-F238E27FC236}">
                <a16:creationId xmlns:a16="http://schemas.microsoft.com/office/drawing/2014/main" id="{286622D6-A0A5-52F2-A0DD-ED576F1B8418}"/>
              </a:ext>
            </a:extLst>
          </p:cNvPr>
          <p:cNvSpPr txBox="1"/>
          <p:nvPr/>
        </p:nvSpPr>
        <p:spPr>
          <a:xfrm>
            <a:off x="1236695" y="1902450"/>
            <a:ext cx="2615458" cy="394696"/>
          </a:xfrm>
          <a:prstGeom prst="rect">
            <a:avLst/>
          </a:prstGeom>
        </p:spPr>
        <p:txBody>
          <a:bodyPr lIns="0" tIns="0" rIns="0" bIns="0" rtlCol="0" anchor="ctr"/>
          <a:lstStyle/>
          <a:p>
            <a:pPr>
              <a:lnSpc>
                <a:spcPct val="149316"/>
              </a:lnSpc>
            </a:pPr>
            <a:r>
              <a:rPr lang="en-US" sz="2400" spc="-91" dirty="0">
                <a:solidFill>
                  <a:srgbClr val="4C4747"/>
                </a:solidFill>
                <a:latin typeface="본고딕" panose="020B0500000000000000" pitchFamily="34" charset="-127"/>
                <a:ea typeface="본고딕" panose="020B0500000000000000" pitchFamily="34" charset="-127"/>
              </a:rPr>
              <a:t>preprocessed_100k</a:t>
            </a:r>
          </a:p>
        </p:txBody>
      </p:sp>
      <p:pic>
        <p:nvPicPr>
          <p:cNvPr id="9" name="그림 8">
            <a:extLst>
              <a:ext uri="{FF2B5EF4-FFF2-40B4-BE49-F238E27FC236}">
                <a16:creationId xmlns:a16="http://schemas.microsoft.com/office/drawing/2014/main" id="{329555AD-1802-A76E-7FF7-A2206D805D64}"/>
              </a:ext>
            </a:extLst>
          </p:cNvPr>
          <p:cNvPicPr>
            <a:picLocks noChangeAspect="1"/>
          </p:cNvPicPr>
          <p:nvPr/>
        </p:nvPicPr>
        <p:blipFill>
          <a:blip r:embed="rId3"/>
          <a:stretch>
            <a:fillRect/>
          </a:stretch>
        </p:blipFill>
        <p:spPr>
          <a:xfrm>
            <a:off x="1070861" y="2559937"/>
            <a:ext cx="10050278" cy="2295845"/>
          </a:xfrm>
          <a:prstGeom prst="rect">
            <a:avLst/>
          </a:prstGeom>
        </p:spPr>
      </p:pic>
    </p:spTree>
    <p:extLst>
      <p:ext uri="{BB962C8B-B14F-4D97-AF65-F5344CB8AC3E}">
        <p14:creationId xmlns:p14="http://schemas.microsoft.com/office/powerpoint/2010/main" val="3793497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005D6-A825-1FF2-A241-85F80EA8538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4A6CB8A-990C-BC80-0B05-F162828E58CC}"/>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Modeling - Memory-Based Collaborative Filtering</a:t>
            </a:r>
            <a:endParaRPr lang="ko-KR" altLang="en-US" sz="2800" dirty="0">
              <a:latin typeface="본고딕" panose="020B0500000000000000" pitchFamily="34" charset="-127"/>
              <a:ea typeface="본고딕" panose="020B0500000000000000" pitchFamily="34" charset="-127"/>
            </a:endParaRPr>
          </a:p>
        </p:txBody>
      </p:sp>
      <p:cxnSp>
        <p:nvCxnSpPr>
          <p:cNvPr id="4" name="직선 연결선 3">
            <a:extLst>
              <a:ext uri="{FF2B5EF4-FFF2-40B4-BE49-F238E27FC236}">
                <a16:creationId xmlns:a16="http://schemas.microsoft.com/office/drawing/2014/main" id="{DB253340-9EBA-0CF0-4A85-1E8B615E9C68}"/>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5" name="TextBox 13">
            <a:extLst>
              <a:ext uri="{FF2B5EF4-FFF2-40B4-BE49-F238E27FC236}">
                <a16:creationId xmlns:a16="http://schemas.microsoft.com/office/drawing/2014/main" id="{71998195-BCC5-A09E-B02F-C8AA2D04576F}"/>
              </a:ext>
            </a:extLst>
          </p:cNvPr>
          <p:cNvSpPr txBox="1"/>
          <p:nvPr/>
        </p:nvSpPr>
        <p:spPr>
          <a:xfrm>
            <a:off x="838199" y="1431320"/>
            <a:ext cx="10582275" cy="2150079"/>
          </a:xfrm>
          <a:prstGeom prst="rect">
            <a:avLst/>
          </a:prstGeom>
        </p:spPr>
        <p:txBody>
          <a:bodyPr lIns="0" tIns="0" rIns="0" bIns="0" rtlCol="0" anchor="ctr"/>
          <a:lstStyle/>
          <a:p>
            <a:pPr marL="457200" indent="-457200">
              <a:lnSpc>
                <a:spcPct val="149316"/>
              </a:lnSpc>
              <a:buAutoNum type="arabicPeriod"/>
            </a:pPr>
            <a:r>
              <a:rPr lang="en-US" altLang="ko-KR" sz="2400" spc="-91" dirty="0">
                <a:solidFill>
                  <a:srgbClr val="4C4747"/>
                </a:solidFill>
                <a:latin typeface="본고딕" panose="020B0500000000000000" pitchFamily="34" charset="-127"/>
                <a:ea typeface="본고딕" panose="020B0500000000000000" pitchFamily="34" charset="-127"/>
              </a:rPr>
              <a:t>Approach : Item-Based Collaborative Filtering (I-KNN)</a:t>
            </a:r>
          </a:p>
          <a:p>
            <a:pPr marL="457200" indent="-457200">
              <a:lnSpc>
                <a:spcPct val="149316"/>
              </a:lnSpc>
              <a:buAutoNum type="arabicPeriod"/>
            </a:pPr>
            <a:r>
              <a:rPr lang="en-US" altLang="ko-KR" sz="2400" spc="-91" dirty="0">
                <a:solidFill>
                  <a:srgbClr val="4C4747"/>
                </a:solidFill>
                <a:latin typeface="본고딕" panose="020B0500000000000000" pitchFamily="34" charset="-127"/>
                <a:ea typeface="본고딕" panose="020B0500000000000000" pitchFamily="34" charset="-127"/>
              </a:rPr>
              <a:t>Library : </a:t>
            </a:r>
            <a:r>
              <a:rPr lang="en-US" altLang="ko-KR" sz="2400" spc="-91" dirty="0" err="1">
                <a:solidFill>
                  <a:srgbClr val="4C4747"/>
                </a:solidFill>
                <a:latin typeface="본고딕" panose="020B0500000000000000" pitchFamily="34" charset="-127"/>
                <a:ea typeface="본고딕" panose="020B0500000000000000" pitchFamily="34" charset="-127"/>
              </a:rPr>
              <a:t>surprise.KNNBasic</a:t>
            </a:r>
            <a:endParaRPr lang="en-US" altLang="ko-KR" sz="2400" spc="-91" dirty="0">
              <a:solidFill>
                <a:srgbClr val="4C4747"/>
              </a:solidFill>
              <a:latin typeface="본고딕" panose="020B0500000000000000" pitchFamily="34" charset="-127"/>
              <a:ea typeface="본고딕" panose="020B0500000000000000" pitchFamily="34" charset="-127"/>
            </a:endParaRPr>
          </a:p>
          <a:p>
            <a:pPr marL="457200" indent="-457200">
              <a:lnSpc>
                <a:spcPct val="149316"/>
              </a:lnSpc>
              <a:buAutoNum type="arabicPeriod"/>
            </a:pPr>
            <a:r>
              <a:rPr lang="en-US" altLang="ko-KR" sz="2400" spc="-91" dirty="0">
                <a:solidFill>
                  <a:srgbClr val="4C4747"/>
                </a:solidFill>
                <a:latin typeface="본고딕" panose="020B0500000000000000" pitchFamily="34" charset="-127"/>
                <a:ea typeface="본고딕" panose="020B0500000000000000" pitchFamily="34" charset="-127"/>
              </a:rPr>
              <a:t>Concept : Analyzes item-to-item similarity</a:t>
            </a:r>
          </a:p>
          <a:p>
            <a:pPr marL="800100" lvl="1"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3064672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FD066-272F-06CD-77C2-18C03117510D}"/>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B9196E1-30FD-6CCE-FEAF-17D0D951D0B6}"/>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Modeling - Model-Based Collaborative Filtering</a:t>
            </a:r>
            <a:endParaRPr lang="ko-KR" altLang="en-US" sz="2800" dirty="0">
              <a:latin typeface="본고딕" panose="020B0500000000000000" pitchFamily="34" charset="-127"/>
              <a:ea typeface="본고딕" panose="020B0500000000000000" pitchFamily="34" charset="-127"/>
            </a:endParaRPr>
          </a:p>
        </p:txBody>
      </p:sp>
      <p:cxnSp>
        <p:nvCxnSpPr>
          <p:cNvPr id="4" name="직선 연결선 3">
            <a:extLst>
              <a:ext uri="{FF2B5EF4-FFF2-40B4-BE49-F238E27FC236}">
                <a16:creationId xmlns:a16="http://schemas.microsoft.com/office/drawing/2014/main" id="{5893B662-C2E7-CB97-6C98-5CE9F7869C67}"/>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5" name="TextBox 13">
            <a:extLst>
              <a:ext uri="{FF2B5EF4-FFF2-40B4-BE49-F238E27FC236}">
                <a16:creationId xmlns:a16="http://schemas.microsoft.com/office/drawing/2014/main" id="{F5D01B72-7F41-4202-16FF-AC0F5F3336CC}"/>
              </a:ext>
            </a:extLst>
          </p:cNvPr>
          <p:cNvSpPr txBox="1"/>
          <p:nvPr/>
        </p:nvSpPr>
        <p:spPr>
          <a:xfrm>
            <a:off x="838199" y="1431320"/>
            <a:ext cx="10582275" cy="1530955"/>
          </a:xfrm>
          <a:prstGeom prst="rect">
            <a:avLst/>
          </a:prstGeom>
        </p:spPr>
        <p:txBody>
          <a:bodyPr lIns="0" tIns="0" rIns="0" bIns="0" rtlCol="0" anchor="ctr"/>
          <a:lstStyle/>
          <a:p>
            <a:pPr marL="457200" indent="-457200">
              <a:lnSpc>
                <a:spcPct val="149316"/>
              </a:lnSpc>
              <a:buAutoNum type="arabicPeriod"/>
            </a:pPr>
            <a:r>
              <a:rPr lang="en-US" altLang="ko-KR" sz="2400" spc="-91" dirty="0">
                <a:solidFill>
                  <a:srgbClr val="4C4747"/>
                </a:solidFill>
                <a:latin typeface="본고딕" panose="020B0500000000000000" pitchFamily="34" charset="-127"/>
                <a:ea typeface="본고딕" panose="020B0500000000000000" pitchFamily="34" charset="-127"/>
              </a:rPr>
              <a:t>Approach : Matrix Factorization (MF)</a:t>
            </a:r>
          </a:p>
          <a:p>
            <a:pPr marL="457200" indent="-457200">
              <a:lnSpc>
                <a:spcPct val="149316"/>
              </a:lnSpc>
              <a:buAutoNum type="arabicPeriod"/>
            </a:pPr>
            <a:r>
              <a:rPr lang="en-US" altLang="ko-KR" sz="2400" spc="-91" dirty="0">
                <a:solidFill>
                  <a:srgbClr val="4C4747"/>
                </a:solidFill>
                <a:latin typeface="본고딕" panose="020B0500000000000000" pitchFamily="34" charset="-127"/>
                <a:ea typeface="본고딕" panose="020B0500000000000000" pitchFamily="34" charset="-127"/>
              </a:rPr>
              <a:t>Library : </a:t>
            </a:r>
            <a:r>
              <a:rPr lang="en-US" altLang="ko-KR" sz="2400" spc="-91" dirty="0" err="1">
                <a:solidFill>
                  <a:srgbClr val="4C4747"/>
                </a:solidFill>
                <a:latin typeface="본고딕" panose="020B0500000000000000" pitchFamily="34" charset="-127"/>
                <a:ea typeface="본고딕" panose="020B0500000000000000" pitchFamily="34" charset="-127"/>
              </a:rPr>
              <a:t>matrix_factorization.KernelMF</a:t>
            </a:r>
            <a:endParaRPr lang="en-US" altLang="ko-KR" sz="2000" spc="-91" dirty="0">
              <a:solidFill>
                <a:srgbClr val="4C4747"/>
              </a:solidFill>
              <a:latin typeface="본고딕" panose="020B0500000000000000" pitchFamily="34" charset="-127"/>
              <a:ea typeface="본고딕" panose="020B0500000000000000" pitchFamily="34" charset="-127"/>
            </a:endParaRPr>
          </a:p>
          <a:p>
            <a:pPr marL="800100" lvl="1"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3026289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1A14A-BA71-C657-F0B5-59E9BDCFEE7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30A4AE0-B3CB-3AFD-32D4-F6961C64B62C}"/>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Modeling - Model-Based Collaborative Filtering</a:t>
            </a:r>
            <a:endParaRPr lang="ko-KR" altLang="en-US" sz="2800" dirty="0">
              <a:latin typeface="본고딕" panose="020B0500000000000000" pitchFamily="34" charset="-127"/>
              <a:ea typeface="본고딕" panose="020B0500000000000000" pitchFamily="34" charset="-127"/>
            </a:endParaRPr>
          </a:p>
        </p:txBody>
      </p:sp>
      <p:cxnSp>
        <p:nvCxnSpPr>
          <p:cNvPr id="4" name="직선 연결선 3">
            <a:extLst>
              <a:ext uri="{FF2B5EF4-FFF2-40B4-BE49-F238E27FC236}">
                <a16:creationId xmlns:a16="http://schemas.microsoft.com/office/drawing/2014/main" id="{51185568-ADBA-EFC4-26FF-34200698917E}"/>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pic>
        <p:nvPicPr>
          <p:cNvPr id="10" name="그림 9" descr="텍스트, 스크린샷, 소프트웨어이(가) 표시된 사진&#10;&#10;AI 생성 콘텐츠는 정확하지 않을 수 있습니다.">
            <a:extLst>
              <a:ext uri="{FF2B5EF4-FFF2-40B4-BE49-F238E27FC236}">
                <a16:creationId xmlns:a16="http://schemas.microsoft.com/office/drawing/2014/main" id="{20AEC3B0-5CE8-57A7-B09E-F39E75927A7A}"/>
              </a:ext>
            </a:extLst>
          </p:cNvPr>
          <p:cNvPicPr>
            <a:picLocks noChangeAspect="1"/>
          </p:cNvPicPr>
          <p:nvPr/>
        </p:nvPicPr>
        <p:blipFill>
          <a:blip r:embed="rId3">
            <a:extLst>
              <a:ext uri="{28A0092B-C50C-407E-A947-70E740481C1C}">
                <a14:useLocalDpi xmlns:a14="http://schemas.microsoft.com/office/drawing/2010/main" val="0"/>
              </a:ext>
            </a:extLst>
          </a:blip>
          <a:srcRect t="5915" b="3961"/>
          <a:stretch>
            <a:fillRect/>
          </a:stretch>
        </p:blipFill>
        <p:spPr>
          <a:xfrm>
            <a:off x="2075235" y="1308650"/>
            <a:ext cx="9195880" cy="5313894"/>
          </a:xfrm>
          <a:prstGeom prst="rect">
            <a:avLst/>
          </a:prstGeom>
        </p:spPr>
      </p:pic>
      <p:sp>
        <p:nvSpPr>
          <p:cNvPr id="3" name="TextBox 13">
            <a:extLst>
              <a:ext uri="{FF2B5EF4-FFF2-40B4-BE49-F238E27FC236}">
                <a16:creationId xmlns:a16="http://schemas.microsoft.com/office/drawing/2014/main" id="{D979A47F-E967-3EC0-E5F9-94BB83DEA9DA}"/>
              </a:ext>
            </a:extLst>
          </p:cNvPr>
          <p:cNvSpPr txBox="1"/>
          <p:nvPr/>
        </p:nvSpPr>
        <p:spPr>
          <a:xfrm>
            <a:off x="838200" y="1218330"/>
            <a:ext cx="3869988" cy="464216"/>
          </a:xfrm>
          <a:prstGeom prst="rect">
            <a:avLst/>
          </a:prstGeom>
        </p:spPr>
        <p:txBody>
          <a:bodyPr lIns="0" tIns="0" rIns="0" bIns="0" rtlCol="0" anchor="ctr"/>
          <a:lstStyle/>
          <a:p>
            <a:pPr>
              <a:lnSpc>
                <a:spcPct val="149316"/>
              </a:lnSpc>
            </a:pPr>
            <a:r>
              <a:rPr lang="en-US" altLang="ko-KR" sz="2400" spc="-91" dirty="0">
                <a:solidFill>
                  <a:srgbClr val="4C4747"/>
                </a:solidFill>
                <a:latin typeface="본고딕" panose="020B0500000000000000" pitchFamily="34" charset="-127"/>
                <a:ea typeface="본고딕" panose="020B0500000000000000" pitchFamily="34" charset="-127"/>
              </a:rPr>
              <a:t>Output</a:t>
            </a:r>
            <a:endParaRPr lang="en-US" altLang="ko-KR"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2720517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0FA2E-175D-8176-786F-1CBA65F3770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736F658-7E13-E65F-9BA5-5E0CD311ED3F}"/>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model evaluation and analysis</a:t>
            </a:r>
            <a:endParaRPr lang="ko-KR" altLang="en-US" sz="2800" dirty="0">
              <a:latin typeface="본고딕" panose="020B0500000000000000" pitchFamily="34" charset="-127"/>
              <a:ea typeface="본고딕" panose="020B0500000000000000" pitchFamily="34" charset="-127"/>
            </a:endParaRPr>
          </a:p>
        </p:txBody>
      </p:sp>
      <p:cxnSp>
        <p:nvCxnSpPr>
          <p:cNvPr id="4" name="직선 연결선 3">
            <a:extLst>
              <a:ext uri="{FF2B5EF4-FFF2-40B4-BE49-F238E27FC236}">
                <a16:creationId xmlns:a16="http://schemas.microsoft.com/office/drawing/2014/main" id="{1A3A68A5-EEE3-9036-0021-7BDDCEC5AFC5}"/>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5" name="TextBox 13">
            <a:extLst>
              <a:ext uri="{FF2B5EF4-FFF2-40B4-BE49-F238E27FC236}">
                <a16:creationId xmlns:a16="http://schemas.microsoft.com/office/drawing/2014/main" id="{002F1E83-30E7-F7A5-08AF-8AE3C90467C6}"/>
              </a:ext>
            </a:extLst>
          </p:cNvPr>
          <p:cNvSpPr txBox="1"/>
          <p:nvPr/>
        </p:nvSpPr>
        <p:spPr>
          <a:xfrm>
            <a:off x="838199" y="1431319"/>
            <a:ext cx="10582275" cy="3216881"/>
          </a:xfrm>
          <a:prstGeom prst="rect">
            <a:avLst/>
          </a:prstGeom>
        </p:spPr>
        <p:txBody>
          <a:bodyPr lIns="0" tIns="0" rIns="0" bIns="0" rtlCol="0" anchor="ctr"/>
          <a:lstStyle/>
          <a:p>
            <a:pPr marL="457200" indent="-457200">
              <a:lnSpc>
                <a:spcPct val="149316"/>
              </a:lnSpc>
              <a:buAutoNum type="arabicPeriod"/>
            </a:pPr>
            <a:r>
              <a:rPr lang="en-US" altLang="ko-KR" sz="2400" spc="-91" dirty="0">
                <a:solidFill>
                  <a:srgbClr val="4C4747"/>
                </a:solidFill>
                <a:latin typeface="본고딕" panose="020B0500000000000000" pitchFamily="34" charset="-127"/>
                <a:ea typeface="본고딕" panose="020B0500000000000000" pitchFamily="34" charset="-127"/>
              </a:rPr>
              <a:t>Evaluation Strategy</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Training Set: MovieLens 1M (preprocessed)</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Test Set: MovieLens 100k (preprocessed)</a:t>
            </a:r>
          </a:p>
          <a:p>
            <a:pPr marL="457200" indent="-457200">
              <a:lnSpc>
                <a:spcPct val="149316"/>
              </a:lnSpc>
              <a:buAutoNum type="arabicPeriod"/>
            </a:pPr>
            <a:r>
              <a:rPr lang="en-US" altLang="ko-KR" sz="2400" spc="-91" dirty="0">
                <a:solidFill>
                  <a:srgbClr val="4C4747"/>
                </a:solidFill>
                <a:latin typeface="본고딕" panose="020B0500000000000000" pitchFamily="34" charset="-127"/>
                <a:ea typeface="본고딕" panose="020B0500000000000000" pitchFamily="34" charset="-127"/>
              </a:rPr>
              <a:t>Evaluation Metrics</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Rating-based Evaluation : RMSE, MAE</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Ranking-based Evaluation : nDCG@10</a:t>
            </a:r>
          </a:p>
          <a:p>
            <a:pPr marL="800100" lvl="1"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p:txBody>
      </p:sp>
      <p:pic>
        <p:nvPicPr>
          <p:cNvPr id="8" name="그림 7">
            <a:extLst>
              <a:ext uri="{FF2B5EF4-FFF2-40B4-BE49-F238E27FC236}">
                <a16:creationId xmlns:a16="http://schemas.microsoft.com/office/drawing/2014/main" id="{D0264C0F-BFDF-53C7-4426-23D3C3DCD997}"/>
              </a:ext>
            </a:extLst>
          </p:cNvPr>
          <p:cNvPicPr>
            <a:picLocks noChangeAspect="1"/>
          </p:cNvPicPr>
          <p:nvPr/>
        </p:nvPicPr>
        <p:blipFill>
          <a:blip r:embed="rId3"/>
          <a:stretch>
            <a:fillRect/>
          </a:stretch>
        </p:blipFill>
        <p:spPr>
          <a:xfrm>
            <a:off x="7142016" y="5595989"/>
            <a:ext cx="3381847" cy="657317"/>
          </a:xfrm>
          <a:prstGeom prst="rect">
            <a:avLst/>
          </a:prstGeom>
        </p:spPr>
      </p:pic>
      <p:pic>
        <p:nvPicPr>
          <p:cNvPr id="6" name="그림 5">
            <a:extLst>
              <a:ext uri="{FF2B5EF4-FFF2-40B4-BE49-F238E27FC236}">
                <a16:creationId xmlns:a16="http://schemas.microsoft.com/office/drawing/2014/main" id="{FBC3FE45-5D58-A250-2562-73E5E6258C74}"/>
              </a:ext>
            </a:extLst>
          </p:cNvPr>
          <p:cNvPicPr>
            <a:picLocks noChangeAspect="1"/>
          </p:cNvPicPr>
          <p:nvPr/>
        </p:nvPicPr>
        <p:blipFill>
          <a:blip r:embed="rId4"/>
          <a:stretch>
            <a:fillRect/>
          </a:stretch>
        </p:blipFill>
        <p:spPr>
          <a:xfrm>
            <a:off x="7024667" y="2863148"/>
            <a:ext cx="3658111" cy="762106"/>
          </a:xfrm>
          <a:prstGeom prst="rect">
            <a:avLst/>
          </a:prstGeom>
        </p:spPr>
      </p:pic>
      <p:pic>
        <p:nvPicPr>
          <p:cNvPr id="9" name="그림 8">
            <a:extLst>
              <a:ext uri="{FF2B5EF4-FFF2-40B4-BE49-F238E27FC236}">
                <a16:creationId xmlns:a16="http://schemas.microsoft.com/office/drawing/2014/main" id="{F4B3092D-B989-ADBD-3107-1FF7DEA83EC3}"/>
              </a:ext>
            </a:extLst>
          </p:cNvPr>
          <p:cNvPicPr>
            <a:picLocks noChangeAspect="1"/>
          </p:cNvPicPr>
          <p:nvPr/>
        </p:nvPicPr>
        <p:blipFill>
          <a:blip r:embed="rId5"/>
          <a:stretch>
            <a:fillRect/>
          </a:stretch>
        </p:blipFill>
        <p:spPr>
          <a:xfrm>
            <a:off x="6907116" y="3683509"/>
            <a:ext cx="3448531" cy="638264"/>
          </a:xfrm>
          <a:prstGeom prst="rect">
            <a:avLst/>
          </a:prstGeom>
        </p:spPr>
      </p:pic>
      <p:pic>
        <p:nvPicPr>
          <p:cNvPr id="11" name="그림 10">
            <a:extLst>
              <a:ext uri="{FF2B5EF4-FFF2-40B4-BE49-F238E27FC236}">
                <a16:creationId xmlns:a16="http://schemas.microsoft.com/office/drawing/2014/main" id="{93033714-1A99-BF6F-F3D3-0161119F26D4}"/>
              </a:ext>
            </a:extLst>
          </p:cNvPr>
          <p:cNvPicPr>
            <a:picLocks noChangeAspect="1"/>
          </p:cNvPicPr>
          <p:nvPr/>
        </p:nvPicPr>
        <p:blipFill>
          <a:blip r:embed="rId6"/>
          <a:stretch>
            <a:fillRect/>
          </a:stretch>
        </p:blipFill>
        <p:spPr>
          <a:xfrm>
            <a:off x="7093525" y="4742587"/>
            <a:ext cx="2581635" cy="685896"/>
          </a:xfrm>
          <a:prstGeom prst="rect">
            <a:avLst/>
          </a:prstGeom>
        </p:spPr>
      </p:pic>
      <p:sp>
        <p:nvSpPr>
          <p:cNvPr id="12" name="직사각형 11">
            <a:extLst>
              <a:ext uri="{FF2B5EF4-FFF2-40B4-BE49-F238E27FC236}">
                <a16:creationId xmlns:a16="http://schemas.microsoft.com/office/drawing/2014/main" id="{B7D38D8B-541C-FB5D-6511-806459975DB3}"/>
              </a:ext>
            </a:extLst>
          </p:cNvPr>
          <p:cNvSpPr/>
          <p:nvPr/>
        </p:nvSpPr>
        <p:spPr>
          <a:xfrm>
            <a:off x="7024667" y="2812473"/>
            <a:ext cx="3658111" cy="15093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00004C3F-DD0F-AA4C-B6DB-A8332508537F}"/>
              </a:ext>
            </a:extLst>
          </p:cNvPr>
          <p:cNvSpPr/>
          <p:nvPr/>
        </p:nvSpPr>
        <p:spPr>
          <a:xfrm>
            <a:off x="7024667" y="4706455"/>
            <a:ext cx="3658111" cy="15093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58085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F95308-AC7F-F31D-F87D-694C2071B3E7}"/>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model evaluation and analysis</a:t>
            </a:r>
            <a:endParaRPr lang="ko-KR" altLang="en-US" sz="2800" dirty="0">
              <a:latin typeface="본고딕" panose="020B0500000000000000" pitchFamily="34" charset="-127"/>
              <a:ea typeface="본고딕" panose="020B0500000000000000" pitchFamily="34" charset="-127"/>
            </a:endParaRPr>
          </a:p>
        </p:txBody>
      </p:sp>
      <p:cxnSp>
        <p:nvCxnSpPr>
          <p:cNvPr id="3" name="직선 연결선 2">
            <a:extLst>
              <a:ext uri="{FF2B5EF4-FFF2-40B4-BE49-F238E27FC236}">
                <a16:creationId xmlns:a16="http://schemas.microsoft.com/office/drawing/2014/main" id="{8F4E375D-CD36-81D0-4E23-58637A4305F3}"/>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4" name="TextBox 13">
            <a:extLst>
              <a:ext uri="{FF2B5EF4-FFF2-40B4-BE49-F238E27FC236}">
                <a16:creationId xmlns:a16="http://schemas.microsoft.com/office/drawing/2014/main" id="{797FD79D-B100-CF35-2CC4-D05FAF5D6834}"/>
              </a:ext>
            </a:extLst>
          </p:cNvPr>
          <p:cNvSpPr txBox="1"/>
          <p:nvPr/>
        </p:nvSpPr>
        <p:spPr>
          <a:xfrm>
            <a:off x="838200" y="1520227"/>
            <a:ext cx="3869988" cy="464216"/>
          </a:xfrm>
          <a:prstGeom prst="rect">
            <a:avLst/>
          </a:prstGeom>
        </p:spPr>
        <p:txBody>
          <a:bodyPr lIns="0" tIns="0" rIns="0" bIns="0" rtlCol="0" anchor="ctr"/>
          <a:lstStyle/>
          <a:p>
            <a:pPr>
              <a:lnSpc>
                <a:spcPct val="149316"/>
              </a:lnSpc>
            </a:pPr>
            <a:r>
              <a:rPr lang="en-US" altLang="ko-KR" sz="2400" spc="-91" dirty="0">
                <a:solidFill>
                  <a:srgbClr val="4C4747"/>
                </a:solidFill>
                <a:latin typeface="본고딕" panose="020B0500000000000000" pitchFamily="34" charset="-127"/>
                <a:ea typeface="본고딕" panose="020B0500000000000000" pitchFamily="34" charset="-127"/>
              </a:rPr>
              <a:t>Output</a:t>
            </a:r>
            <a:endParaRPr lang="en-US" altLang="ko-KR" spc="-91" dirty="0">
              <a:solidFill>
                <a:srgbClr val="4C4747"/>
              </a:solidFill>
              <a:latin typeface="본고딕" panose="020B0500000000000000" pitchFamily="34" charset="-127"/>
              <a:ea typeface="본고딕" panose="020B0500000000000000" pitchFamily="34" charset="-127"/>
            </a:endParaRPr>
          </a:p>
        </p:txBody>
      </p:sp>
      <p:graphicFrame>
        <p:nvGraphicFramePr>
          <p:cNvPr id="5" name="표 4">
            <a:extLst>
              <a:ext uri="{FF2B5EF4-FFF2-40B4-BE49-F238E27FC236}">
                <a16:creationId xmlns:a16="http://schemas.microsoft.com/office/drawing/2014/main" id="{79ABDD12-DD2A-4736-BA94-7B6708911438}"/>
              </a:ext>
            </a:extLst>
          </p:cNvPr>
          <p:cNvGraphicFramePr>
            <a:graphicFrameLocks noGrp="1"/>
          </p:cNvGraphicFramePr>
          <p:nvPr/>
        </p:nvGraphicFramePr>
        <p:xfrm>
          <a:off x="1159806" y="2478034"/>
          <a:ext cx="9872387" cy="1097280"/>
        </p:xfrm>
        <a:graphic>
          <a:graphicData uri="http://schemas.openxmlformats.org/drawingml/2006/table">
            <a:tbl>
              <a:tblPr firstRow="1" bandRow="1">
                <a:tableStyleId>{5940675A-B579-460E-94D1-54222C63F5DA}</a:tableStyleId>
              </a:tblPr>
              <a:tblGrid>
                <a:gridCol w="2871536">
                  <a:extLst>
                    <a:ext uri="{9D8B030D-6E8A-4147-A177-3AD203B41FA5}">
                      <a16:colId xmlns:a16="http://schemas.microsoft.com/office/drawing/2014/main" val="2711651881"/>
                    </a:ext>
                  </a:extLst>
                </a:gridCol>
                <a:gridCol w="2333617">
                  <a:extLst>
                    <a:ext uri="{9D8B030D-6E8A-4147-A177-3AD203B41FA5}">
                      <a16:colId xmlns:a16="http://schemas.microsoft.com/office/drawing/2014/main" val="2534879020"/>
                    </a:ext>
                  </a:extLst>
                </a:gridCol>
                <a:gridCol w="2333617">
                  <a:extLst>
                    <a:ext uri="{9D8B030D-6E8A-4147-A177-3AD203B41FA5}">
                      <a16:colId xmlns:a16="http://schemas.microsoft.com/office/drawing/2014/main" val="344223666"/>
                    </a:ext>
                  </a:extLst>
                </a:gridCol>
                <a:gridCol w="2333617">
                  <a:extLst>
                    <a:ext uri="{9D8B030D-6E8A-4147-A177-3AD203B41FA5}">
                      <a16:colId xmlns:a16="http://schemas.microsoft.com/office/drawing/2014/main" val="199060389"/>
                    </a:ext>
                  </a:extLst>
                </a:gridCol>
              </a:tblGrid>
              <a:tr h="343060">
                <a:tc>
                  <a:txBody>
                    <a:bodyPr/>
                    <a:lstStyle/>
                    <a:p>
                      <a:r>
                        <a:rPr lang="en-US" dirty="0">
                          <a:latin typeface="본고딕" panose="020B0500000000000000" pitchFamily="34" charset="-127"/>
                          <a:ea typeface="본고딕" panose="020B0500000000000000" pitchFamily="34" charset="-127"/>
                        </a:rPr>
                        <a:t>Model</a:t>
                      </a:r>
                    </a:p>
                  </a:txBody>
                  <a:tcPr anchor="ctr"/>
                </a:tc>
                <a:tc>
                  <a:txBody>
                    <a:bodyPr/>
                    <a:lstStyle/>
                    <a:p>
                      <a:pPr latinLnBrk="1"/>
                      <a:r>
                        <a:rPr lang="en-US" altLang="ko-KR" dirty="0">
                          <a:latin typeface="본고딕" panose="020B0500000000000000" pitchFamily="34" charset="-127"/>
                          <a:ea typeface="본고딕" panose="020B0500000000000000" pitchFamily="34" charset="-127"/>
                        </a:rPr>
                        <a:t>RMSE</a:t>
                      </a:r>
                      <a:endParaRPr lang="ko-KR" altLang="en-US" dirty="0">
                        <a:latin typeface="본고딕" panose="020B0500000000000000" pitchFamily="34" charset="-127"/>
                        <a:ea typeface="본고딕" panose="020B0500000000000000" pitchFamily="34" charset="-127"/>
                      </a:endParaRPr>
                    </a:p>
                  </a:txBody>
                  <a:tcPr/>
                </a:tc>
                <a:tc>
                  <a:txBody>
                    <a:bodyPr/>
                    <a:lstStyle/>
                    <a:p>
                      <a:pPr latinLnBrk="1"/>
                      <a:r>
                        <a:rPr lang="en-US" altLang="ko-KR" dirty="0">
                          <a:latin typeface="본고딕" panose="020B0500000000000000" pitchFamily="34" charset="-127"/>
                          <a:ea typeface="본고딕" panose="020B0500000000000000" pitchFamily="34" charset="-127"/>
                        </a:rPr>
                        <a:t>MAE</a:t>
                      </a:r>
                      <a:endParaRPr lang="ko-KR" altLang="en-US" dirty="0">
                        <a:latin typeface="본고딕" panose="020B0500000000000000" pitchFamily="34" charset="-127"/>
                        <a:ea typeface="본고딕" panose="020B0500000000000000" pitchFamily="34" charset="-127"/>
                      </a:endParaRPr>
                    </a:p>
                  </a:txBody>
                  <a:tcPr/>
                </a:tc>
                <a:tc>
                  <a:txBody>
                    <a:bodyPr/>
                    <a:lstStyle/>
                    <a:p>
                      <a:pPr latinLnBrk="1"/>
                      <a:r>
                        <a:rPr lang="en-US" altLang="ko-KR" dirty="0">
                          <a:latin typeface="본고딕" panose="020B0500000000000000" pitchFamily="34" charset="-127"/>
                          <a:ea typeface="본고딕" panose="020B0500000000000000" pitchFamily="34" charset="-127"/>
                        </a:rPr>
                        <a:t>nDCG@10</a:t>
                      </a:r>
                      <a:endParaRPr lang="ko-KR" altLang="en-US" dirty="0">
                        <a:latin typeface="본고딕" panose="020B0500000000000000" pitchFamily="34" charset="-127"/>
                        <a:ea typeface="본고딕" panose="020B0500000000000000" pitchFamily="34" charset="-127"/>
                      </a:endParaRPr>
                    </a:p>
                  </a:txBody>
                  <a:tcPr/>
                </a:tc>
                <a:extLst>
                  <a:ext uri="{0D108BD9-81ED-4DB2-BD59-A6C34878D82A}">
                    <a16:rowId xmlns:a16="http://schemas.microsoft.com/office/drawing/2014/main" val="1253280099"/>
                  </a:ext>
                </a:extLst>
              </a:tr>
              <a:tr h="343060">
                <a:tc>
                  <a:txBody>
                    <a:bodyPr/>
                    <a:lstStyle/>
                    <a:p>
                      <a:pPr latinLnBrk="1"/>
                      <a:r>
                        <a:rPr lang="en-US" altLang="ko-KR" dirty="0">
                          <a:latin typeface="본고딕" panose="020B0500000000000000" pitchFamily="34" charset="-127"/>
                          <a:ea typeface="본고딕" panose="020B0500000000000000" pitchFamily="34" charset="-127"/>
                        </a:rPr>
                        <a:t>Memory-based (KNN)</a:t>
                      </a:r>
                      <a:endParaRPr lang="ko-KR" altLang="en-US" dirty="0">
                        <a:latin typeface="본고딕" panose="020B0500000000000000" pitchFamily="34" charset="-127"/>
                        <a:ea typeface="본고딕" panose="020B0500000000000000" pitchFamily="34" charset="-127"/>
                      </a:endParaRPr>
                    </a:p>
                  </a:txBody>
                  <a:tcPr/>
                </a:tc>
                <a:tc>
                  <a:txBody>
                    <a:bodyPr/>
                    <a:lstStyle/>
                    <a:p>
                      <a:pPr latinLnBrk="1"/>
                      <a:r>
                        <a:rPr lang="en-US" altLang="ko-KR" dirty="0">
                          <a:latin typeface="본고딕" panose="020B0500000000000000" pitchFamily="34" charset="-127"/>
                          <a:ea typeface="본고딕" panose="020B0500000000000000" pitchFamily="34" charset="-127"/>
                        </a:rPr>
                        <a:t>1.2297</a:t>
                      </a:r>
                      <a:endParaRPr lang="ko-KR" altLang="en-US" dirty="0">
                        <a:latin typeface="본고딕" panose="020B0500000000000000" pitchFamily="34" charset="-127"/>
                        <a:ea typeface="본고딕" panose="020B0500000000000000" pitchFamily="34" charset="-127"/>
                      </a:endParaRPr>
                    </a:p>
                  </a:txBody>
                  <a:tcPr/>
                </a:tc>
                <a:tc>
                  <a:txBody>
                    <a:bodyPr/>
                    <a:lstStyle/>
                    <a:p>
                      <a:pPr latinLnBrk="1"/>
                      <a:r>
                        <a:rPr lang="en-US" altLang="ko-KR" dirty="0">
                          <a:latin typeface="본고딕" panose="020B0500000000000000" pitchFamily="34" charset="-127"/>
                          <a:ea typeface="본고딕" panose="020B0500000000000000" pitchFamily="34" charset="-127"/>
                        </a:rPr>
                        <a:t>0.9736</a:t>
                      </a:r>
                      <a:endParaRPr lang="ko-KR" altLang="en-US" dirty="0">
                        <a:latin typeface="본고딕" panose="020B0500000000000000" pitchFamily="34" charset="-127"/>
                        <a:ea typeface="본고딕" panose="020B0500000000000000" pitchFamily="34" charset="-127"/>
                      </a:endParaRPr>
                    </a:p>
                  </a:txBody>
                  <a:tcPr/>
                </a:tc>
                <a:tc>
                  <a:txBody>
                    <a:bodyPr/>
                    <a:lstStyle/>
                    <a:p>
                      <a:pPr latinLnBrk="1"/>
                      <a:r>
                        <a:rPr lang="en-US" altLang="ko-KR" dirty="0">
                          <a:latin typeface="본고딕" panose="020B0500000000000000" pitchFamily="34" charset="-127"/>
                          <a:ea typeface="본고딕" panose="020B0500000000000000" pitchFamily="34" charset="-127"/>
                        </a:rPr>
                        <a:t>0.0270</a:t>
                      </a:r>
                      <a:endParaRPr lang="ko-KR" altLang="en-US" dirty="0">
                        <a:latin typeface="본고딕" panose="020B0500000000000000" pitchFamily="34" charset="-127"/>
                        <a:ea typeface="본고딕" panose="020B0500000000000000" pitchFamily="34" charset="-127"/>
                      </a:endParaRPr>
                    </a:p>
                  </a:txBody>
                  <a:tcPr/>
                </a:tc>
                <a:extLst>
                  <a:ext uri="{0D108BD9-81ED-4DB2-BD59-A6C34878D82A}">
                    <a16:rowId xmlns:a16="http://schemas.microsoft.com/office/drawing/2014/main" val="3438735518"/>
                  </a:ext>
                </a:extLst>
              </a:tr>
              <a:tr h="343060">
                <a:tc>
                  <a:txBody>
                    <a:bodyPr/>
                    <a:lstStyle/>
                    <a:p>
                      <a:pPr latinLnBrk="1"/>
                      <a:r>
                        <a:rPr lang="en-US" altLang="ko-KR" dirty="0">
                          <a:latin typeface="본고딕" panose="020B0500000000000000" pitchFamily="34" charset="-127"/>
                          <a:ea typeface="본고딕" panose="020B0500000000000000" pitchFamily="34" charset="-127"/>
                        </a:rPr>
                        <a:t>Model-based (</a:t>
                      </a:r>
                      <a:r>
                        <a:rPr lang="en-US" altLang="ko-KR" dirty="0" err="1">
                          <a:latin typeface="본고딕" panose="020B0500000000000000" pitchFamily="34" charset="-127"/>
                          <a:ea typeface="본고딕" panose="020B0500000000000000" pitchFamily="34" charset="-127"/>
                        </a:rPr>
                        <a:t>KernelMF</a:t>
                      </a:r>
                      <a:r>
                        <a:rPr lang="en-US" altLang="ko-KR" dirty="0">
                          <a:latin typeface="본고딕" panose="020B0500000000000000" pitchFamily="34" charset="-127"/>
                          <a:ea typeface="본고딕" panose="020B0500000000000000" pitchFamily="34" charset="-127"/>
                        </a:rPr>
                        <a:t>)</a:t>
                      </a:r>
                      <a:endParaRPr lang="ko-KR" altLang="en-US" dirty="0">
                        <a:latin typeface="본고딕" panose="020B0500000000000000" pitchFamily="34" charset="-127"/>
                        <a:ea typeface="본고딕" panose="020B0500000000000000" pitchFamily="34" charset="-127"/>
                      </a:endParaRPr>
                    </a:p>
                  </a:txBody>
                  <a:tcPr/>
                </a:tc>
                <a:tc>
                  <a:txBody>
                    <a:bodyPr/>
                    <a:lstStyle/>
                    <a:p>
                      <a:pPr latinLnBrk="1"/>
                      <a:r>
                        <a:rPr lang="en-US" altLang="ko-KR" dirty="0">
                          <a:latin typeface="본고딕" panose="020B0500000000000000" pitchFamily="34" charset="-127"/>
                          <a:ea typeface="본고딕" panose="020B0500000000000000" pitchFamily="34" charset="-127"/>
                        </a:rPr>
                        <a:t>1.3296</a:t>
                      </a:r>
                      <a:endParaRPr lang="ko-KR" altLang="en-US" dirty="0">
                        <a:latin typeface="본고딕" panose="020B0500000000000000" pitchFamily="34" charset="-127"/>
                        <a:ea typeface="본고딕" panose="020B0500000000000000" pitchFamily="34" charset="-127"/>
                      </a:endParaRPr>
                    </a:p>
                  </a:txBody>
                  <a:tcPr/>
                </a:tc>
                <a:tc>
                  <a:txBody>
                    <a:bodyPr/>
                    <a:lstStyle/>
                    <a:p>
                      <a:pPr latinLnBrk="1"/>
                      <a:r>
                        <a:rPr lang="en-US" altLang="ko-KR" dirty="0">
                          <a:latin typeface="본고딕" panose="020B0500000000000000" pitchFamily="34" charset="-127"/>
                          <a:ea typeface="본고딕" panose="020B0500000000000000" pitchFamily="34" charset="-127"/>
                        </a:rPr>
                        <a:t>1.0797</a:t>
                      </a:r>
                    </a:p>
                  </a:txBody>
                  <a:tcPr/>
                </a:tc>
                <a:tc>
                  <a:txBody>
                    <a:bodyPr/>
                    <a:lstStyle/>
                    <a:p>
                      <a:pPr latinLnBrk="1"/>
                      <a:r>
                        <a:rPr lang="en-US" altLang="ko-KR" dirty="0">
                          <a:latin typeface="본고딕" panose="020B0500000000000000" pitchFamily="34" charset="-127"/>
                          <a:ea typeface="본고딕" panose="020B0500000000000000" pitchFamily="34" charset="-127"/>
                        </a:rPr>
                        <a:t>0.0651</a:t>
                      </a:r>
                      <a:endParaRPr lang="ko-KR" altLang="en-US" dirty="0">
                        <a:latin typeface="본고딕" panose="020B0500000000000000" pitchFamily="34" charset="-127"/>
                        <a:ea typeface="본고딕" panose="020B0500000000000000" pitchFamily="34" charset="-127"/>
                      </a:endParaRPr>
                    </a:p>
                  </a:txBody>
                  <a:tcPr/>
                </a:tc>
                <a:extLst>
                  <a:ext uri="{0D108BD9-81ED-4DB2-BD59-A6C34878D82A}">
                    <a16:rowId xmlns:a16="http://schemas.microsoft.com/office/drawing/2014/main" val="3949621192"/>
                  </a:ext>
                </a:extLst>
              </a:tr>
            </a:tbl>
          </a:graphicData>
        </a:graphic>
      </p:graphicFrame>
    </p:spTree>
    <p:extLst>
      <p:ext uri="{BB962C8B-B14F-4D97-AF65-F5344CB8AC3E}">
        <p14:creationId xmlns:p14="http://schemas.microsoft.com/office/powerpoint/2010/main" val="3591180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73CEF-4C35-85F7-EBA5-EC94043F372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1F46007-BE0A-A9E6-013C-E8F2DB4E84F5}"/>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model evaluation and analysis</a:t>
            </a:r>
            <a:endParaRPr lang="ko-KR" altLang="en-US" sz="2800" dirty="0">
              <a:latin typeface="본고딕" panose="020B0500000000000000" pitchFamily="34" charset="-127"/>
              <a:ea typeface="본고딕" panose="020B0500000000000000" pitchFamily="34" charset="-127"/>
            </a:endParaRPr>
          </a:p>
        </p:txBody>
      </p:sp>
      <p:cxnSp>
        <p:nvCxnSpPr>
          <p:cNvPr id="4" name="직선 연결선 3">
            <a:extLst>
              <a:ext uri="{FF2B5EF4-FFF2-40B4-BE49-F238E27FC236}">
                <a16:creationId xmlns:a16="http://schemas.microsoft.com/office/drawing/2014/main" id="{2FF84605-C5E2-EB27-A17D-0D013DEE867C}"/>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5" name="TextBox 13">
            <a:extLst>
              <a:ext uri="{FF2B5EF4-FFF2-40B4-BE49-F238E27FC236}">
                <a16:creationId xmlns:a16="http://schemas.microsoft.com/office/drawing/2014/main" id="{F740B03A-B431-6F07-B252-74EBD1188A95}"/>
              </a:ext>
            </a:extLst>
          </p:cNvPr>
          <p:cNvSpPr txBox="1"/>
          <p:nvPr/>
        </p:nvSpPr>
        <p:spPr>
          <a:xfrm>
            <a:off x="838199" y="1431319"/>
            <a:ext cx="10582275" cy="4402846"/>
          </a:xfrm>
          <a:prstGeom prst="rect">
            <a:avLst/>
          </a:prstGeom>
        </p:spPr>
        <p:txBody>
          <a:bodyPr lIns="0" tIns="0" rIns="0" bIns="0" rtlCol="0" anchor="ctr"/>
          <a:lstStyle/>
          <a:p>
            <a:pPr>
              <a:lnSpc>
                <a:spcPct val="149316"/>
              </a:lnSpc>
            </a:pPr>
            <a:r>
              <a:rPr lang="en-US" altLang="ko-KR" sz="2400" spc="-91" dirty="0">
                <a:solidFill>
                  <a:srgbClr val="4C4747"/>
                </a:solidFill>
                <a:latin typeface="본고딕" panose="020B0500000000000000" pitchFamily="34" charset="-127"/>
                <a:ea typeface="본고딕" panose="020B0500000000000000" pitchFamily="34" charset="-127"/>
              </a:rPr>
              <a:t>Analysis</a:t>
            </a:r>
          </a:p>
          <a:p>
            <a:pPr marL="342900"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Rating Accuracy (RMSE/MAE) :</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Memory-based (KNN) was superior (lower error).</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It's better at predicting the exact numerical rating.</a:t>
            </a:r>
          </a:p>
          <a:p>
            <a:pPr marL="342900"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Ranking Quality (nDCG@10) :</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Model-based (</a:t>
            </a:r>
            <a:r>
              <a:rPr lang="en-US" altLang="ko-KR" sz="2000" spc="-91" dirty="0" err="1">
                <a:solidFill>
                  <a:srgbClr val="4C4747"/>
                </a:solidFill>
                <a:latin typeface="본고딕" panose="020B0500000000000000" pitchFamily="34" charset="-127"/>
                <a:ea typeface="본고딕" panose="020B0500000000000000" pitchFamily="34" charset="-127"/>
              </a:rPr>
              <a:t>KernelMF</a:t>
            </a:r>
            <a:r>
              <a:rPr lang="en-US" altLang="ko-KR" sz="2000" spc="-91" dirty="0">
                <a:solidFill>
                  <a:srgbClr val="4C4747"/>
                </a:solidFill>
                <a:latin typeface="본고딕" panose="020B0500000000000000" pitchFamily="34" charset="-127"/>
                <a:ea typeface="본고딕" panose="020B0500000000000000" pitchFamily="34" charset="-127"/>
              </a:rPr>
              <a:t>) was superior (higher score).</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It's better at placing relevant items in the Top-10 list.</a:t>
            </a:r>
          </a:p>
          <a:p>
            <a:pPr marL="1257300" lvl="2"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a:p>
            <a:pPr marL="1257300" lvl="2"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a:p>
            <a:pPr marL="1257300" lvl="2"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2874567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2B900-DA7C-EC1B-B1FD-2ED8BBF96E8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B7379C3-6138-6B54-232B-03E5E6E9B927}"/>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model evaluation and analysis</a:t>
            </a:r>
            <a:endParaRPr lang="ko-KR" altLang="en-US" sz="2800" dirty="0">
              <a:latin typeface="본고딕" panose="020B0500000000000000" pitchFamily="34" charset="-127"/>
              <a:ea typeface="본고딕" panose="020B0500000000000000" pitchFamily="34" charset="-127"/>
            </a:endParaRPr>
          </a:p>
        </p:txBody>
      </p:sp>
      <p:cxnSp>
        <p:nvCxnSpPr>
          <p:cNvPr id="4" name="직선 연결선 3">
            <a:extLst>
              <a:ext uri="{FF2B5EF4-FFF2-40B4-BE49-F238E27FC236}">
                <a16:creationId xmlns:a16="http://schemas.microsoft.com/office/drawing/2014/main" id="{3889E2D4-F1BD-F2A1-103C-6A731A8B3B32}"/>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5" name="TextBox 13">
            <a:extLst>
              <a:ext uri="{FF2B5EF4-FFF2-40B4-BE49-F238E27FC236}">
                <a16:creationId xmlns:a16="http://schemas.microsoft.com/office/drawing/2014/main" id="{F1ABAC61-6584-E4C0-AB3D-C19CA87D4D42}"/>
              </a:ext>
            </a:extLst>
          </p:cNvPr>
          <p:cNvSpPr txBox="1"/>
          <p:nvPr/>
        </p:nvSpPr>
        <p:spPr>
          <a:xfrm>
            <a:off x="838199" y="1431319"/>
            <a:ext cx="10582275" cy="2693209"/>
          </a:xfrm>
          <a:prstGeom prst="rect">
            <a:avLst/>
          </a:prstGeom>
        </p:spPr>
        <p:txBody>
          <a:bodyPr lIns="0" tIns="0" rIns="0" bIns="0" rtlCol="0" anchor="ctr"/>
          <a:lstStyle/>
          <a:p>
            <a:pPr>
              <a:lnSpc>
                <a:spcPct val="149316"/>
              </a:lnSpc>
            </a:pPr>
            <a:r>
              <a:rPr lang="en-US" altLang="ko-KR" sz="2400" spc="-91" dirty="0">
                <a:solidFill>
                  <a:srgbClr val="4C4747"/>
                </a:solidFill>
                <a:latin typeface="본고딕" panose="020B0500000000000000" pitchFamily="34" charset="-127"/>
                <a:ea typeface="본고딕" panose="020B0500000000000000" pitchFamily="34" charset="-127"/>
              </a:rPr>
              <a:t>Improvements 1 - Address Cold Start / Data Sparsity</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Apply a data-cleaning threshold to create a denser, more reliable dataset.</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Example : Remove items with fewer than 10 ratings.</a:t>
            </a:r>
          </a:p>
          <a:p>
            <a:pPr marL="1257300" lvl="2"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a:p>
            <a:pPr marL="1257300" lvl="2" indent="-342900">
              <a:lnSpc>
                <a:spcPct val="149316"/>
              </a:lnSpc>
              <a:buFontTx/>
              <a:buChar char="-"/>
            </a:pPr>
            <a:endParaRPr lang="en-US" altLang="ko-KR" sz="2000" spc="-91" dirty="0">
              <a:solidFill>
                <a:srgbClr val="4C4747"/>
              </a:solidFill>
              <a:latin typeface="본고딕" panose="020B0500000000000000" pitchFamily="34" charset="-127"/>
              <a:ea typeface="본고딕" panose="020B0500000000000000" pitchFamily="34" charset="-127"/>
            </a:endParaRPr>
          </a:p>
        </p:txBody>
      </p:sp>
      <p:pic>
        <p:nvPicPr>
          <p:cNvPr id="7" name="그림 6">
            <a:extLst>
              <a:ext uri="{FF2B5EF4-FFF2-40B4-BE49-F238E27FC236}">
                <a16:creationId xmlns:a16="http://schemas.microsoft.com/office/drawing/2014/main" id="{240CAAD4-7871-870F-E41F-3417F571A5E0}"/>
              </a:ext>
            </a:extLst>
          </p:cNvPr>
          <p:cNvPicPr>
            <a:picLocks noChangeAspect="1"/>
          </p:cNvPicPr>
          <p:nvPr/>
        </p:nvPicPr>
        <p:blipFill>
          <a:blip r:embed="rId3"/>
          <a:stretch>
            <a:fillRect/>
          </a:stretch>
        </p:blipFill>
        <p:spPr>
          <a:xfrm>
            <a:off x="771526" y="3625091"/>
            <a:ext cx="3791479" cy="743054"/>
          </a:xfrm>
          <a:prstGeom prst="rect">
            <a:avLst/>
          </a:prstGeom>
        </p:spPr>
      </p:pic>
      <p:pic>
        <p:nvPicPr>
          <p:cNvPr id="8" name="그림 7" descr="텍스트, 라인, 그래프, 도표이(가) 표시된 사진&#10;&#10;AI 생성 콘텐츠는 정확하지 않을 수 있습니다.">
            <a:extLst>
              <a:ext uri="{FF2B5EF4-FFF2-40B4-BE49-F238E27FC236}">
                <a16:creationId xmlns:a16="http://schemas.microsoft.com/office/drawing/2014/main" id="{F18CBD9B-C417-A068-47FA-ACC24B5B79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9982" y="3249085"/>
            <a:ext cx="5772413" cy="3463447"/>
          </a:xfrm>
          <a:prstGeom prst="rect">
            <a:avLst/>
          </a:prstGeom>
        </p:spPr>
      </p:pic>
    </p:spTree>
    <p:extLst>
      <p:ext uri="{BB962C8B-B14F-4D97-AF65-F5344CB8AC3E}">
        <p14:creationId xmlns:p14="http://schemas.microsoft.com/office/powerpoint/2010/main" val="484843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2E6E9-A8E7-39F2-7A81-2F4ADC3AD72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7945A4A-A071-6729-7078-C3BF422BE7FB}"/>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model evaluation and analysis</a:t>
            </a:r>
            <a:endParaRPr lang="ko-KR" altLang="en-US" sz="2800" dirty="0">
              <a:latin typeface="본고딕" panose="020B0500000000000000" pitchFamily="34" charset="-127"/>
              <a:ea typeface="본고딕" panose="020B0500000000000000" pitchFamily="34" charset="-127"/>
            </a:endParaRPr>
          </a:p>
        </p:txBody>
      </p:sp>
      <p:cxnSp>
        <p:nvCxnSpPr>
          <p:cNvPr id="4" name="직선 연결선 3">
            <a:extLst>
              <a:ext uri="{FF2B5EF4-FFF2-40B4-BE49-F238E27FC236}">
                <a16:creationId xmlns:a16="http://schemas.microsoft.com/office/drawing/2014/main" id="{5CB33509-F714-C8A0-C2B8-9DC7486FFEDC}"/>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5" name="TextBox 13">
            <a:extLst>
              <a:ext uri="{FF2B5EF4-FFF2-40B4-BE49-F238E27FC236}">
                <a16:creationId xmlns:a16="http://schemas.microsoft.com/office/drawing/2014/main" id="{8E8E7BA9-2921-38A0-DEC5-85D989845A3C}"/>
              </a:ext>
            </a:extLst>
          </p:cNvPr>
          <p:cNvSpPr txBox="1"/>
          <p:nvPr/>
        </p:nvSpPr>
        <p:spPr>
          <a:xfrm>
            <a:off x="838199" y="1431319"/>
            <a:ext cx="10582275" cy="1852206"/>
          </a:xfrm>
          <a:prstGeom prst="rect">
            <a:avLst/>
          </a:prstGeom>
        </p:spPr>
        <p:txBody>
          <a:bodyPr lIns="0" tIns="0" rIns="0" bIns="0" rtlCol="0" anchor="ctr"/>
          <a:lstStyle/>
          <a:p>
            <a:pPr>
              <a:lnSpc>
                <a:spcPct val="149316"/>
              </a:lnSpc>
            </a:pPr>
            <a:r>
              <a:rPr lang="en-US" altLang="ko-KR" sz="2400" spc="-91" dirty="0">
                <a:solidFill>
                  <a:srgbClr val="4C4747"/>
                </a:solidFill>
                <a:latin typeface="본고딕" panose="020B0500000000000000" pitchFamily="34" charset="-127"/>
                <a:ea typeface="본고딕" panose="020B0500000000000000" pitchFamily="34" charset="-127"/>
              </a:rPr>
              <a:t>Improvements 2 – Tuning Hyperparameter</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Apply grid search or Bayesian optimization to improve performance</a:t>
            </a:r>
          </a:p>
          <a:p>
            <a:pPr marL="800100" lvl="1" indent="-342900">
              <a:lnSpc>
                <a:spcPct val="149316"/>
              </a:lnSpc>
              <a:buFontTx/>
              <a:buChar char="-"/>
            </a:pPr>
            <a:r>
              <a:rPr lang="en-US" altLang="ko-KR" sz="2000" spc="-91" dirty="0">
                <a:solidFill>
                  <a:srgbClr val="4C4747"/>
                </a:solidFill>
                <a:latin typeface="본고딕" panose="020B0500000000000000" pitchFamily="34" charset="-127"/>
                <a:ea typeface="본고딕" panose="020B0500000000000000" pitchFamily="34" charset="-127"/>
              </a:rPr>
              <a:t>Example : Use various k for KNN (40, 70, 100), Use various similarity matrix (</a:t>
            </a:r>
            <a:r>
              <a:rPr lang="en-US" altLang="ko-KR" sz="2000" spc="-91" dirty="0" err="1">
                <a:solidFill>
                  <a:srgbClr val="4C4747"/>
                </a:solidFill>
                <a:latin typeface="본고딕" panose="020B0500000000000000" pitchFamily="34" charset="-127"/>
                <a:ea typeface="본고딕" panose="020B0500000000000000" pitchFamily="34" charset="-127"/>
              </a:rPr>
              <a:t>msd</a:t>
            </a:r>
            <a:r>
              <a:rPr lang="en-US" altLang="ko-KR" sz="2000" spc="-91" dirty="0">
                <a:solidFill>
                  <a:srgbClr val="4C4747"/>
                </a:solidFill>
                <a:latin typeface="본고딕" panose="020B0500000000000000" pitchFamily="34" charset="-127"/>
                <a:ea typeface="본고딕" panose="020B0500000000000000" pitchFamily="34" charset="-127"/>
              </a:rPr>
              <a:t>, </a:t>
            </a:r>
            <a:r>
              <a:rPr lang="en-US" altLang="ko-KR" sz="2000" spc="-91" dirty="0" err="1">
                <a:solidFill>
                  <a:srgbClr val="4C4747"/>
                </a:solidFill>
                <a:latin typeface="본고딕" panose="020B0500000000000000" pitchFamily="34" charset="-127"/>
                <a:ea typeface="본고딕" panose="020B0500000000000000" pitchFamily="34" charset="-127"/>
              </a:rPr>
              <a:t>pearson</a:t>
            </a:r>
            <a:r>
              <a:rPr lang="en-US" altLang="ko-KR" sz="2000" spc="-91" dirty="0">
                <a:solidFill>
                  <a:srgbClr val="4C4747"/>
                </a:solidFill>
                <a:latin typeface="본고딕" panose="020B0500000000000000" pitchFamily="34" charset="-127"/>
                <a:ea typeface="본고딕" panose="020B0500000000000000" pitchFamily="34" charset="-127"/>
              </a:rPr>
              <a:t>)</a:t>
            </a:r>
          </a:p>
        </p:txBody>
      </p:sp>
    </p:spTree>
    <p:extLst>
      <p:ext uri="{BB962C8B-B14F-4D97-AF65-F5344CB8AC3E}">
        <p14:creationId xmlns:p14="http://schemas.microsoft.com/office/powerpoint/2010/main" val="655055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AB39FA33-4A6E-0A9D-BF72-2ED0E3DFC31F}"/>
              </a:ext>
            </a:extLst>
          </p:cNvPr>
          <p:cNvSpPr/>
          <p:nvPr/>
        </p:nvSpPr>
        <p:spPr>
          <a:xfrm>
            <a:off x="2311138" y="3734585"/>
            <a:ext cx="838986"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8B067819-C948-742E-F1E6-C855E5635457}"/>
              </a:ext>
            </a:extLst>
          </p:cNvPr>
          <p:cNvSpPr/>
          <p:nvPr/>
        </p:nvSpPr>
        <p:spPr>
          <a:xfrm>
            <a:off x="2535810" y="2942734"/>
            <a:ext cx="407709"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B179F453-F0B0-DC8A-015C-9438E80F23A4}"/>
              </a:ext>
            </a:extLst>
          </p:cNvPr>
          <p:cNvSpPr/>
          <p:nvPr/>
        </p:nvSpPr>
        <p:spPr>
          <a:xfrm>
            <a:off x="2317422" y="3465134"/>
            <a:ext cx="218388" cy="2372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16B4C9B3-43D0-C6A0-BBE4-C97A29EF048B}"/>
              </a:ext>
            </a:extLst>
          </p:cNvPr>
          <p:cNvSpPr/>
          <p:nvPr/>
        </p:nvSpPr>
        <p:spPr>
          <a:xfrm>
            <a:off x="2617902" y="3400683"/>
            <a:ext cx="466627"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8626A993-FCE7-0E9D-B3C9-F2F7772FF755}"/>
              </a:ext>
            </a:extLst>
          </p:cNvPr>
          <p:cNvSpPr/>
          <p:nvPr/>
        </p:nvSpPr>
        <p:spPr>
          <a:xfrm>
            <a:off x="9312821" y="3043359"/>
            <a:ext cx="911254" cy="575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A87E5149-6CB9-CECC-5D8F-05FE0C7762A6}"/>
              </a:ext>
            </a:extLst>
          </p:cNvPr>
          <p:cNvSpPr/>
          <p:nvPr/>
        </p:nvSpPr>
        <p:spPr>
          <a:xfrm>
            <a:off x="3084529" y="4187929"/>
            <a:ext cx="466627" cy="2764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제목 1">
            <a:extLst>
              <a:ext uri="{FF2B5EF4-FFF2-40B4-BE49-F238E27FC236}">
                <a16:creationId xmlns:a16="http://schemas.microsoft.com/office/drawing/2014/main" id="{35299146-82E1-5B3A-4394-E168D3B2557B}"/>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Experience</a:t>
            </a:r>
            <a:endParaRPr lang="ko-KR" altLang="en-US" sz="2800" dirty="0">
              <a:latin typeface="본고딕" panose="020B0500000000000000" pitchFamily="34" charset="-127"/>
              <a:ea typeface="본고딕" panose="020B0500000000000000" pitchFamily="34" charset="-127"/>
            </a:endParaRPr>
          </a:p>
        </p:txBody>
      </p:sp>
      <p:cxnSp>
        <p:nvCxnSpPr>
          <p:cNvPr id="15" name="직선 연결선 14">
            <a:extLst>
              <a:ext uri="{FF2B5EF4-FFF2-40B4-BE49-F238E27FC236}">
                <a16:creationId xmlns:a16="http://schemas.microsoft.com/office/drawing/2014/main" id="{C8387021-C3DB-624D-6879-5F06BB181B15}"/>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11" name="TextBox 13">
            <a:extLst>
              <a:ext uri="{FF2B5EF4-FFF2-40B4-BE49-F238E27FC236}">
                <a16:creationId xmlns:a16="http://schemas.microsoft.com/office/drawing/2014/main" id="{01223897-6115-B57E-CCB8-107B04DEF391}"/>
              </a:ext>
            </a:extLst>
          </p:cNvPr>
          <p:cNvSpPr txBox="1"/>
          <p:nvPr/>
        </p:nvSpPr>
        <p:spPr>
          <a:xfrm>
            <a:off x="838199" y="1431321"/>
            <a:ext cx="10582275" cy="2187145"/>
          </a:xfrm>
          <a:prstGeom prst="rect">
            <a:avLst/>
          </a:prstGeom>
        </p:spPr>
        <p:txBody>
          <a:bodyPr lIns="0" tIns="0" rIns="0" bIns="0" rtlCol="0" anchor="ctr"/>
          <a:lstStyle/>
          <a:p>
            <a:pPr>
              <a:lnSpc>
                <a:spcPct val="149316"/>
              </a:lnSpc>
            </a:pPr>
            <a:r>
              <a:rPr lang="ko-KR" altLang="en-US" sz="2000" spc="-91" dirty="0">
                <a:solidFill>
                  <a:srgbClr val="4C4747"/>
                </a:solidFill>
                <a:latin typeface="본고딕" panose="020B0500000000000000" pitchFamily="34" charset="-127"/>
                <a:ea typeface="본고딕" panose="020B0500000000000000" pitchFamily="34" charset="-127"/>
              </a:rPr>
              <a:t>안수빈 </a:t>
            </a:r>
            <a:r>
              <a:rPr lang="en-US" altLang="ko-KR" sz="2000" spc="-91" dirty="0">
                <a:solidFill>
                  <a:srgbClr val="4C4747"/>
                </a:solidFill>
                <a:latin typeface="본고딕" panose="020B0500000000000000" pitchFamily="34" charset="-127"/>
                <a:ea typeface="본고딕" panose="020B0500000000000000" pitchFamily="34" charset="-127"/>
              </a:rPr>
              <a:t>: It was difficult to balance the learning rate and normalization in the process of implementing Matrix Factorization, but it was possible to set it to an appropriate value through several experiments. Through this project, I was able to understand the vector expression of the user-item relationship using latent factors and the principle of predicting internal preference, and if I had more time, I would like to expand to Natural Collaborative Filtering (NCF).</a:t>
            </a:r>
            <a:endParaRPr lang="en-US" sz="2000"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578485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66493-78B3-B84F-9634-8573200CCB9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E53731B-A085-7347-39B3-7AB19086BC89}"/>
              </a:ext>
            </a:extLst>
          </p:cNvPr>
          <p:cNvSpPr/>
          <p:nvPr/>
        </p:nvSpPr>
        <p:spPr>
          <a:xfrm>
            <a:off x="2311138" y="3734585"/>
            <a:ext cx="838986"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7671A5D1-7D2B-25CB-FB7D-D16BBA1FE901}"/>
              </a:ext>
            </a:extLst>
          </p:cNvPr>
          <p:cNvSpPr/>
          <p:nvPr/>
        </p:nvSpPr>
        <p:spPr>
          <a:xfrm>
            <a:off x="2535810" y="2942734"/>
            <a:ext cx="407709"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2BB84E0C-5676-1A07-A12D-30A5004E8085}"/>
              </a:ext>
            </a:extLst>
          </p:cNvPr>
          <p:cNvSpPr/>
          <p:nvPr/>
        </p:nvSpPr>
        <p:spPr>
          <a:xfrm>
            <a:off x="2317422" y="3465134"/>
            <a:ext cx="218388" cy="2372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A91BA8AF-6F0C-0D68-CADB-845672902FF3}"/>
              </a:ext>
            </a:extLst>
          </p:cNvPr>
          <p:cNvSpPr/>
          <p:nvPr/>
        </p:nvSpPr>
        <p:spPr>
          <a:xfrm>
            <a:off x="2617902" y="3400683"/>
            <a:ext cx="466627"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178C02D0-F63E-248F-4237-AE8FE8E7C3E2}"/>
              </a:ext>
            </a:extLst>
          </p:cNvPr>
          <p:cNvSpPr/>
          <p:nvPr/>
        </p:nvSpPr>
        <p:spPr>
          <a:xfrm>
            <a:off x="9312821" y="3043359"/>
            <a:ext cx="911254" cy="575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0A93C79F-76F5-A83B-B744-FF681725A472}"/>
              </a:ext>
            </a:extLst>
          </p:cNvPr>
          <p:cNvSpPr/>
          <p:nvPr/>
        </p:nvSpPr>
        <p:spPr>
          <a:xfrm>
            <a:off x="3084529" y="4187929"/>
            <a:ext cx="466627" cy="2764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제목 1">
            <a:extLst>
              <a:ext uri="{FF2B5EF4-FFF2-40B4-BE49-F238E27FC236}">
                <a16:creationId xmlns:a16="http://schemas.microsoft.com/office/drawing/2014/main" id="{24435798-0DCD-23C6-A2EA-9FF8AECBCA28}"/>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Experience</a:t>
            </a:r>
            <a:endParaRPr lang="ko-KR" altLang="en-US" sz="2800" dirty="0">
              <a:latin typeface="본고딕" panose="020B0500000000000000" pitchFamily="34" charset="-127"/>
              <a:ea typeface="본고딕" panose="020B0500000000000000" pitchFamily="34" charset="-127"/>
            </a:endParaRPr>
          </a:p>
        </p:txBody>
      </p:sp>
      <p:cxnSp>
        <p:nvCxnSpPr>
          <p:cNvPr id="15" name="직선 연결선 14">
            <a:extLst>
              <a:ext uri="{FF2B5EF4-FFF2-40B4-BE49-F238E27FC236}">
                <a16:creationId xmlns:a16="http://schemas.microsoft.com/office/drawing/2014/main" id="{7AEC9DA3-32D9-438B-182A-96C95EB40F47}"/>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11" name="TextBox 13">
            <a:extLst>
              <a:ext uri="{FF2B5EF4-FFF2-40B4-BE49-F238E27FC236}">
                <a16:creationId xmlns:a16="http://schemas.microsoft.com/office/drawing/2014/main" id="{A57D39B1-4DB9-9375-D094-ECD3EEE286FB}"/>
              </a:ext>
            </a:extLst>
          </p:cNvPr>
          <p:cNvSpPr txBox="1"/>
          <p:nvPr/>
        </p:nvSpPr>
        <p:spPr>
          <a:xfrm>
            <a:off x="838199" y="1431321"/>
            <a:ext cx="10582275" cy="3988404"/>
          </a:xfrm>
          <a:prstGeom prst="rect">
            <a:avLst/>
          </a:prstGeom>
        </p:spPr>
        <p:txBody>
          <a:bodyPr lIns="0" tIns="0" rIns="0" bIns="0" rtlCol="0" anchor="ctr"/>
          <a:lstStyle/>
          <a:p>
            <a:pPr>
              <a:lnSpc>
                <a:spcPct val="149316"/>
              </a:lnSpc>
            </a:pPr>
            <a:r>
              <a:rPr lang="ko-KR" altLang="en-US" sz="2000" spc="-91" dirty="0" err="1">
                <a:solidFill>
                  <a:srgbClr val="4C4747"/>
                </a:solidFill>
                <a:latin typeface="본고딕" panose="020B0500000000000000" pitchFamily="34" charset="-127"/>
                <a:ea typeface="본고딕" panose="020B0500000000000000" pitchFamily="34" charset="-127"/>
              </a:rPr>
              <a:t>김문현</a:t>
            </a:r>
            <a:r>
              <a:rPr lang="ko-KR" altLang="en-US" sz="2000" spc="-91" dirty="0">
                <a:solidFill>
                  <a:srgbClr val="4C4747"/>
                </a:solidFill>
                <a:latin typeface="본고딕" panose="020B0500000000000000" pitchFamily="34" charset="-127"/>
                <a:ea typeface="본고딕" panose="020B0500000000000000" pitchFamily="34" charset="-127"/>
              </a:rPr>
              <a:t> </a:t>
            </a:r>
            <a:r>
              <a:rPr lang="en-US" altLang="ko-KR" sz="2000" spc="-91" dirty="0">
                <a:solidFill>
                  <a:srgbClr val="4C4747"/>
                </a:solidFill>
                <a:latin typeface="본고딕" panose="020B0500000000000000" pitchFamily="34" charset="-127"/>
                <a:ea typeface="본고딕" panose="020B0500000000000000" pitchFamily="34" charset="-127"/>
              </a:rPr>
              <a:t>: Instead of just switching the </a:t>
            </a:r>
            <a:r>
              <a:rPr lang="en-US" altLang="ko-KR" sz="2000" spc="-91" dirty="0" err="1">
                <a:solidFill>
                  <a:srgbClr val="4C4747"/>
                </a:solidFill>
                <a:latin typeface="본고딕" panose="020B0500000000000000" pitchFamily="34" charset="-127"/>
                <a:ea typeface="본고딕" panose="020B0500000000000000" pitchFamily="34" charset="-127"/>
              </a:rPr>
              <a:t>user_based</a:t>
            </a:r>
            <a:r>
              <a:rPr lang="en-US" altLang="ko-KR" sz="2000" spc="-91" dirty="0">
                <a:solidFill>
                  <a:srgbClr val="4C4747"/>
                </a:solidFill>
                <a:latin typeface="본고딕" panose="020B0500000000000000" pitchFamily="34" charset="-127"/>
                <a:ea typeface="본고딕" panose="020B0500000000000000" pitchFamily="34" charset="-127"/>
              </a:rPr>
              <a:t>=True/False option in the surprise library, I implemented the 'weighted average' formula directly by fetching the </a:t>
            </a:r>
            <a:r>
              <a:rPr lang="en-US" altLang="ko-KR" sz="2000" spc="-91" dirty="0" err="1">
                <a:solidFill>
                  <a:srgbClr val="4C4747"/>
                </a:solidFill>
                <a:latin typeface="본고딕" panose="020B0500000000000000" pitchFamily="34" charset="-127"/>
                <a:ea typeface="본고딕" panose="020B0500000000000000" pitchFamily="34" charset="-127"/>
              </a:rPr>
              <a:t>sim_matrix</a:t>
            </a:r>
            <a:r>
              <a:rPr lang="en-US" altLang="ko-KR" sz="2000" spc="-91" dirty="0">
                <a:solidFill>
                  <a:srgbClr val="4C4747"/>
                </a:solidFill>
                <a:latin typeface="본고딕" panose="020B0500000000000000" pitchFamily="34" charset="-127"/>
                <a:ea typeface="본고딕" panose="020B0500000000000000" pitchFamily="34" charset="-127"/>
              </a:rPr>
              <a:t> (similarity matrix). As a result, I was able to understand the clear conceptual difference through the code.</a:t>
            </a:r>
          </a:p>
          <a:p>
            <a:pPr>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In the initial version of the code, I encountered an issue where all movies returned the same predicted rating (the global average), regardless of whether the </a:t>
            </a:r>
            <a:r>
              <a:rPr lang="en-US" altLang="ko-KR" sz="2000" spc="-91" dirty="0" err="1">
                <a:solidFill>
                  <a:srgbClr val="4C4747"/>
                </a:solidFill>
                <a:latin typeface="본고딕" panose="020B0500000000000000" pitchFamily="34" charset="-127"/>
                <a:ea typeface="본고딕" panose="020B0500000000000000" pitchFamily="34" charset="-127"/>
              </a:rPr>
              <a:t>user_based</a:t>
            </a:r>
            <a:r>
              <a:rPr lang="en-US" altLang="ko-KR" sz="2000" spc="-91" dirty="0">
                <a:solidFill>
                  <a:srgbClr val="4C4747"/>
                </a:solidFill>
                <a:latin typeface="본고딕" panose="020B0500000000000000" pitchFamily="34" charset="-127"/>
                <a:ea typeface="본고딕" panose="020B0500000000000000" pitchFamily="34" charset="-127"/>
              </a:rPr>
              <a:t> setting was changed.</a:t>
            </a:r>
          </a:p>
          <a:p>
            <a:pPr>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Through debugging, I discovered that I was passing a string (str) ID to the </a:t>
            </a:r>
            <a:r>
              <a:rPr lang="en-US" altLang="ko-KR" sz="2000" spc="-91" dirty="0" err="1">
                <a:solidFill>
                  <a:srgbClr val="4C4747"/>
                </a:solidFill>
                <a:latin typeface="본고딕" panose="020B0500000000000000" pitchFamily="34" charset="-127"/>
                <a:ea typeface="본고딕" panose="020B0500000000000000" pitchFamily="34" charset="-127"/>
              </a:rPr>
              <a:t>model.predict</a:t>
            </a:r>
            <a:r>
              <a:rPr lang="en-US" altLang="ko-KR" sz="2000" spc="-91" dirty="0">
                <a:solidFill>
                  <a:srgbClr val="4C4747"/>
                </a:solidFill>
                <a:latin typeface="본고딕" panose="020B0500000000000000" pitchFamily="34" charset="-127"/>
                <a:ea typeface="본고딕" panose="020B0500000000000000" pitchFamily="34" charset="-127"/>
              </a:rPr>
              <a:t>() function instead of the required integer (int) ID. This caused the model to fail its prediction and return only the default value.</a:t>
            </a:r>
          </a:p>
          <a:p>
            <a:pPr>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I resolved this issue by correcting the ID data type.</a:t>
            </a:r>
            <a:endParaRPr lang="en-US" sz="2000"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1579871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B7663-9688-9073-3679-111101182F0E}"/>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C987BE87-70F6-FE73-1E5B-F9C32C6D799D}"/>
              </a:ext>
            </a:extLst>
          </p:cNvPr>
          <p:cNvSpPr/>
          <p:nvPr/>
        </p:nvSpPr>
        <p:spPr>
          <a:xfrm>
            <a:off x="2311138" y="3734585"/>
            <a:ext cx="838986"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8BCE2D6C-BB73-F4F9-4A63-DB9198BFEB84}"/>
              </a:ext>
            </a:extLst>
          </p:cNvPr>
          <p:cNvSpPr/>
          <p:nvPr/>
        </p:nvSpPr>
        <p:spPr>
          <a:xfrm>
            <a:off x="2535810" y="2942734"/>
            <a:ext cx="407709"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8D84315C-D8B7-C8C4-E4F5-910DB934A8B9}"/>
              </a:ext>
            </a:extLst>
          </p:cNvPr>
          <p:cNvSpPr/>
          <p:nvPr/>
        </p:nvSpPr>
        <p:spPr>
          <a:xfrm>
            <a:off x="2317422" y="3465134"/>
            <a:ext cx="218388" cy="2372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E62ECBA2-C2FB-F459-CCBF-E95352102839}"/>
              </a:ext>
            </a:extLst>
          </p:cNvPr>
          <p:cNvSpPr/>
          <p:nvPr/>
        </p:nvSpPr>
        <p:spPr>
          <a:xfrm>
            <a:off x="2617902" y="3400683"/>
            <a:ext cx="466627"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E5FCEFE1-9B63-9248-E8F2-EAD68AA46A75}"/>
              </a:ext>
            </a:extLst>
          </p:cNvPr>
          <p:cNvSpPr/>
          <p:nvPr/>
        </p:nvSpPr>
        <p:spPr>
          <a:xfrm>
            <a:off x="9312821" y="3043359"/>
            <a:ext cx="911254" cy="575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EDDFA12C-298D-8902-CD1C-287EBDFA487F}"/>
              </a:ext>
            </a:extLst>
          </p:cNvPr>
          <p:cNvSpPr/>
          <p:nvPr/>
        </p:nvSpPr>
        <p:spPr>
          <a:xfrm>
            <a:off x="3084529" y="4187929"/>
            <a:ext cx="466627" cy="2764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제목 1">
            <a:extLst>
              <a:ext uri="{FF2B5EF4-FFF2-40B4-BE49-F238E27FC236}">
                <a16:creationId xmlns:a16="http://schemas.microsoft.com/office/drawing/2014/main" id="{88653BB4-B05B-643E-B4A6-D6EB43FC84AD}"/>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Experience</a:t>
            </a:r>
            <a:endParaRPr lang="ko-KR" altLang="en-US" sz="2800" dirty="0">
              <a:latin typeface="본고딕" panose="020B0500000000000000" pitchFamily="34" charset="-127"/>
              <a:ea typeface="본고딕" panose="020B0500000000000000" pitchFamily="34" charset="-127"/>
            </a:endParaRPr>
          </a:p>
        </p:txBody>
      </p:sp>
      <p:cxnSp>
        <p:nvCxnSpPr>
          <p:cNvPr id="15" name="직선 연결선 14">
            <a:extLst>
              <a:ext uri="{FF2B5EF4-FFF2-40B4-BE49-F238E27FC236}">
                <a16:creationId xmlns:a16="http://schemas.microsoft.com/office/drawing/2014/main" id="{76A5F6E9-BF07-3E27-CD0A-910636046FFA}"/>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11" name="TextBox 13">
            <a:extLst>
              <a:ext uri="{FF2B5EF4-FFF2-40B4-BE49-F238E27FC236}">
                <a16:creationId xmlns:a16="http://schemas.microsoft.com/office/drawing/2014/main" id="{904EDD45-4FDE-0F93-EA27-14FAA1174741}"/>
              </a:ext>
            </a:extLst>
          </p:cNvPr>
          <p:cNvSpPr txBox="1"/>
          <p:nvPr/>
        </p:nvSpPr>
        <p:spPr>
          <a:xfrm>
            <a:off x="838200" y="1476390"/>
            <a:ext cx="10582275" cy="3428979"/>
          </a:xfrm>
          <a:prstGeom prst="rect">
            <a:avLst/>
          </a:prstGeom>
        </p:spPr>
        <p:txBody>
          <a:bodyPr lIns="0" tIns="0" rIns="0" bIns="0" rtlCol="0" anchor="ctr"/>
          <a:lstStyle/>
          <a:p>
            <a:pPr>
              <a:lnSpc>
                <a:spcPct val="149316"/>
              </a:lnSpc>
            </a:pPr>
            <a:r>
              <a:rPr lang="ko-KR" altLang="en-US" sz="2000" spc="-91" dirty="0" err="1">
                <a:solidFill>
                  <a:srgbClr val="4C4747"/>
                </a:solidFill>
                <a:latin typeface="본고딕" panose="020B0500000000000000" pitchFamily="34" charset="-127"/>
                <a:ea typeface="본고딕" panose="020B0500000000000000" pitchFamily="34" charset="-127"/>
              </a:rPr>
              <a:t>김수향</a:t>
            </a:r>
            <a:r>
              <a:rPr lang="ko-KR" altLang="en-US" sz="2000" spc="-91" dirty="0">
                <a:solidFill>
                  <a:srgbClr val="4C4747"/>
                </a:solidFill>
                <a:latin typeface="본고딕" panose="020B0500000000000000" pitchFamily="34" charset="-127"/>
                <a:ea typeface="본고딕" panose="020B0500000000000000" pitchFamily="34" charset="-127"/>
              </a:rPr>
              <a:t> </a:t>
            </a:r>
            <a:r>
              <a:rPr lang="en-US" altLang="ko-KR" sz="2000" spc="-91" dirty="0">
                <a:solidFill>
                  <a:srgbClr val="4C4747"/>
                </a:solidFill>
                <a:latin typeface="본고딕" panose="020B0500000000000000" pitchFamily="34" charset="-127"/>
                <a:ea typeface="본고딕" panose="020B0500000000000000" pitchFamily="34" charset="-127"/>
              </a:rPr>
              <a:t>: During the data preprocessing stage, I focused on integrating the ratings and movies datasets based on </a:t>
            </a:r>
            <a:r>
              <a:rPr lang="en-US" altLang="ko-KR" sz="2000" spc="-91" dirty="0" err="1">
                <a:solidFill>
                  <a:srgbClr val="4C4747"/>
                </a:solidFill>
                <a:latin typeface="본고딕" panose="020B0500000000000000" pitchFamily="34" charset="-127"/>
                <a:ea typeface="본고딕" panose="020B0500000000000000" pitchFamily="34" charset="-127"/>
              </a:rPr>
              <a:t>movieId</a:t>
            </a:r>
            <a:r>
              <a:rPr lang="en-US" altLang="ko-KR" sz="2000" spc="-91" dirty="0">
                <a:solidFill>
                  <a:srgbClr val="4C4747"/>
                </a:solidFill>
                <a:latin typeface="본고딕" panose="020B0500000000000000" pitchFamily="34" charset="-127"/>
                <a:ea typeface="본고딕" panose="020B0500000000000000" pitchFamily="34" charset="-127"/>
              </a:rPr>
              <a:t>, applying label encoding to convert </a:t>
            </a:r>
            <a:r>
              <a:rPr lang="en-US" altLang="ko-KR" sz="2000" spc="-91" dirty="0" err="1">
                <a:solidFill>
                  <a:srgbClr val="4C4747"/>
                </a:solidFill>
                <a:latin typeface="본고딕" panose="020B0500000000000000" pitchFamily="34" charset="-127"/>
                <a:ea typeface="본고딕" panose="020B0500000000000000" pitchFamily="34" charset="-127"/>
              </a:rPr>
              <a:t>userId</a:t>
            </a:r>
            <a:r>
              <a:rPr lang="en-US" altLang="ko-KR" sz="2000" spc="-91" dirty="0">
                <a:solidFill>
                  <a:srgbClr val="4C4747"/>
                </a:solidFill>
                <a:latin typeface="본고딕" panose="020B0500000000000000" pitchFamily="34" charset="-127"/>
                <a:ea typeface="본고딕" panose="020B0500000000000000" pitchFamily="34" charset="-127"/>
              </a:rPr>
              <a:t> and </a:t>
            </a:r>
            <a:r>
              <a:rPr lang="en-US" altLang="ko-KR" sz="2000" spc="-91" dirty="0" err="1">
                <a:solidFill>
                  <a:srgbClr val="4C4747"/>
                </a:solidFill>
                <a:latin typeface="본고딕" panose="020B0500000000000000" pitchFamily="34" charset="-127"/>
                <a:ea typeface="본고딕" panose="020B0500000000000000" pitchFamily="34" charset="-127"/>
              </a:rPr>
              <a:t>movieId</a:t>
            </a:r>
            <a:r>
              <a:rPr lang="en-US" altLang="ko-KR" sz="2000" spc="-91" dirty="0">
                <a:solidFill>
                  <a:srgbClr val="4C4747"/>
                </a:solidFill>
                <a:latin typeface="본고딕" panose="020B0500000000000000" pitchFamily="34" charset="-127"/>
                <a:ea typeface="본고딕" panose="020B0500000000000000" pitchFamily="34" charset="-127"/>
              </a:rPr>
              <a:t> into integer types, and normalizing the overall structure into a unified format (</a:t>
            </a:r>
            <a:r>
              <a:rPr lang="en-US" altLang="ko-KR" sz="2000" spc="-91" dirty="0" err="1">
                <a:solidFill>
                  <a:srgbClr val="4C4747"/>
                </a:solidFill>
                <a:latin typeface="본고딕" panose="020B0500000000000000" pitchFamily="34" charset="-127"/>
                <a:ea typeface="본고딕" panose="020B0500000000000000" pitchFamily="34" charset="-127"/>
              </a:rPr>
              <a:t>userId_enc</a:t>
            </a:r>
            <a:r>
              <a:rPr lang="en-US" altLang="ko-KR" sz="2000" spc="-91" dirty="0">
                <a:solidFill>
                  <a:srgbClr val="4C4747"/>
                </a:solidFill>
                <a:latin typeface="본고딕" panose="020B0500000000000000" pitchFamily="34" charset="-127"/>
                <a:ea typeface="본고딕" panose="020B0500000000000000" pitchFamily="34" charset="-127"/>
              </a:rPr>
              <a:t>, </a:t>
            </a:r>
            <a:r>
              <a:rPr lang="en-US" altLang="ko-KR" sz="2000" spc="-91" dirty="0" err="1">
                <a:solidFill>
                  <a:srgbClr val="4C4747"/>
                </a:solidFill>
                <a:latin typeface="본고딕" panose="020B0500000000000000" pitchFamily="34" charset="-127"/>
                <a:ea typeface="본고딕" panose="020B0500000000000000" pitchFamily="34" charset="-127"/>
              </a:rPr>
              <a:t>movieId_enc</a:t>
            </a:r>
            <a:r>
              <a:rPr lang="en-US" altLang="ko-KR" sz="2000" spc="-91" dirty="0">
                <a:solidFill>
                  <a:srgbClr val="4C4747"/>
                </a:solidFill>
                <a:latin typeface="본고딕" panose="020B0500000000000000" pitchFamily="34" charset="-127"/>
                <a:ea typeface="본고딕" panose="020B0500000000000000" pitchFamily="34" charset="-127"/>
              </a:rPr>
              <a:t>, rating, title).</a:t>
            </a:r>
          </a:p>
          <a:p>
            <a:pPr>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While these steps seemed straightforward at first, I realized that subtle inconsistencies in ID mapping could cause significant prediction errors later in the recommendation model. By carefully ensuring consistent encoding across datasets, I learned the importance of data integrity in collaborative filtering pipelines.</a:t>
            </a:r>
          </a:p>
        </p:txBody>
      </p:sp>
    </p:spTree>
    <p:extLst>
      <p:ext uri="{BB962C8B-B14F-4D97-AF65-F5344CB8AC3E}">
        <p14:creationId xmlns:p14="http://schemas.microsoft.com/office/powerpoint/2010/main" val="2329837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F67B1-2712-0526-9F12-EA4048929228}"/>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D2B6CBE-9C57-61D7-DCA1-5CBE4A83B313}"/>
              </a:ext>
            </a:extLst>
          </p:cNvPr>
          <p:cNvSpPr/>
          <p:nvPr/>
        </p:nvSpPr>
        <p:spPr>
          <a:xfrm>
            <a:off x="2311138" y="3734585"/>
            <a:ext cx="838986"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7DCF1202-EB28-67A6-B4EB-90E816FB9493}"/>
              </a:ext>
            </a:extLst>
          </p:cNvPr>
          <p:cNvSpPr/>
          <p:nvPr/>
        </p:nvSpPr>
        <p:spPr>
          <a:xfrm>
            <a:off x="2535810" y="2942734"/>
            <a:ext cx="407709"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726C88D6-698D-03EA-5000-46C05D570FA6}"/>
              </a:ext>
            </a:extLst>
          </p:cNvPr>
          <p:cNvSpPr/>
          <p:nvPr/>
        </p:nvSpPr>
        <p:spPr>
          <a:xfrm>
            <a:off x="2317422" y="3465134"/>
            <a:ext cx="218388" cy="2372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99D26624-C125-E68E-E6E3-4D334AAD0773}"/>
              </a:ext>
            </a:extLst>
          </p:cNvPr>
          <p:cNvSpPr/>
          <p:nvPr/>
        </p:nvSpPr>
        <p:spPr>
          <a:xfrm>
            <a:off x="2617902" y="3400683"/>
            <a:ext cx="466627"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E33DACA1-2A09-4FEB-61BB-949784B07DA7}"/>
              </a:ext>
            </a:extLst>
          </p:cNvPr>
          <p:cNvSpPr/>
          <p:nvPr/>
        </p:nvSpPr>
        <p:spPr>
          <a:xfrm>
            <a:off x="9312821" y="3043359"/>
            <a:ext cx="911254" cy="575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4EBFF85-2712-424E-FFDE-AE0897B2061A}"/>
              </a:ext>
            </a:extLst>
          </p:cNvPr>
          <p:cNvSpPr/>
          <p:nvPr/>
        </p:nvSpPr>
        <p:spPr>
          <a:xfrm>
            <a:off x="3084529" y="4187929"/>
            <a:ext cx="466627" cy="2764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제목 1">
            <a:extLst>
              <a:ext uri="{FF2B5EF4-FFF2-40B4-BE49-F238E27FC236}">
                <a16:creationId xmlns:a16="http://schemas.microsoft.com/office/drawing/2014/main" id="{937DEAEF-FEE6-2A07-6023-E3AC0E9FCCA2}"/>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Experience</a:t>
            </a:r>
            <a:endParaRPr lang="ko-KR" altLang="en-US" sz="2800" dirty="0">
              <a:latin typeface="본고딕" panose="020B0500000000000000" pitchFamily="34" charset="-127"/>
              <a:ea typeface="본고딕" panose="020B0500000000000000" pitchFamily="34" charset="-127"/>
            </a:endParaRPr>
          </a:p>
        </p:txBody>
      </p:sp>
      <p:cxnSp>
        <p:nvCxnSpPr>
          <p:cNvPr id="15" name="직선 연결선 14">
            <a:extLst>
              <a:ext uri="{FF2B5EF4-FFF2-40B4-BE49-F238E27FC236}">
                <a16:creationId xmlns:a16="http://schemas.microsoft.com/office/drawing/2014/main" id="{19CFC16C-E616-E174-9F36-457CE02B7744}"/>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11" name="TextBox 13">
            <a:extLst>
              <a:ext uri="{FF2B5EF4-FFF2-40B4-BE49-F238E27FC236}">
                <a16:creationId xmlns:a16="http://schemas.microsoft.com/office/drawing/2014/main" id="{2ADA2FBE-428A-D1C5-02B1-E59A97256D77}"/>
              </a:ext>
            </a:extLst>
          </p:cNvPr>
          <p:cNvSpPr txBox="1"/>
          <p:nvPr/>
        </p:nvSpPr>
        <p:spPr>
          <a:xfrm>
            <a:off x="838199" y="1431321"/>
            <a:ext cx="10582275" cy="2588230"/>
          </a:xfrm>
          <a:prstGeom prst="rect">
            <a:avLst/>
          </a:prstGeom>
        </p:spPr>
        <p:txBody>
          <a:bodyPr lIns="0" tIns="0" rIns="0" bIns="0" rtlCol="0" anchor="ctr"/>
          <a:lstStyle/>
          <a:p>
            <a:pPr>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Additionally, while handling larger versions such as MovieLens 20M and 32M, I experienced firsthand how data scale directly affects processing time and computational efficiency. Through this, I gained a deeper appreciation for optimizing preprocessing pipelines and managing computational resources effectively.</a:t>
            </a:r>
          </a:p>
          <a:p>
            <a:pPr>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If given more time, I would like to automate this preprocessing into a reusable module that can flexibly handle different dataset scales and encoding strategies.</a:t>
            </a:r>
            <a:endParaRPr lang="en-US" sz="2000"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337078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06E70-DB68-87F3-3768-DEB00D994C0E}"/>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342F3743-E1CF-D664-B95A-7DDCD5402047}"/>
              </a:ext>
            </a:extLst>
          </p:cNvPr>
          <p:cNvSpPr/>
          <p:nvPr/>
        </p:nvSpPr>
        <p:spPr>
          <a:xfrm>
            <a:off x="2311138" y="3734585"/>
            <a:ext cx="838986"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9E61672-67FA-45A3-39D9-95553BC2A5B5}"/>
              </a:ext>
            </a:extLst>
          </p:cNvPr>
          <p:cNvSpPr/>
          <p:nvPr/>
        </p:nvSpPr>
        <p:spPr>
          <a:xfrm>
            <a:off x="2535810" y="2942734"/>
            <a:ext cx="407709"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A327F685-A42D-60E5-B1F2-9D9E6223B1AF}"/>
              </a:ext>
            </a:extLst>
          </p:cNvPr>
          <p:cNvSpPr/>
          <p:nvPr/>
        </p:nvSpPr>
        <p:spPr>
          <a:xfrm>
            <a:off x="2317422" y="3465134"/>
            <a:ext cx="218388" cy="2372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7A3AEF2B-1C68-D5F7-219C-01B19A107164}"/>
              </a:ext>
            </a:extLst>
          </p:cNvPr>
          <p:cNvSpPr/>
          <p:nvPr/>
        </p:nvSpPr>
        <p:spPr>
          <a:xfrm>
            <a:off x="2617902" y="3400683"/>
            <a:ext cx="466627"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13771935-372E-EDB3-2B8C-5EEDEAC99F35}"/>
              </a:ext>
            </a:extLst>
          </p:cNvPr>
          <p:cNvSpPr/>
          <p:nvPr/>
        </p:nvSpPr>
        <p:spPr>
          <a:xfrm>
            <a:off x="9312821" y="3043359"/>
            <a:ext cx="911254" cy="575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00045773-4E44-CF66-546C-B7B154C61278}"/>
              </a:ext>
            </a:extLst>
          </p:cNvPr>
          <p:cNvSpPr/>
          <p:nvPr/>
        </p:nvSpPr>
        <p:spPr>
          <a:xfrm>
            <a:off x="3084529" y="4187929"/>
            <a:ext cx="466627" cy="2764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제목 1">
            <a:extLst>
              <a:ext uri="{FF2B5EF4-FFF2-40B4-BE49-F238E27FC236}">
                <a16:creationId xmlns:a16="http://schemas.microsoft.com/office/drawing/2014/main" id="{B71D96B0-242A-7DD8-8047-111B44D16FF3}"/>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Learning Experience</a:t>
            </a:r>
            <a:endParaRPr lang="ko-KR" altLang="en-US" sz="2800" dirty="0">
              <a:latin typeface="본고딕" panose="020B0500000000000000" pitchFamily="34" charset="-127"/>
              <a:ea typeface="본고딕" panose="020B0500000000000000" pitchFamily="34" charset="-127"/>
            </a:endParaRPr>
          </a:p>
        </p:txBody>
      </p:sp>
      <p:cxnSp>
        <p:nvCxnSpPr>
          <p:cNvPr id="15" name="직선 연결선 14">
            <a:extLst>
              <a:ext uri="{FF2B5EF4-FFF2-40B4-BE49-F238E27FC236}">
                <a16:creationId xmlns:a16="http://schemas.microsoft.com/office/drawing/2014/main" id="{D5781DAA-1B30-4152-874D-375EA4BAE7C4}"/>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11" name="TextBox 13">
            <a:extLst>
              <a:ext uri="{FF2B5EF4-FFF2-40B4-BE49-F238E27FC236}">
                <a16:creationId xmlns:a16="http://schemas.microsoft.com/office/drawing/2014/main" id="{C1B4B18E-1BE3-D8CB-9FEE-F1C5E6CF51E2}"/>
              </a:ext>
            </a:extLst>
          </p:cNvPr>
          <p:cNvSpPr txBox="1"/>
          <p:nvPr/>
        </p:nvSpPr>
        <p:spPr>
          <a:xfrm>
            <a:off x="838199" y="1431321"/>
            <a:ext cx="10582275" cy="826100"/>
          </a:xfrm>
          <a:prstGeom prst="rect">
            <a:avLst/>
          </a:prstGeom>
        </p:spPr>
        <p:txBody>
          <a:bodyPr lIns="0" tIns="0" rIns="0" bIns="0" rtlCol="0" anchor="ctr"/>
          <a:lstStyle/>
          <a:p>
            <a:pPr>
              <a:lnSpc>
                <a:spcPct val="149316"/>
              </a:lnSpc>
            </a:pPr>
            <a:r>
              <a:rPr lang="ko-KR" altLang="en-US" sz="2000" spc="-91" dirty="0">
                <a:solidFill>
                  <a:srgbClr val="4C4747"/>
                </a:solidFill>
                <a:latin typeface="본고딕" panose="020B0500000000000000" pitchFamily="34" charset="-127"/>
                <a:ea typeface="본고딕" panose="020B0500000000000000" pitchFamily="34" charset="-127"/>
              </a:rPr>
              <a:t>오상민 </a:t>
            </a:r>
            <a:r>
              <a:rPr lang="en-US" altLang="ko-KR" sz="2000" spc="-91" dirty="0">
                <a:solidFill>
                  <a:srgbClr val="4C4747"/>
                </a:solidFill>
                <a:latin typeface="본고딕" panose="020B0500000000000000" pitchFamily="34" charset="-127"/>
                <a:ea typeface="본고딕" panose="020B0500000000000000" pitchFamily="34" charset="-127"/>
              </a:rPr>
              <a:t>: Learned  rating-based evaluation and ranking-based evaluation. Learned difference between rating-based and ranking-based evaluation.</a:t>
            </a:r>
            <a:endParaRPr lang="en-US" sz="2000" spc="-91" dirty="0">
              <a:solidFill>
                <a:srgbClr val="4C4747"/>
              </a:solidFill>
              <a:latin typeface="본고딕" panose="020B0500000000000000" pitchFamily="34" charset="-127"/>
              <a:ea typeface="본고딕" panose="020B0500000000000000" pitchFamily="34" charset="-127"/>
            </a:endParaRPr>
          </a:p>
        </p:txBody>
      </p:sp>
    </p:spTree>
    <p:extLst>
      <p:ext uri="{BB962C8B-B14F-4D97-AF65-F5344CB8AC3E}">
        <p14:creationId xmlns:p14="http://schemas.microsoft.com/office/powerpoint/2010/main" val="3043804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60D66-33B5-C71B-A2F2-78EA16ACE482}"/>
            </a:ext>
          </a:extLst>
        </p:cNvPr>
        <p:cNvGrpSpPr/>
        <p:nvPr/>
      </p:nvGrpSpPr>
      <p:grpSpPr>
        <a:xfrm>
          <a:off x="0" y="0"/>
          <a:ext cx="0" cy="0"/>
          <a:chOff x="0" y="0"/>
          <a:chExt cx="0" cy="0"/>
        </a:xfrm>
      </p:grpSpPr>
      <p:sp>
        <p:nvSpPr>
          <p:cNvPr id="6" name="직사각형 5">
            <a:extLst>
              <a:ext uri="{FF2B5EF4-FFF2-40B4-BE49-F238E27FC236}">
                <a16:creationId xmlns:a16="http://schemas.microsoft.com/office/drawing/2014/main" id="{D1F4BE8C-F3B7-8D78-12F5-A230428059E1}"/>
              </a:ext>
            </a:extLst>
          </p:cNvPr>
          <p:cNvSpPr/>
          <p:nvPr/>
        </p:nvSpPr>
        <p:spPr>
          <a:xfrm>
            <a:off x="2535810" y="2942734"/>
            <a:ext cx="407709" cy="7352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2C79812E-53A3-F9FC-D60F-615987A85588}"/>
              </a:ext>
            </a:extLst>
          </p:cNvPr>
          <p:cNvSpPr/>
          <p:nvPr/>
        </p:nvSpPr>
        <p:spPr>
          <a:xfrm>
            <a:off x="9312821" y="3043359"/>
            <a:ext cx="911254" cy="575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제목 1">
            <a:extLst>
              <a:ext uri="{FF2B5EF4-FFF2-40B4-BE49-F238E27FC236}">
                <a16:creationId xmlns:a16="http://schemas.microsoft.com/office/drawing/2014/main" id="{9EF61B83-A5A0-F49B-7F9C-195B51307FC6}"/>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Teamwork data</a:t>
            </a:r>
            <a:endParaRPr lang="ko-KR" altLang="en-US" sz="2800" dirty="0">
              <a:latin typeface="본고딕" panose="020B0500000000000000" pitchFamily="34" charset="-127"/>
              <a:ea typeface="본고딕" panose="020B0500000000000000" pitchFamily="34" charset="-127"/>
            </a:endParaRPr>
          </a:p>
        </p:txBody>
      </p:sp>
      <p:cxnSp>
        <p:nvCxnSpPr>
          <p:cNvPr id="15" name="직선 연결선 14">
            <a:extLst>
              <a:ext uri="{FF2B5EF4-FFF2-40B4-BE49-F238E27FC236}">
                <a16:creationId xmlns:a16="http://schemas.microsoft.com/office/drawing/2014/main" id="{5DFBB81A-B831-C352-0B84-89DB6BE3B0F1}"/>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11" name="TextBox 13">
            <a:extLst>
              <a:ext uri="{FF2B5EF4-FFF2-40B4-BE49-F238E27FC236}">
                <a16:creationId xmlns:a16="http://schemas.microsoft.com/office/drawing/2014/main" id="{3099171D-ECBF-6067-7B68-06E4B6AB7472}"/>
              </a:ext>
            </a:extLst>
          </p:cNvPr>
          <p:cNvSpPr txBox="1"/>
          <p:nvPr/>
        </p:nvSpPr>
        <p:spPr>
          <a:xfrm>
            <a:off x="838199" y="1431320"/>
            <a:ext cx="10582275" cy="2028309"/>
          </a:xfrm>
          <a:prstGeom prst="rect">
            <a:avLst/>
          </a:prstGeom>
        </p:spPr>
        <p:txBody>
          <a:bodyPr lIns="0" tIns="0" rIns="0" bIns="0" rtlCol="0" anchor="ctr"/>
          <a:lstStyle/>
          <a:p>
            <a:pPr>
              <a:lnSpc>
                <a:spcPct val="149316"/>
              </a:lnSpc>
            </a:pPr>
            <a:r>
              <a:rPr lang="ko-KR" altLang="en-US" sz="2400" spc="-91" dirty="0">
                <a:solidFill>
                  <a:srgbClr val="4C4747"/>
                </a:solidFill>
                <a:latin typeface="본고딕" panose="020B0500000000000000" pitchFamily="34" charset="-127"/>
                <a:ea typeface="본고딕" panose="020B0500000000000000" pitchFamily="34" charset="-127"/>
              </a:rPr>
              <a:t>안수빈 </a:t>
            </a:r>
            <a:r>
              <a:rPr lang="en-US" altLang="ko-KR" sz="2400" spc="-91" dirty="0">
                <a:solidFill>
                  <a:srgbClr val="4C4747"/>
                </a:solidFill>
                <a:latin typeface="본고딕" panose="020B0500000000000000" pitchFamily="34" charset="-127"/>
                <a:ea typeface="본고딕" panose="020B0500000000000000" pitchFamily="34" charset="-127"/>
              </a:rPr>
              <a:t>: Modeling (Model-based CF), Proposal, </a:t>
            </a:r>
            <a:r>
              <a:rPr lang="en-US" altLang="ko-KR" sz="2400" spc="-91" dirty="0" err="1">
                <a:solidFill>
                  <a:srgbClr val="4C4747"/>
                </a:solidFill>
                <a:latin typeface="본고딕" panose="020B0500000000000000" pitchFamily="34" charset="-127"/>
                <a:ea typeface="본고딕" panose="020B0500000000000000" pitchFamily="34" charset="-127"/>
              </a:rPr>
              <a:t>Github</a:t>
            </a:r>
            <a:endParaRPr lang="en-US" altLang="ko-KR" sz="2400" spc="-91" dirty="0">
              <a:solidFill>
                <a:srgbClr val="4C4747"/>
              </a:solidFill>
              <a:latin typeface="본고딕" panose="020B0500000000000000" pitchFamily="34" charset="-127"/>
              <a:ea typeface="본고딕" panose="020B0500000000000000" pitchFamily="34" charset="-127"/>
            </a:endParaRPr>
          </a:p>
          <a:p>
            <a:pPr>
              <a:lnSpc>
                <a:spcPct val="149316"/>
              </a:lnSpc>
            </a:pPr>
            <a:r>
              <a:rPr lang="ko-KR" altLang="en-US" sz="2400" spc="-91" dirty="0" err="1">
                <a:solidFill>
                  <a:srgbClr val="4C4747"/>
                </a:solidFill>
                <a:latin typeface="본고딕" panose="020B0500000000000000" pitchFamily="34" charset="-127"/>
                <a:ea typeface="본고딕" panose="020B0500000000000000" pitchFamily="34" charset="-127"/>
              </a:rPr>
              <a:t>김문현</a:t>
            </a:r>
            <a:r>
              <a:rPr lang="ko-KR" altLang="en-US" sz="2400" spc="-91" dirty="0">
                <a:solidFill>
                  <a:srgbClr val="4C4747"/>
                </a:solidFill>
                <a:latin typeface="본고딕" panose="020B0500000000000000" pitchFamily="34" charset="-127"/>
                <a:ea typeface="본고딕" panose="020B0500000000000000" pitchFamily="34" charset="-127"/>
              </a:rPr>
              <a:t> </a:t>
            </a:r>
            <a:r>
              <a:rPr lang="en-US" altLang="ko-KR" sz="2400" spc="-91" dirty="0">
                <a:solidFill>
                  <a:srgbClr val="4C4747"/>
                </a:solidFill>
                <a:latin typeface="본고딕" panose="020B0500000000000000" pitchFamily="34" charset="-127"/>
                <a:ea typeface="본고딕" panose="020B0500000000000000" pitchFamily="34" charset="-127"/>
              </a:rPr>
              <a:t>: Modeling (Memory-based CF ), Word</a:t>
            </a:r>
          </a:p>
          <a:p>
            <a:pPr>
              <a:lnSpc>
                <a:spcPct val="149316"/>
              </a:lnSpc>
            </a:pPr>
            <a:r>
              <a:rPr lang="ko-KR" altLang="en-US" sz="2400" spc="-91" dirty="0" err="1">
                <a:solidFill>
                  <a:srgbClr val="4C4747"/>
                </a:solidFill>
                <a:latin typeface="본고딕" panose="020B0500000000000000" pitchFamily="34" charset="-127"/>
                <a:ea typeface="본고딕" panose="020B0500000000000000" pitchFamily="34" charset="-127"/>
              </a:rPr>
              <a:t>김수향</a:t>
            </a:r>
            <a:r>
              <a:rPr lang="ko-KR" altLang="en-US" sz="2400" spc="-91" dirty="0">
                <a:solidFill>
                  <a:srgbClr val="4C4747"/>
                </a:solidFill>
                <a:latin typeface="본고딕" panose="020B0500000000000000" pitchFamily="34" charset="-127"/>
                <a:ea typeface="본고딕" panose="020B0500000000000000" pitchFamily="34" charset="-127"/>
              </a:rPr>
              <a:t> </a:t>
            </a:r>
            <a:r>
              <a:rPr lang="en-US" altLang="ko-KR" sz="2400" spc="-91" dirty="0">
                <a:solidFill>
                  <a:srgbClr val="4C4747"/>
                </a:solidFill>
                <a:latin typeface="본고딕" panose="020B0500000000000000" pitchFamily="34" charset="-127"/>
                <a:ea typeface="본고딕" panose="020B0500000000000000" pitchFamily="34" charset="-127"/>
              </a:rPr>
              <a:t>: Preprocessing, Presentation</a:t>
            </a:r>
          </a:p>
          <a:p>
            <a:pPr>
              <a:lnSpc>
                <a:spcPct val="149316"/>
              </a:lnSpc>
            </a:pPr>
            <a:r>
              <a:rPr lang="ko-KR" altLang="en-US" sz="2400" spc="-91" dirty="0">
                <a:solidFill>
                  <a:srgbClr val="4C4747"/>
                </a:solidFill>
                <a:latin typeface="본고딕" panose="020B0500000000000000" pitchFamily="34" charset="-127"/>
                <a:ea typeface="본고딕" panose="020B0500000000000000" pitchFamily="34" charset="-127"/>
              </a:rPr>
              <a:t>오상민 </a:t>
            </a:r>
            <a:r>
              <a:rPr lang="en-US" altLang="ko-KR" sz="2400" spc="-91" dirty="0">
                <a:solidFill>
                  <a:srgbClr val="4C4747"/>
                </a:solidFill>
                <a:latin typeface="본고딕" panose="020B0500000000000000" pitchFamily="34" charset="-127"/>
                <a:ea typeface="본고딕" panose="020B0500000000000000" pitchFamily="34" charset="-127"/>
              </a:rPr>
              <a:t>: Model Evaluation, PPT</a:t>
            </a:r>
            <a:endParaRPr lang="en-US" sz="2400" spc="-91" dirty="0">
              <a:solidFill>
                <a:srgbClr val="4C4747"/>
              </a:solidFill>
              <a:latin typeface="본고딕" panose="020B0500000000000000" pitchFamily="34" charset="-127"/>
              <a:ea typeface="본고딕" panose="020B0500000000000000" pitchFamily="34" charset="-127"/>
            </a:endParaRPr>
          </a:p>
        </p:txBody>
      </p:sp>
      <p:sp>
        <p:nvSpPr>
          <p:cNvPr id="2" name="TextBox 13">
            <a:extLst>
              <a:ext uri="{FF2B5EF4-FFF2-40B4-BE49-F238E27FC236}">
                <a16:creationId xmlns:a16="http://schemas.microsoft.com/office/drawing/2014/main" id="{25722CBF-A27F-D57D-BE72-795EF9F9C966}"/>
              </a:ext>
            </a:extLst>
          </p:cNvPr>
          <p:cNvSpPr txBox="1"/>
          <p:nvPr/>
        </p:nvSpPr>
        <p:spPr>
          <a:xfrm>
            <a:off x="838200" y="1431320"/>
            <a:ext cx="8296276" cy="2028309"/>
          </a:xfrm>
          <a:prstGeom prst="rect">
            <a:avLst/>
          </a:prstGeom>
        </p:spPr>
        <p:txBody>
          <a:bodyPr lIns="0" tIns="0" rIns="0" bIns="0" rtlCol="0" anchor="ctr"/>
          <a:lstStyle/>
          <a:p>
            <a:pPr algn="r">
              <a:lnSpc>
                <a:spcPct val="149316"/>
              </a:lnSpc>
            </a:pPr>
            <a:r>
              <a:rPr lang="en-US" altLang="ko-KR" sz="2400" spc="-91" dirty="0">
                <a:solidFill>
                  <a:srgbClr val="4C4747"/>
                </a:solidFill>
                <a:latin typeface="본고딕" panose="020B0500000000000000" pitchFamily="34" charset="-127"/>
                <a:ea typeface="본고딕" panose="020B0500000000000000" pitchFamily="34" charset="-127"/>
              </a:rPr>
              <a:t>25%</a:t>
            </a:r>
          </a:p>
          <a:p>
            <a:pPr algn="r">
              <a:lnSpc>
                <a:spcPct val="149316"/>
              </a:lnSpc>
            </a:pPr>
            <a:r>
              <a:rPr lang="en-US" sz="2400" spc="-91" dirty="0">
                <a:solidFill>
                  <a:srgbClr val="4C4747"/>
                </a:solidFill>
                <a:latin typeface="본고딕" panose="020B0500000000000000" pitchFamily="34" charset="-127"/>
                <a:ea typeface="본고딕" panose="020B0500000000000000" pitchFamily="34" charset="-127"/>
              </a:rPr>
              <a:t>25%</a:t>
            </a:r>
          </a:p>
          <a:p>
            <a:pPr algn="r">
              <a:lnSpc>
                <a:spcPct val="149316"/>
              </a:lnSpc>
            </a:pPr>
            <a:r>
              <a:rPr lang="en-US" sz="2400" spc="-91" dirty="0">
                <a:solidFill>
                  <a:srgbClr val="4C4747"/>
                </a:solidFill>
                <a:latin typeface="본고딕" panose="020B0500000000000000" pitchFamily="34" charset="-127"/>
                <a:ea typeface="본고딕" panose="020B0500000000000000" pitchFamily="34" charset="-127"/>
              </a:rPr>
              <a:t>25%</a:t>
            </a:r>
          </a:p>
          <a:p>
            <a:pPr algn="r">
              <a:lnSpc>
                <a:spcPct val="149316"/>
              </a:lnSpc>
            </a:pPr>
            <a:r>
              <a:rPr lang="en-US" sz="2400" spc="-91" dirty="0">
                <a:solidFill>
                  <a:srgbClr val="4C4747"/>
                </a:solidFill>
                <a:latin typeface="본고딕" panose="020B0500000000000000" pitchFamily="34" charset="-127"/>
                <a:ea typeface="본고딕" panose="020B0500000000000000" pitchFamily="34" charset="-127"/>
              </a:rPr>
              <a:t>25%</a:t>
            </a:r>
          </a:p>
        </p:txBody>
      </p:sp>
    </p:spTree>
    <p:extLst>
      <p:ext uri="{BB962C8B-B14F-4D97-AF65-F5344CB8AC3E}">
        <p14:creationId xmlns:p14="http://schemas.microsoft.com/office/powerpoint/2010/main" val="3634249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13">
            <a:extLst>
              <a:ext uri="{FF2B5EF4-FFF2-40B4-BE49-F238E27FC236}">
                <a16:creationId xmlns:a16="http://schemas.microsoft.com/office/drawing/2014/main" id="{84EA0498-2079-A9EC-04D8-99478DD730FA}"/>
              </a:ext>
            </a:extLst>
          </p:cNvPr>
          <p:cNvSpPr txBox="1"/>
          <p:nvPr/>
        </p:nvSpPr>
        <p:spPr>
          <a:xfrm>
            <a:off x="489624" y="1442118"/>
            <a:ext cx="10864175" cy="3437103"/>
          </a:xfrm>
          <a:prstGeom prst="rect">
            <a:avLst/>
          </a:prstGeom>
        </p:spPr>
        <p:txBody>
          <a:bodyPr lIns="0" tIns="0" rIns="0" bIns="0" rtlCol="0" anchor="ctr"/>
          <a:lstStyle/>
          <a:p>
            <a:pPr lvl="1">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1. Preprocessing</a:t>
            </a:r>
          </a:p>
          <a:p>
            <a:pPr marL="800100" lvl="1" indent="-342900">
              <a:lnSpc>
                <a:spcPct val="149316"/>
              </a:lnSpc>
              <a:buFontTx/>
              <a:buChar char="-"/>
            </a:pPr>
            <a:r>
              <a:rPr lang="en-US" altLang="ko-KR" spc="-91" dirty="0">
                <a:solidFill>
                  <a:srgbClr val="4C4747"/>
                </a:solidFill>
                <a:latin typeface="본고딕" panose="020B0500000000000000" pitchFamily="34" charset="-127"/>
                <a:ea typeface="본고딕" panose="020B0500000000000000" pitchFamily="34" charset="-127"/>
              </a:rPr>
              <a:t>Input : Raw dataset (</a:t>
            </a:r>
            <a:r>
              <a:rPr lang="en-US" altLang="ko-KR" spc="-91" dirty="0" err="1">
                <a:solidFill>
                  <a:srgbClr val="4C4747"/>
                </a:solidFill>
                <a:latin typeface="본고딕" panose="020B0500000000000000" pitchFamily="34" charset="-127"/>
                <a:ea typeface="본고딕" panose="020B0500000000000000" pitchFamily="34" charset="-127"/>
              </a:rPr>
              <a:t>u.data</a:t>
            </a:r>
            <a:r>
              <a:rPr lang="en-US" altLang="ko-KR" spc="-91" dirty="0">
                <a:solidFill>
                  <a:srgbClr val="4C4747"/>
                </a:solidFill>
                <a:latin typeface="본고딕" panose="020B0500000000000000" pitchFamily="34" charset="-127"/>
                <a:ea typeface="본고딕" panose="020B0500000000000000" pitchFamily="34" charset="-127"/>
              </a:rPr>
              <a:t>, </a:t>
            </a:r>
            <a:r>
              <a:rPr lang="en-US" altLang="ko-KR" spc="-91" dirty="0" err="1">
                <a:solidFill>
                  <a:srgbClr val="4C4747"/>
                </a:solidFill>
                <a:latin typeface="본고딕" panose="020B0500000000000000" pitchFamily="34" charset="-127"/>
                <a:ea typeface="본고딕" panose="020B0500000000000000" pitchFamily="34" charset="-127"/>
              </a:rPr>
              <a:t>u.item</a:t>
            </a:r>
            <a:r>
              <a:rPr lang="en-US" altLang="ko-KR" spc="-91" dirty="0">
                <a:solidFill>
                  <a:srgbClr val="4C4747"/>
                </a:solidFill>
                <a:latin typeface="본고딕" panose="020B0500000000000000" pitchFamily="34" charset="-127"/>
                <a:ea typeface="본고딕" panose="020B0500000000000000" pitchFamily="34" charset="-127"/>
              </a:rPr>
              <a:t>, ratings.dat, movies.dat)</a:t>
            </a:r>
          </a:p>
          <a:p>
            <a:pPr marL="800100" lvl="1" indent="-342900">
              <a:lnSpc>
                <a:spcPct val="149316"/>
              </a:lnSpc>
              <a:buFontTx/>
              <a:buChar char="-"/>
            </a:pPr>
            <a:r>
              <a:rPr lang="en-US" altLang="ko-KR" spc="-91" dirty="0">
                <a:solidFill>
                  <a:srgbClr val="4C4747"/>
                </a:solidFill>
                <a:latin typeface="본고딕" panose="020B0500000000000000" pitchFamily="34" charset="-127"/>
                <a:ea typeface="본고딕" panose="020B0500000000000000" pitchFamily="34" charset="-127"/>
              </a:rPr>
              <a:t>Process : Merge data, Label </a:t>
            </a:r>
            <a:r>
              <a:rPr lang="en-US" altLang="ko-KR" spc="-91" dirty="0" err="1">
                <a:solidFill>
                  <a:srgbClr val="4C4747"/>
                </a:solidFill>
                <a:latin typeface="본고딕" panose="020B0500000000000000" pitchFamily="34" charset="-127"/>
                <a:ea typeface="본고딕" panose="020B0500000000000000" pitchFamily="34" charset="-127"/>
              </a:rPr>
              <a:t>Encdoing</a:t>
            </a:r>
            <a:endParaRPr lang="en-US" altLang="ko-KR" spc="-91" dirty="0">
              <a:solidFill>
                <a:srgbClr val="4C4747"/>
              </a:solidFill>
              <a:latin typeface="본고딕" panose="020B0500000000000000" pitchFamily="34" charset="-127"/>
              <a:ea typeface="본고딕" panose="020B0500000000000000" pitchFamily="34" charset="-127"/>
            </a:endParaRPr>
          </a:p>
          <a:p>
            <a:pPr marL="800100" lvl="1" indent="-342900">
              <a:lnSpc>
                <a:spcPct val="149316"/>
              </a:lnSpc>
              <a:buFontTx/>
              <a:buChar char="-"/>
            </a:pPr>
            <a:r>
              <a:rPr lang="en-US" altLang="ko-KR" spc="-91" dirty="0">
                <a:solidFill>
                  <a:srgbClr val="4C4747"/>
                </a:solidFill>
                <a:latin typeface="본고딕" panose="020B0500000000000000" pitchFamily="34" charset="-127"/>
                <a:ea typeface="본고딕" panose="020B0500000000000000" pitchFamily="34" charset="-127"/>
              </a:rPr>
              <a:t>Output : Standardized data (preprocessed_1m.csv, preprocessed_100k.csv)</a:t>
            </a:r>
          </a:p>
          <a:p>
            <a:pPr lvl="1">
              <a:lnSpc>
                <a:spcPct val="149316"/>
              </a:lnSpc>
            </a:pPr>
            <a:endParaRPr lang="en-US" altLang="ko-KR" spc="-91" dirty="0">
              <a:solidFill>
                <a:srgbClr val="4C4747"/>
              </a:solidFill>
              <a:latin typeface="본고딕" panose="020B0500000000000000" pitchFamily="34" charset="-127"/>
              <a:ea typeface="본고딕" panose="020B0500000000000000" pitchFamily="34" charset="-127"/>
            </a:endParaRPr>
          </a:p>
          <a:p>
            <a:pPr lvl="1">
              <a:lnSpc>
                <a:spcPct val="149316"/>
              </a:lnSpc>
            </a:pPr>
            <a:r>
              <a:rPr lang="en-US" altLang="ko-KR" sz="2000" spc="-91" dirty="0">
                <a:solidFill>
                  <a:srgbClr val="4C4747"/>
                </a:solidFill>
                <a:latin typeface="본고딕" panose="020B0500000000000000" pitchFamily="34" charset="-127"/>
                <a:ea typeface="본고딕" panose="020B0500000000000000" pitchFamily="34" charset="-127"/>
              </a:rPr>
              <a:t>2. Training, Inference</a:t>
            </a:r>
          </a:p>
          <a:p>
            <a:pPr marL="800100" lvl="1" indent="-342900">
              <a:lnSpc>
                <a:spcPct val="149316"/>
              </a:lnSpc>
              <a:buFontTx/>
              <a:buChar char="-"/>
            </a:pPr>
            <a:r>
              <a:rPr lang="en-US" altLang="ko-KR" spc="-91" dirty="0">
                <a:solidFill>
                  <a:srgbClr val="4C4747"/>
                </a:solidFill>
                <a:latin typeface="본고딕" panose="020B0500000000000000" pitchFamily="34" charset="-127"/>
                <a:ea typeface="본고딕" panose="020B0500000000000000" pitchFamily="34" charset="-127"/>
              </a:rPr>
              <a:t>Input : preprocessed_100k</a:t>
            </a:r>
          </a:p>
          <a:p>
            <a:pPr marL="800100" lvl="1" indent="-342900">
              <a:lnSpc>
                <a:spcPct val="149316"/>
              </a:lnSpc>
              <a:buFontTx/>
              <a:buChar char="-"/>
            </a:pPr>
            <a:r>
              <a:rPr lang="en-US" altLang="ko-KR" spc="-91" dirty="0">
                <a:solidFill>
                  <a:srgbClr val="4C4747"/>
                </a:solidFill>
                <a:latin typeface="본고딕" panose="020B0500000000000000" pitchFamily="34" charset="-127"/>
                <a:ea typeface="본고딕" panose="020B0500000000000000" pitchFamily="34" charset="-127"/>
              </a:rPr>
              <a:t>Process : Memory-based CF, Model-based CF</a:t>
            </a:r>
          </a:p>
          <a:p>
            <a:pPr marL="800100" lvl="1" indent="-342900">
              <a:lnSpc>
                <a:spcPct val="149316"/>
              </a:lnSpc>
              <a:buFontTx/>
              <a:buChar char="-"/>
            </a:pPr>
            <a:r>
              <a:rPr lang="en-US" altLang="ko-KR" spc="-91" dirty="0">
                <a:solidFill>
                  <a:srgbClr val="4C4747"/>
                </a:solidFill>
                <a:latin typeface="본고딕" panose="020B0500000000000000" pitchFamily="34" charset="-127"/>
                <a:ea typeface="본고딕" panose="020B0500000000000000" pitchFamily="34" charset="-127"/>
              </a:rPr>
              <a:t>Output : Saved models (</a:t>
            </a:r>
            <a:r>
              <a:rPr lang="en-US" altLang="ko-KR" spc="-91" dirty="0" err="1">
                <a:solidFill>
                  <a:srgbClr val="4C4747"/>
                </a:solidFill>
                <a:latin typeface="본고딕" panose="020B0500000000000000" pitchFamily="34" charset="-127"/>
                <a:ea typeface="본고딕" panose="020B0500000000000000" pitchFamily="34" charset="-127"/>
              </a:rPr>
              <a:t>kernelmf_model.pkl</a:t>
            </a:r>
            <a:r>
              <a:rPr lang="en-US" altLang="ko-KR" spc="-91" dirty="0">
                <a:solidFill>
                  <a:srgbClr val="4C4747"/>
                </a:solidFill>
                <a:latin typeface="본고딕" panose="020B0500000000000000" pitchFamily="34" charset="-127"/>
                <a:ea typeface="본고딕" panose="020B0500000000000000" pitchFamily="34" charset="-127"/>
              </a:rPr>
              <a:t>), Top-5 recommendation list (recommendations_top5.csv) </a:t>
            </a:r>
          </a:p>
        </p:txBody>
      </p:sp>
      <p:sp>
        <p:nvSpPr>
          <p:cNvPr id="4" name="제목 1">
            <a:extLst>
              <a:ext uri="{FF2B5EF4-FFF2-40B4-BE49-F238E27FC236}">
                <a16:creationId xmlns:a16="http://schemas.microsoft.com/office/drawing/2014/main" id="{7F025588-3C0D-B6EC-C61B-B2339F34B25A}"/>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Architecture description for the entire software</a:t>
            </a:r>
            <a:endParaRPr lang="ko-KR" altLang="en-US" sz="2800" dirty="0">
              <a:latin typeface="본고딕" panose="020B0500000000000000" pitchFamily="34" charset="-127"/>
              <a:ea typeface="본고딕" panose="020B0500000000000000" pitchFamily="34" charset="-127"/>
            </a:endParaRPr>
          </a:p>
        </p:txBody>
      </p:sp>
      <p:cxnSp>
        <p:nvCxnSpPr>
          <p:cNvPr id="7" name="직선 연결선 6">
            <a:extLst>
              <a:ext uri="{FF2B5EF4-FFF2-40B4-BE49-F238E27FC236}">
                <a16:creationId xmlns:a16="http://schemas.microsoft.com/office/drawing/2014/main" id="{717C5237-4511-8D55-FDC8-B2392CA8FD85}"/>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pic>
        <p:nvPicPr>
          <p:cNvPr id="8" name="그림 7">
            <a:extLst>
              <a:ext uri="{FF2B5EF4-FFF2-40B4-BE49-F238E27FC236}">
                <a16:creationId xmlns:a16="http://schemas.microsoft.com/office/drawing/2014/main" id="{30DC6D19-47A9-20ED-598D-7B812A9009BD}"/>
              </a:ext>
            </a:extLst>
          </p:cNvPr>
          <p:cNvPicPr>
            <a:picLocks noChangeAspect="1"/>
          </p:cNvPicPr>
          <p:nvPr/>
        </p:nvPicPr>
        <p:blipFill>
          <a:blip r:embed="rId3"/>
          <a:stretch>
            <a:fillRect/>
          </a:stretch>
        </p:blipFill>
        <p:spPr>
          <a:xfrm>
            <a:off x="1107419" y="5580279"/>
            <a:ext cx="1307545" cy="794458"/>
          </a:xfrm>
          <a:prstGeom prst="rect">
            <a:avLst/>
          </a:prstGeom>
        </p:spPr>
      </p:pic>
      <p:cxnSp>
        <p:nvCxnSpPr>
          <p:cNvPr id="11" name="직선 화살표 연결선 10">
            <a:extLst>
              <a:ext uri="{FF2B5EF4-FFF2-40B4-BE49-F238E27FC236}">
                <a16:creationId xmlns:a16="http://schemas.microsoft.com/office/drawing/2014/main" id="{D25997E4-3CD0-465F-0EC2-40AA8E75DC09}"/>
              </a:ext>
            </a:extLst>
          </p:cNvPr>
          <p:cNvCxnSpPr>
            <a:cxnSpLocks/>
          </p:cNvCxnSpPr>
          <p:nvPr/>
        </p:nvCxnSpPr>
        <p:spPr>
          <a:xfrm>
            <a:off x="2568102" y="5810650"/>
            <a:ext cx="166667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19EB537-DC38-9B57-76A2-CB9F94504F86}"/>
              </a:ext>
            </a:extLst>
          </p:cNvPr>
          <p:cNvSpPr txBox="1"/>
          <p:nvPr/>
        </p:nvSpPr>
        <p:spPr>
          <a:xfrm>
            <a:off x="2616943" y="5835706"/>
            <a:ext cx="1617831" cy="483205"/>
          </a:xfrm>
          <a:prstGeom prst="rect">
            <a:avLst/>
          </a:prstGeom>
        </p:spPr>
        <p:txBody>
          <a:bodyPr lIns="0" tIns="0" rIns="0" bIns="0" rtlCol="0" anchor="ctr"/>
          <a:lstStyle/>
          <a:p>
            <a:pPr>
              <a:lnSpc>
                <a:spcPct val="149316"/>
              </a:lnSpc>
            </a:pPr>
            <a:r>
              <a:rPr lang="en-US" sz="2000" spc="-91" dirty="0">
                <a:solidFill>
                  <a:srgbClr val="4C4747"/>
                </a:solidFill>
                <a:latin typeface="본고딕" panose="020B0500000000000000" pitchFamily="34" charset="-127"/>
                <a:ea typeface="본고딕" panose="020B0500000000000000" pitchFamily="34" charset="-127"/>
              </a:rPr>
              <a:t>preprocessing</a:t>
            </a:r>
          </a:p>
        </p:txBody>
      </p:sp>
      <p:pic>
        <p:nvPicPr>
          <p:cNvPr id="19" name="그림 18">
            <a:extLst>
              <a:ext uri="{FF2B5EF4-FFF2-40B4-BE49-F238E27FC236}">
                <a16:creationId xmlns:a16="http://schemas.microsoft.com/office/drawing/2014/main" id="{6E224376-4765-C61C-D860-82819F712ED0}"/>
              </a:ext>
            </a:extLst>
          </p:cNvPr>
          <p:cNvPicPr>
            <a:picLocks noChangeAspect="1"/>
          </p:cNvPicPr>
          <p:nvPr/>
        </p:nvPicPr>
        <p:blipFill>
          <a:blip r:embed="rId4"/>
          <a:stretch>
            <a:fillRect/>
          </a:stretch>
        </p:blipFill>
        <p:spPr>
          <a:xfrm>
            <a:off x="4480497" y="5556883"/>
            <a:ext cx="2352816" cy="794457"/>
          </a:xfrm>
          <a:prstGeom prst="rect">
            <a:avLst/>
          </a:prstGeom>
        </p:spPr>
      </p:pic>
      <p:cxnSp>
        <p:nvCxnSpPr>
          <p:cNvPr id="20" name="직선 화살표 연결선 19">
            <a:extLst>
              <a:ext uri="{FF2B5EF4-FFF2-40B4-BE49-F238E27FC236}">
                <a16:creationId xmlns:a16="http://schemas.microsoft.com/office/drawing/2014/main" id="{2E6228C0-272F-F223-FE38-12472981B687}"/>
              </a:ext>
            </a:extLst>
          </p:cNvPr>
          <p:cNvCxnSpPr>
            <a:cxnSpLocks/>
          </p:cNvCxnSpPr>
          <p:nvPr/>
        </p:nvCxnSpPr>
        <p:spPr>
          <a:xfrm>
            <a:off x="7065523" y="5810650"/>
            <a:ext cx="166667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D943A646-99B2-DAED-F00C-2CF3182008D9}"/>
              </a:ext>
            </a:extLst>
          </p:cNvPr>
          <p:cNvSpPr txBox="1"/>
          <p:nvPr/>
        </p:nvSpPr>
        <p:spPr>
          <a:xfrm>
            <a:off x="7350868" y="5860893"/>
            <a:ext cx="1617831" cy="483205"/>
          </a:xfrm>
          <a:prstGeom prst="rect">
            <a:avLst/>
          </a:prstGeom>
        </p:spPr>
        <p:txBody>
          <a:bodyPr lIns="0" tIns="0" rIns="0" bIns="0" rtlCol="0" anchor="ctr"/>
          <a:lstStyle/>
          <a:p>
            <a:pPr>
              <a:lnSpc>
                <a:spcPct val="149316"/>
              </a:lnSpc>
            </a:pPr>
            <a:r>
              <a:rPr lang="en-US" sz="2000" spc="-91" dirty="0">
                <a:solidFill>
                  <a:srgbClr val="4C4747"/>
                </a:solidFill>
                <a:latin typeface="본고딕" panose="020B0500000000000000" pitchFamily="34" charset="-127"/>
                <a:ea typeface="본고딕" panose="020B0500000000000000" pitchFamily="34" charset="-127"/>
              </a:rPr>
              <a:t>modeling</a:t>
            </a:r>
          </a:p>
        </p:txBody>
      </p:sp>
      <p:pic>
        <p:nvPicPr>
          <p:cNvPr id="23" name="그림 22">
            <a:extLst>
              <a:ext uri="{FF2B5EF4-FFF2-40B4-BE49-F238E27FC236}">
                <a16:creationId xmlns:a16="http://schemas.microsoft.com/office/drawing/2014/main" id="{6C724E21-AF13-9427-8EA2-CEA0FCCA7781}"/>
              </a:ext>
            </a:extLst>
          </p:cNvPr>
          <p:cNvPicPr>
            <a:picLocks noChangeAspect="1"/>
          </p:cNvPicPr>
          <p:nvPr/>
        </p:nvPicPr>
        <p:blipFill>
          <a:blip r:embed="rId5"/>
          <a:stretch>
            <a:fillRect/>
          </a:stretch>
        </p:blipFill>
        <p:spPr>
          <a:xfrm>
            <a:off x="8910437" y="5603681"/>
            <a:ext cx="2492182" cy="747655"/>
          </a:xfrm>
          <a:prstGeom prst="rect">
            <a:avLst/>
          </a:prstGeom>
        </p:spPr>
      </p:pic>
    </p:spTree>
    <p:extLst>
      <p:ext uri="{BB962C8B-B14F-4D97-AF65-F5344CB8AC3E}">
        <p14:creationId xmlns:p14="http://schemas.microsoft.com/office/powerpoint/2010/main" val="262827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369C7-2518-EC88-E085-A36BD44D9B2D}"/>
            </a:ext>
          </a:extLst>
        </p:cNvPr>
        <p:cNvGrpSpPr/>
        <p:nvPr/>
      </p:nvGrpSpPr>
      <p:grpSpPr>
        <a:xfrm>
          <a:off x="0" y="0"/>
          <a:ext cx="0" cy="0"/>
          <a:chOff x="0" y="0"/>
          <a:chExt cx="0" cy="0"/>
        </a:xfrm>
      </p:grpSpPr>
      <p:sp>
        <p:nvSpPr>
          <p:cNvPr id="4" name="제목 1">
            <a:extLst>
              <a:ext uri="{FF2B5EF4-FFF2-40B4-BE49-F238E27FC236}">
                <a16:creationId xmlns:a16="http://schemas.microsoft.com/office/drawing/2014/main" id="{8A89EC3E-246F-B8A7-25BF-2292534B7790}"/>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GitHub URL</a:t>
            </a:r>
            <a:endParaRPr lang="ko-KR" altLang="en-US" sz="2800" dirty="0">
              <a:latin typeface="본고딕" panose="020B0500000000000000" pitchFamily="34" charset="-127"/>
              <a:ea typeface="본고딕" panose="020B0500000000000000" pitchFamily="34" charset="-127"/>
            </a:endParaRPr>
          </a:p>
        </p:txBody>
      </p:sp>
      <p:cxnSp>
        <p:nvCxnSpPr>
          <p:cNvPr id="7" name="직선 연결선 6">
            <a:extLst>
              <a:ext uri="{FF2B5EF4-FFF2-40B4-BE49-F238E27FC236}">
                <a16:creationId xmlns:a16="http://schemas.microsoft.com/office/drawing/2014/main" id="{AAEEF53C-55FA-A3AD-2E51-49C871959D2B}"/>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
        <p:nvSpPr>
          <p:cNvPr id="2" name="TextBox 13">
            <a:extLst>
              <a:ext uri="{FF2B5EF4-FFF2-40B4-BE49-F238E27FC236}">
                <a16:creationId xmlns:a16="http://schemas.microsoft.com/office/drawing/2014/main" id="{7532345E-43DB-2C49-CD59-1B9CCBA2D487}"/>
              </a:ext>
            </a:extLst>
          </p:cNvPr>
          <p:cNvSpPr txBox="1"/>
          <p:nvPr/>
        </p:nvSpPr>
        <p:spPr>
          <a:xfrm>
            <a:off x="904875" y="5698520"/>
            <a:ext cx="10582275" cy="483205"/>
          </a:xfrm>
          <a:prstGeom prst="rect">
            <a:avLst/>
          </a:prstGeom>
        </p:spPr>
        <p:txBody>
          <a:bodyPr lIns="0" tIns="0" rIns="0" bIns="0" rtlCol="0" anchor="ctr"/>
          <a:lstStyle/>
          <a:p>
            <a:pPr>
              <a:lnSpc>
                <a:spcPct val="149316"/>
              </a:lnSpc>
            </a:pPr>
            <a:r>
              <a:rPr lang="en-US" sz="2000" spc="-91" dirty="0" err="1">
                <a:solidFill>
                  <a:srgbClr val="4C4747"/>
                </a:solidFill>
                <a:latin typeface="본고딕" panose="020B0500000000000000" pitchFamily="34" charset="-127"/>
                <a:ea typeface="본고딕" panose="020B0500000000000000" pitchFamily="34" charset="-127"/>
              </a:rPr>
              <a:t>Github</a:t>
            </a:r>
            <a:r>
              <a:rPr lang="en-US" sz="2000" spc="-91" dirty="0">
                <a:solidFill>
                  <a:srgbClr val="4C4747"/>
                </a:solidFill>
                <a:latin typeface="본고딕" panose="020B0500000000000000" pitchFamily="34" charset="-127"/>
                <a:ea typeface="본고딕" panose="020B0500000000000000" pitchFamily="34" charset="-127"/>
              </a:rPr>
              <a:t> : https://github.com/AhnSooBean/MachineLearning_TermProject</a:t>
            </a:r>
          </a:p>
        </p:txBody>
      </p:sp>
      <p:pic>
        <p:nvPicPr>
          <p:cNvPr id="9" name="그림 8">
            <a:extLst>
              <a:ext uri="{FF2B5EF4-FFF2-40B4-BE49-F238E27FC236}">
                <a16:creationId xmlns:a16="http://schemas.microsoft.com/office/drawing/2014/main" id="{3098C78A-D970-5B15-3686-11E607B0305D}"/>
              </a:ext>
            </a:extLst>
          </p:cNvPr>
          <p:cNvPicPr>
            <a:picLocks noChangeAspect="1"/>
          </p:cNvPicPr>
          <p:nvPr/>
        </p:nvPicPr>
        <p:blipFill>
          <a:blip r:embed="rId2"/>
          <a:stretch>
            <a:fillRect/>
          </a:stretch>
        </p:blipFill>
        <p:spPr>
          <a:xfrm>
            <a:off x="838200" y="1233868"/>
            <a:ext cx="6775209" cy="4464652"/>
          </a:xfrm>
          <a:prstGeom prst="rect">
            <a:avLst/>
          </a:prstGeom>
        </p:spPr>
      </p:pic>
    </p:spTree>
    <p:extLst>
      <p:ext uri="{BB962C8B-B14F-4D97-AF65-F5344CB8AC3E}">
        <p14:creationId xmlns:p14="http://schemas.microsoft.com/office/powerpoint/2010/main" val="3370501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14147-C8EE-B394-F0FC-07B7AC18BC0F}"/>
            </a:ext>
          </a:extLst>
        </p:cNvPr>
        <p:cNvGrpSpPr/>
        <p:nvPr/>
      </p:nvGrpSpPr>
      <p:grpSpPr>
        <a:xfrm>
          <a:off x="0" y="0"/>
          <a:ext cx="0" cy="0"/>
          <a:chOff x="0" y="0"/>
          <a:chExt cx="0" cy="0"/>
        </a:xfrm>
      </p:grpSpPr>
      <p:sp>
        <p:nvSpPr>
          <p:cNvPr id="6" name="TextBox 13">
            <a:extLst>
              <a:ext uri="{FF2B5EF4-FFF2-40B4-BE49-F238E27FC236}">
                <a16:creationId xmlns:a16="http://schemas.microsoft.com/office/drawing/2014/main" id="{63470AAA-9C5A-5C98-0925-33D09F6B6E2A}"/>
              </a:ext>
            </a:extLst>
          </p:cNvPr>
          <p:cNvSpPr txBox="1"/>
          <p:nvPr/>
        </p:nvSpPr>
        <p:spPr>
          <a:xfrm>
            <a:off x="838199" y="1431318"/>
            <a:ext cx="10582275" cy="5170519"/>
          </a:xfrm>
          <a:prstGeom prst="rect">
            <a:avLst/>
          </a:prstGeom>
        </p:spPr>
        <p:txBody>
          <a:bodyPr lIns="0" tIns="0" rIns="0" bIns="0" rtlCol="0" anchor="ctr"/>
          <a:lstStyle/>
          <a:p>
            <a:pPr>
              <a:lnSpc>
                <a:spcPct val="149316"/>
              </a:lnSpc>
            </a:pPr>
            <a:r>
              <a:rPr lang="en-US" altLang="ko-KR" sz="1600" spc="-91" dirty="0">
                <a:solidFill>
                  <a:srgbClr val="4C4747"/>
                </a:solidFill>
                <a:latin typeface="본고딕" panose="020B0500000000000000" pitchFamily="34" charset="-127"/>
                <a:ea typeface="본고딕" panose="020B0500000000000000" pitchFamily="34" charset="-127"/>
              </a:rPr>
              <a:t>1. Datasets</a:t>
            </a:r>
          </a:p>
          <a:p>
            <a:pPr marL="800100" lvl="1" indent="-342900">
              <a:lnSpc>
                <a:spcPct val="149316"/>
              </a:lnSpc>
              <a:buFontTx/>
              <a:buChar char="-"/>
            </a:pPr>
            <a:r>
              <a:rPr lang="en-US" altLang="ko-KR" sz="1400" spc="-91" dirty="0" err="1">
                <a:solidFill>
                  <a:srgbClr val="4C4747"/>
                </a:solidFill>
                <a:latin typeface="본고딕" panose="020B0500000000000000" pitchFamily="34" charset="-127"/>
                <a:ea typeface="본고딕" panose="020B0500000000000000" pitchFamily="34" charset="-127"/>
              </a:rPr>
              <a:t>GroupLens</a:t>
            </a:r>
            <a:r>
              <a:rPr lang="en-US" altLang="ko-KR" sz="1400" spc="-91" dirty="0">
                <a:solidFill>
                  <a:srgbClr val="4C4747"/>
                </a:solidFill>
                <a:latin typeface="본고딕" panose="020B0500000000000000" pitchFamily="34" charset="-127"/>
                <a:ea typeface="본고딕" panose="020B0500000000000000" pitchFamily="34" charset="-127"/>
              </a:rPr>
              <a:t>. (2016). MovieLens 1M Dataset.</a:t>
            </a:r>
          </a:p>
          <a:p>
            <a:pPr marL="1257300" lvl="2"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URL: </a:t>
            </a:r>
            <a:r>
              <a:rPr lang="en-US" altLang="ko-KR" sz="1400" spc="-91" dirty="0">
                <a:solidFill>
                  <a:srgbClr val="4C4747"/>
                </a:solidFill>
                <a:latin typeface="본고딕" panose="020B0500000000000000" pitchFamily="34" charset="-127"/>
                <a:ea typeface="본고딕" panose="020B0500000000000000" pitchFamily="34" charset="-127"/>
                <a:hlinkClick r:id="rId3"/>
              </a:rPr>
              <a:t>https://grouplens.org/datasets/movielens/1m/</a:t>
            </a:r>
            <a:endParaRPr lang="en-US" altLang="ko-KR" sz="1400" spc="-91" dirty="0">
              <a:solidFill>
                <a:srgbClr val="4C4747"/>
              </a:solidFill>
              <a:latin typeface="본고딕" panose="020B0500000000000000" pitchFamily="34" charset="-127"/>
              <a:ea typeface="본고딕" panose="020B0500000000000000" pitchFamily="34" charset="-127"/>
            </a:endParaRPr>
          </a:p>
          <a:p>
            <a:pPr marL="800100" lvl="1" indent="-342900">
              <a:lnSpc>
                <a:spcPct val="149316"/>
              </a:lnSpc>
              <a:buFontTx/>
              <a:buChar char="-"/>
            </a:pPr>
            <a:r>
              <a:rPr lang="en-US" altLang="ko-KR" sz="1400" spc="-91" dirty="0" err="1">
                <a:solidFill>
                  <a:srgbClr val="4C4747"/>
                </a:solidFill>
                <a:latin typeface="본고딕" panose="020B0500000000000000" pitchFamily="34" charset="-127"/>
                <a:ea typeface="본고딕" panose="020B0500000000000000" pitchFamily="34" charset="-127"/>
              </a:rPr>
              <a:t>GroupLens</a:t>
            </a:r>
            <a:r>
              <a:rPr lang="en-US" altLang="ko-KR" sz="1400" spc="-91" dirty="0">
                <a:solidFill>
                  <a:srgbClr val="4C4747"/>
                </a:solidFill>
                <a:latin typeface="본고딕" panose="020B0500000000000000" pitchFamily="34" charset="-127"/>
                <a:ea typeface="본고딕" panose="020B0500000000000000" pitchFamily="34" charset="-127"/>
              </a:rPr>
              <a:t>. (2016). MovieLens 100k Dataset.</a:t>
            </a:r>
          </a:p>
          <a:p>
            <a:pPr marL="1257300" lvl="2"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URL: </a:t>
            </a:r>
            <a:r>
              <a:rPr lang="en-US" altLang="ko-KR" sz="1400" spc="-91" dirty="0">
                <a:solidFill>
                  <a:srgbClr val="4C4747"/>
                </a:solidFill>
                <a:latin typeface="본고딕" panose="020B0500000000000000" pitchFamily="34" charset="-127"/>
                <a:ea typeface="본고딕" panose="020B0500000000000000" pitchFamily="34" charset="-127"/>
                <a:hlinkClick r:id="rId4"/>
              </a:rPr>
              <a:t>https://grouplens.org/datasets/movielens/100k/</a:t>
            </a:r>
            <a:endParaRPr lang="en-US" altLang="ko-KR" sz="1400" spc="-91" dirty="0">
              <a:solidFill>
                <a:srgbClr val="4C4747"/>
              </a:solidFill>
              <a:latin typeface="본고딕" panose="020B0500000000000000" pitchFamily="34" charset="-127"/>
              <a:ea typeface="본고딕" panose="020B0500000000000000" pitchFamily="34" charset="-127"/>
            </a:endParaRPr>
          </a:p>
          <a:p>
            <a:pPr>
              <a:lnSpc>
                <a:spcPct val="149316"/>
              </a:lnSpc>
            </a:pPr>
            <a:r>
              <a:rPr lang="en-US" altLang="ko-KR" sz="1600" spc="-91" dirty="0">
                <a:solidFill>
                  <a:srgbClr val="4C4747"/>
                </a:solidFill>
                <a:latin typeface="본고딕" panose="020B0500000000000000" pitchFamily="34" charset="-127"/>
                <a:ea typeface="본고딕" panose="020B0500000000000000" pitchFamily="34" charset="-127"/>
              </a:rPr>
              <a:t>2. Libraries &amp; Tools</a:t>
            </a:r>
          </a:p>
          <a:p>
            <a:pPr marL="800100" lvl="1"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Surprise: A Python scikit for Recommender Systems.</a:t>
            </a:r>
          </a:p>
          <a:p>
            <a:pPr marL="1257300" lvl="2"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URL: </a:t>
            </a:r>
            <a:r>
              <a:rPr lang="en-US" altLang="ko-KR" sz="1400" spc="-91" dirty="0">
                <a:solidFill>
                  <a:srgbClr val="4C4747"/>
                </a:solidFill>
                <a:latin typeface="본고딕" panose="020B0500000000000000" pitchFamily="34" charset="-127"/>
                <a:ea typeface="본고딕" panose="020B0500000000000000" pitchFamily="34" charset="-127"/>
                <a:hlinkClick r:id="rId5"/>
              </a:rPr>
              <a:t>https://surpriselib.com/</a:t>
            </a:r>
            <a:endParaRPr lang="en-US" altLang="ko-KR" sz="1400" spc="-91" dirty="0">
              <a:solidFill>
                <a:srgbClr val="4C4747"/>
              </a:solidFill>
              <a:latin typeface="본고딕" panose="020B0500000000000000" pitchFamily="34" charset="-127"/>
              <a:ea typeface="본고딕" panose="020B0500000000000000" pitchFamily="34" charset="-127"/>
            </a:endParaRPr>
          </a:p>
          <a:p>
            <a:pPr marL="800100" lvl="1"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Matrix-factorization</a:t>
            </a:r>
          </a:p>
          <a:p>
            <a:pPr marL="1257300" lvl="2"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URL: </a:t>
            </a:r>
            <a:r>
              <a:rPr lang="en-US" altLang="ko-KR" sz="1400" spc="-91" dirty="0">
                <a:solidFill>
                  <a:srgbClr val="4C4747"/>
                </a:solidFill>
                <a:latin typeface="본고딕" panose="020B0500000000000000" pitchFamily="34" charset="-127"/>
                <a:ea typeface="본고딕" panose="020B0500000000000000" pitchFamily="34" charset="-127"/>
                <a:hlinkClick r:id="rId6"/>
              </a:rPr>
              <a:t>https://pypi.org/project/matrix-factorization/</a:t>
            </a:r>
            <a:endParaRPr lang="en-US" altLang="ko-KR" sz="1400" spc="-91" dirty="0">
              <a:solidFill>
                <a:srgbClr val="4C4747"/>
              </a:solidFill>
              <a:latin typeface="본고딕" panose="020B0500000000000000" pitchFamily="34" charset="-127"/>
              <a:ea typeface="본고딕" panose="020B0500000000000000" pitchFamily="34" charset="-127"/>
            </a:endParaRPr>
          </a:p>
          <a:p>
            <a:pPr marL="800100" lvl="1" indent="-342900">
              <a:lnSpc>
                <a:spcPct val="149316"/>
              </a:lnSpc>
              <a:buFontTx/>
              <a:buChar char="-"/>
            </a:pPr>
            <a:r>
              <a:rPr lang="en-US" altLang="ko-KR" sz="1400" spc="-91" dirty="0" err="1">
                <a:solidFill>
                  <a:srgbClr val="4C4747"/>
                </a:solidFill>
                <a:latin typeface="본고딕" panose="020B0500000000000000" pitchFamily="34" charset="-127"/>
                <a:ea typeface="본고딕" panose="020B0500000000000000" pitchFamily="34" charset="-127"/>
              </a:rPr>
              <a:t>Tqdm</a:t>
            </a:r>
            <a:endParaRPr lang="en-US" altLang="ko-KR" sz="1400" spc="-91" dirty="0">
              <a:solidFill>
                <a:srgbClr val="4C4747"/>
              </a:solidFill>
              <a:latin typeface="본고딕" panose="020B0500000000000000" pitchFamily="34" charset="-127"/>
              <a:ea typeface="본고딕" panose="020B0500000000000000" pitchFamily="34" charset="-127"/>
            </a:endParaRPr>
          </a:p>
          <a:p>
            <a:pPr marL="1257300" lvl="2"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URL: </a:t>
            </a:r>
            <a:r>
              <a:rPr lang="en-US" altLang="ko-KR" sz="1400" spc="-91" dirty="0">
                <a:solidFill>
                  <a:srgbClr val="4C4747"/>
                </a:solidFill>
                <a:latin typeface="본고딕" panose="020B0500000000000000" pitchFamily="34" charset="-127"/>
                <a:ea typeface="본고딕" panose="020B0500000000000000" pitchFamily="34" charset="-127"/>
                <a:hlinkClick r:id="rId7"/>
              </a:rPr>
              <a:t>https://github.com/tqdm/tqdm</a:t>
            </a:r>
            <a:endParaRPr lang="en-US" altLang="ko-KR" sz="1400" spc="-91" dirty="0">
              <a:solidFill>
                <a:srgbClr val="4C4747"/>
              </a:solidFill>
              <a:latin typeface="본고딕" panose="020B0500000000000000" pitchFamily="34" charset="-127"/>
              <a:ea typeface="본고딕" panose="020B0500000000000000" pitchFamily="34" charset="-127"/>
            </a:endParaRPr>
          </a:p>
          <a:p>
            <a:pPr marL="800100" lvl="1"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Matplotlib</a:t>
            </a:r>
          </a:p>
          <a:p>
            <a:pPr marL="1257300" lvl="2"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URL: </a:t>
            </a:r>
            <a:r>
              <a:rPr lang="en-US" altLang="ko-KR" sz="1400" spc="-91" dirty="0">
                <a:solidFill>
                  <a:srgbClr val="4C4747"/>
                </a:solidFill>
                <a:latin typeface="본고딕" panose="020B0500000000000000" pitchFamily="34" charset="-127"/>
                <a:ea typeface="본고딕" panose="020B0500000000000000" pitchFamily="34" charset="-127"/>
                <a:hlinkClick r:id="rId8"/>
              </a:rPr>
              <a:t>https://matplotlib.org/</a:t>
            </a:r>
            <a:endParaRPr lang="en-US" altLang="ko-KR" sz="1400" spc="-91" dirty="0">
              <a:solidFill>
                <a:srgbClr val="4C4747"/>
              </a:solidFill>
              <a:latin typeface="본고딕" panose="020B0500000000000000" pitchFamily="34" charset="-127"/>
              <a:ea typeface="본고딕" panose="020B0500000000000000" pitchFamily="34" charset="-127"/>
            </a:endParaRPr>
          </a:p>
          <a:p>
            <a:pPr>
              <a:lnSpc>
                <a:spcPct val="149316"/>
              </a:lnSpc>
            </a:pPr>
            <a:r>
              <a:rPr lang="en-US" altLang="ko-KR" sz="1600" spc="-91" dirty="0">
                <a:solidFill>
                  <a:srgbClr val="4C4747"/>
                </a:solidFill>
                <a:latin typeface="본고딕" panose="020B0500000000000000" pitchFamily="34" charset="-127"/>
                <a:ea typeface="본고딕" panose="020B0500000000000000" pitchFamily="34" charset="-127"/>
              </a:rPr>
              <a:t>3. Literature &amp; Code</a:t>
            </a:r>
          </a:p>
          <a:p>
            <a:pPr marL="800100" lvl="1" indent="-342900">
              <a:lnSpc>
                <a:spcPct val="149316"/>
              </a:lnSpc>
              <a:buFontTx/>
              <a:buChar char="-"/>
            </a:pPr>
            <a:r>
              <a:rPr lang="en-US" altLang="ko-KR" sz="1400" spc="-91" dirty="0">
                <a:solidFill>
                  <a:srgbClr val="4C4747"/>
                </a:solidFill>
                <a:latin typeface="본고딕" panose="020B0500000000000000" pitchFamily="34" charset="-127"/>
                <a:ea typeface="본고딕" panose="020B0500000000000000" pitchFamily="34" charset="-127"/>
              </a:rPr>
              <a:t>Lee, S., Cho, Y., Lee, J. S., &amp; Yu, D. (2020). Comparative study of recommender systems using movie rating data. Journal of the Korean Data And Information Science Society, 31(6), 975-991. 10.7465/jkdi.2020.31.6.975</a:t>
            </a:r>
          </a:p>
          <a:p>
            <a:pPr lvl="1">
              <a:lnSpc>
                <a:spcPct val="149316"/>
              </a:lnSpc>
            </a:pPr>
            <a:endParaRPr lang="en-US" altLang="ko-KR" sz="1400" spc="-91" dirty="0">
              <a:solidFill>
                <a:srgbClr val="4C4747"/>
              </a:solidFill>
              <a:latin typeface="본고딕" panose="020B0500000000000000" pitchFamily="34" charset="-127"/>
              <a:ea typeface="본고딕" panose="020B0500000000000000" pitchFamily="34" charset="-127"/>
            </a:endParaRPr>
          </a:p>
        </p:txBody>
      </p:sp>
      <p:sp>
        <p:nvSpPr>
          <p:cNvPr id="4" name="제목 1">
            <a:extLst>
              <a:ext uri="{FF2B5EF4-FFF2-40B4-BE49-F238E27FC236}">
                <a16:creationId xmlns:a16="http://schemas.microsoft.com/office/drawing/2014/main" id="{DEB9657E-05C7-251F-0068-FFC2DA1B2305}"/>
              </a:ext>
            </a:extLst>
          </p:cNvPr>
          <p:cNvSpPr>
            <a:spLocks noGrp="1"/>
          </p:cNvSpPr>
          <p:nvPr>
            <p:ph type="title"/>
          </p:nvPr>
        </p:nvSpPr>
        <p:spPr>
          <a:xfrm>
            <a:off x="838200" y="365125"/>
            <a:ext cx="10515600" cy="705845"/>
          </a:xfrm>
        </p:spPr>
        <p:txBody>
          <a:bodyPr>
            <a:normAutofit/>
          </a:bodyPr>
          <a:lstStyle/>
          <a:p>
            <a:r>
              <a:rPr lang="en-US" altLang="ko-KR" sz="2800" dirty="0">
                <a:latin typeface="본고딕" panose="020B0500000000000000" pitchFamily="34" charset="-127"/>
                <a:ea typeface="본고딕" panose="020B0500000000000000" pitchFamily="34" charset="-127"/>
              </a:rPr>
              <a:t>Reference</a:t>
            </a:r>
            <a:endParaRPr lang="ko-KR" altLang="en-US" sz="2800" dirty="0">
              <a:latin typeface="본고딕" panose="020B0500000000000000" pitchFamily="34" charset="-127"/>
              <a:ea typeface="본고딕" panose="020B0500000000000000" pitchFamily="34" charset="-127"/>
            </a:endParaRPr>
          </a:p>
        </p:txBody>
      </p:sp>
      <p:cxnSp>
        <p:nvCxnSpPr>
          <p:cNvPr id="7" name="직선 연결선 6">
            <a:extLst>
              <a:ext uri="{FF2B5EF4-FFF2-40B4-BE49-F238E27FC236}">
                <a16:creationId xmlns:a16="http://schemas.microsoft.com/office/drawing/2014/main" id="{490F567C-ED7B-4330-0969-168BDAB86946}"/>
              </a:ext>
            </a:extLst>
          </p:cNvPr>
          <p:cNvCxnSpPr>
            <a:cxnSpLocks/>
          </p:cNvCxnSpPr>
          <p:nvPr/>
        </p:nvCxnSpPr>
        <p:spPr>
          <a:xfrm>
            <a:off x="838200" y="1023835"/>
            <a:ext cx="10515600" cy="0"/>
          </a:xfrm>
          <a:prstGeom prst="line">
            <a:avLst/>
          </a:prstGeom>
          <a:ln>
            <a:solidFill>
              <a:srgbClr val="4C474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634514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3974</TotalTime>
  <Words>2467</Words>
  <Application>Microsoft Macintosh PowerPoint</Application>
  <PresentationFormat>와이드스크린</PresentationFormat>
  <Paragraphs>277</Paragraphs>
  <Slides>24</Slides>
  <Notes>18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24</vt:i4>
      </vt:variant>
    </vt:vector>
  </HeadingPairs>
  <TitlesOfParts>
    <vt:vector size="29" baseType="lpstr">
      <vt:lpstr>맑은 고딕</vt:lpstr>
      <vt:lpstr>본고딕</vt:lpstr>
      <vt:lpstr>Bebas</vt:lpstr>
      <vt:lpstr>Arial</vt:lpstr>
      <vt:lpstr>Office 테마</vt:lpstr>
      <vt:lpstr>PowerPoint 프레젠테이션</vt:lpstr>
      <vt:lpstr>Business objective</vt:lpstr>
      <vt:lpstr>Data exploration</vt:lpstr>
      <vt:lpstr>Data exploration</vt:lpstr>
      <vt:lpstr>Data preprocessing</vt:lpstr>
      <vt:lpstr>Data preprocessing</vt:lpstr>
      <vt:lpstr>Data preprocessing</vt:lpstr>
      <vt:lpstr>Modeling - Memory-Based Collaborative Filtering</vt:lpstr>
      <vt:lpstr>Modeling - Model-Based Collaborative Filtering</vt:lpstr>
      <vt:lpstr>Modeling - Model-Based Collaborative Filtering</vt:lpstr>
      <vt:lpstr>Learning model evaluation and analysis</vt:lpstr>
      <vt:lpstr>Learning model evaluation and analysis</vt:lpstr>
      <vt:lpstr>Learning model evaluation and analysis</vt:lpstr>
      <vt:lpstr>Learning model evaluation and analysis</vt:lpstr>
      <vt:lpstr>Learning model evaluation and analysis</vt:lpstr>
      <vt:lpstr>Learning Experience</vt:lpstr>
      <vt:lpstr>Learning Experience</vt:lpstr>
      <vt:lpstr>Learning Experience</vt:lpstr>
      <vt:lpstr>Learning Experience</vt:lpstr>
      <vt:lpstr>Learning Experience</vt:lpstr>
      <vt:lpstr>Teamwork data</vt:lpstr>
      <vt:lpstr>Architecture description for the entire software</vt:lpstr>
      <vt:lpstr>GitHub URL</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오상민</dc:creator>
  <cp:lastModifiedBy>김수향</cp:lastModifiedBy>
  <cp:revision>47</cp:revision>
  <dcterms:created xsi:type="dcterms:W3CDTF">2025-06-01T12:23:57Z</dcterms:created>
  <dcterms:modified xsi:type="dcterms:W3CDTF">2025-11-17T06:47:03Z</dcterms:modified>
</cp:coreProperties>
</file>